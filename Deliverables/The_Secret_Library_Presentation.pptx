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3"/>
    <p:restoredTop sz="94767"/>
  </p:normalViewPr>
  <p:slideViewPr>
    <p:cSldViewPr snapToGrid="0" snapToObjects="1">
      <p:cViewPr varScale="1">
        <p:scale>
          <a:sx n="146" d="100"/>
          <a:sy n="146" d="100"/>
        </p:scale>
        <p:origin x="106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8164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Καλησπέρα σας. Παρουσιάζω την απαλλακτική εργασία μου για το μάθημα Ευφυή Εικονικά Περιβάλλοντα και Ανάπτυξη Παιχνιδιών με τίτλο 'The Secret Library'. Πρόκειται για ένα πλήρες 3D Escape Room ανεπτυγμένο στη Godot Engine 4.</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Η εργασία εντάσσεται στο Θέμα 5 της εκφώνησης. Στόχος ήταν η δημιουργία ενός πειστικού, ολοκληρωμένου Escape Room με συνεπή λογική γρίφων και υψηλή αισθητική αρτιότητα.</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Χρησιμοποιήθηκε η Godot 4.7 με GDScript. Για τη φυσική αξιοποιήθηκε η μηχανή Jolt Physics που προσφέρει κορυφαία σταθερότητα και απόδοση.</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Η σκηνή main.tscn έχει σχεδιαστεί με απόλυτο διαχωρισμό ευθυνών. Ο GameManager συνδέεται ασύγχρονα με όλα τα αντικείμενα μέσω σημάτων, εξασφαλίζοντας σταθερότητα.</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Στο player.gd υλοποιήσαμε FPS controller με ανεξαρτησία γλώσσας πληκτρολογίου μέσω physical keycodes, ώστε το πλήκτρο E να λειτουργεί πάντα απρόσκοπτα.</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Αντί για ένα στατικό 2D εικονίδιο, σχεδιάσαμε ένα πλήρες τρισδιάστατο χέρι με 5 δάχτυλα που απλώνεται με Tween animation κάθε φορά που ο παίκτης αλληλεπιδρά.</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Η ανίχνευση γίνεται μέσω RayCast3D. Όταν ο παίκτης κοιτάζει κάποιο αντικείμενο, το στόχαστρο μετατρέπεται δυναμικά σε χέρι ✋ και εμφανίζεται το κατάλληλο μήνυμα προτροπής.</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Στον 1ο γρίφο, ο παίκτης πρέπει να ανακαλύψει τη σειρά τραβήγματος των βιβλίων: Αριστερό, Δεξί, Μεσαίο. Οι φωτεινοί κρύσταλλοι δίνουν άμεσο οπτικό feedback.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Ο 2ος γρίφος απαιτεί τον σχηματισμό ενός τριγώνου. Αναπτύξαμε έναν έξυπνο αλγόριθμο ταξινόμησης γωνιών που αναγνωρίζει οποιονδήποτε έγκυρο σχηματισμό με συμμετρία 180 μοιρών.</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Μετά το τρίγωνο, το οικόσημο ανοίγει τη βιβλιοθήκη-πόρτα. Περνώντας την έξοδο, εμφανίζεται η οθόνη νίκης και μετά από 3 δευτερόλεπτα το παιχνίδι τερματίζει αυτόματα.</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Ιδιαίτερη έμφαση δόθηκε στη βελτιστοποίηση: μηδενικό μέγεθος assets μέσω procedural primitives, διαμοιρασμός κοινών PBR υλικών για χαμηλά draw calls, και Jolt Physics για ταχύτατες συγκρούσεις.</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Το έργο καλύπτει όλα τα κριτήρια της εκφώνησης: αληθοφάνεια, πληρότητα, κίνηση μέσω tweens, βελτιστοποίηση και άρτια δομημένη λογική γρίφων.</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Ο κώδικας χωρίζεται σε 3 βασικά scripts: player.gd για τον χειρισμό, game_manager.gd για τη λογική των γρίφων και interactable.gd ως βάση διαδραστικότητας.</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Συνοψίζοντας, παραδίδεται ένα πλήρες, λειτουργικό project με όλα τα ζητούμενα έγγραφα και παρουσιάσεις. Ευχαριστώ πολύ για την προσοχή σας!</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Rounded Rectangle 3"/>
          <p:cNvSpPr/>
          <p:nvPr/>
        </p:nvSpPr>
        <p:spPr>
          <a:xfrm>
            <a:off x="2775167" y="312230"/>
            <a:ext cx="6641666" cy="671749"/>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D4AF37"/>
                </a:solidFill>
              </a:defRPr>
            </a:pPr>
            <a:r>
              <a:rPr sz="1600" dirty="0">
                <a:latin typeface="Times New Roman" panose="02020603050405020304" pitchFamily="18" charset="0"/>
                <a:cs typeface="Times New Roman" panose="02020603050405020304" pitchFamily="18" charset="0"/>
              </a:rPr>
              <a:t>ΠΑΝΕΠΙΣΤΗΜΙΟ ΠΕΙΡΑΙΩΣ | ΤΜΗΜΑ ΠΛΗΡΟΦΟΡΙΚΗΣ</a:t>
            </a:r>
          </a:p>
        </p:txBody>
      </p:sp>
      <p:sp>
        <p:nvSpPr>
          <p:cNvPr id="5" name="TextBox 4"/>
          <p:cNvSpPr txBox="1"/>
          <p:nvPr/>
        </p:nvSpPr>
        <p:spPr>
          <a:xfrm>
            <a:off x="1097280" y="1280160"/>
            <a:ext cx="10058400" cy="769441"/>
          </a:xfrm>
          <a:prstGeom prst="rect">
            <a:avLst/>
          </a:prstGeom>
          <a:noFill/>
        </p:spPr>
        <p:txBody>
          <a:bodyPr wrap="square">
            <a:spAutoFit/>
          </a:bodyPr>
          <a:lstStyle/>
          <a:p>
            <a:pPr algn="ctr">
              <a:defRPr sz="4400" b="1">
                <a:solidFill>
                  <a:srgbClr val="D4AF37"/>
                </a:solidFill>
              </a:defRPr>
            </a:pPr>
            <a:r>
              <a:rPr>
                <a:latin typeface="Times New Roman" panose="02020603050405020304" pitchFamily="18" charset="0"/>
                <a:cs typeface="Times New Roman" panose="02020603050405020304" pitchFamily="18" charset="0"/>
              </a:rPr>
              <a:t>The Secret Library</a:t>
            </a:r>
          </a:p>
        </p:txBody>
      </p:sp>
      <p:sp>
        <p:nvSpPr>
          <p:cNvPr id="6" name="TextBox 5"/>
          <p:cNvSpPr txBox="1"/>
          <p:nvPr/>
        </p:nvSpPr>
        <p:spPr>
          <a:xfrm>
            <a:off x="1097280" y="2468880"/>
            <a:ext cx="10058400" cy="430887"/>
          </a:xfrm>
          <a:prstGeom prst="rect">
            <a:avLst/>
          </a:prstGeom>
          <a:noFill/>
        </p:spPr>
        <p:txBody>
          <a:bodyPr wrap="square">
            <a:spAutoFit/>
          </a:bodyPr>
          <a:lstStyle/>
          <a:p>
            <a:pPr algn="ctr">
              <a:defRPr sz="2200">
                <a:solidFill>
                  <a:srgbClr val="4ECDC4"/>
                </a:solidFill>
              </a:defRPr>
            </a:pPr>
            <a:r>
              <a:rPr dirty="0">
                <a:latin typeface="Times New Roman" panose="02020603050405020304" pitchFamily="18" charset="0"/>
                <a:cs typeface="Times New Roman" panose="02020603050405020304" pitchFamily="18" charset="0"/>
              </a:rPr>
              <a:t>Interactive 3D Escape Room in Godot Engine 4</a:t>
            </a:r>
          </a:p>
        </p:txBody>
      </p:sp>
      <p:sp>
        <p:nvSpPr>
          <p:cNvPr id="7" name="Rounded Rectangle 6"/>
          <p:cNvSpPr/>
          <p:nvPr/>
        </p:nvSpPr>
        <p:spPr>
          <a:xfrm>
            <a:off x="1097279" y="3536949"/>
            <a:ext cx="9997135" cy="2560320"/>
          </a:xfrm>
          <a:prstGeom prst="roundRect">
            <a:avLst/>
          </a:prstGeom>
          <a:solidFill>
            <a:srgbClr val="1C2541"/>
          </a:solidFill>
          <a:ln w="15240">
            <a:solidFill>
              <a:srgbClr val="D4AF37"/>
            </a:solidFill>
          </a:ln>
        </p:spPr>
        <p:style>
          <a:lnRef idx="1">
            <a:schemeClr val="accent1"/>
          </a:lnRef>
          <a:fillRef idx="3">
            <a:schemeClr val="accent1"/>
          </a:fillRef>
          <a:effectRef idx="2">
            <a:schemeClr val="accent1"/>
          </a:effectRef>
          <a:fontRef idx="minor">
            <a:schemeClr val="lt1"/>
          </a:fontRef>
        </p:style>
        <p:txBody>
          <a:bodyPr wrap="square" lIns="457200" tIns="320040" rIns="457200" bIns="320040" rtlCol="0" anchor="ctr"/>
          <a:lstStyle/>
          <a:p>
            <a:pPr algn="ctr">
              <a:spcAft>
                <a:spcPts val="1000"/>
              </a:spcAft>
              <a:defRPr sz="1500" b="0">
                <a:solidFill>
                  <a:srgbClr val="DCE2EB"/>
                </a:solidFill>
              </a:defRPr>
            </a:pPr>
            <a:r>
              <a:rPr sz="1600" dirty="0">
                <a:latin typeface="Times New Roman" panose="02020603050405020304" pitchFamily="18" charset="0"/>
                <a:cs typeface="Times New Roman" panose="02020603050405020304" pitchFamily="18" charset="0"/>
              </a:rPr>
              <a:t>🏛️  </a:t>
            </a:r>
            <a:r>
              <a:rPr sz="1600" dirty="0" err="1">
                <a:latin typeface="Times New Roman" panose="02020603050405020304" pitchFamily="18" charset="0"/>
                <a:cs typeface="Times New Roman" panose="02020603050405020304" pitchFamily="18" charset="0"/>
              </a:rPr>
              <a:t>Μάθημ</a:t>
            </a:r>
            <a:r>
              <a:rPr sz="1600" dirty="0">
                <a:latin typeface="Times New Roman" panose="02020603050405020304" pitchFamily="18" charset="0"/>
                <a:cs typeface="Times New Roman" panose="02020603050405020304" pitchFamily="18" charset="0"/>
              </a:rPr>
              <a:t>α: </a:t>
            </a:r>
            <a:r>
              <a:rPr sz="1600" dirty="0" err="1">
                <a:latin typeface="Times New Roman" panose="02020603050405020304" pitchFamily="18" charset="0"/>
                <a:cs typeface="Times New Roman" panose="02020603050405020304" pitchFamily="18" charset="0"/>
              </a:rPr>
              <a:t>Ευφυή</a:t>
            </a:r>
            <a:r>
              <a:rPr sz="1600" dirty="0">
                <a:latin typeface="Times New Roman" panose="02020603050405020304" pitchFamily="18" charset="0"/>
                <a:cs typeface="Times New Roman" panose="02020603050405020304" pitchFamily="18" charset="0"/>
              </a:rPr>
              <a:t> </a:t>
            </a:r>
            <a:r>
              <a:rPr sz="1600" dirty="0" err="1">
                <a:latin typeface="Times New Roman" panose="02020603050405020304" pitchFamily="18" charset="0"/>
                <a:cs typeface="Times New Roman" panose="02020603050405020304" pitchFamily="18" charset="0"/>
              </a:rPr>
              <a:t>Εικονικά</a:t>
            </a:r>
            <a:r>
              <a:rPr sz="1600" dirty="0">
                <a:latin typeface="Times New Roman" panose="02020603050405020304" pitchFamily="18" charset="0"/>
                <a:cs typeface="Times New Roman" panose="02020603050405020304" pitchFamily="18" charset="0"/>
              </a:rPr>
              <a:t> </a:t>
            </a:r>
            <a:r>
              <a:rPr sz="1600" dirty="0" err="1">
                <a:latin typeface="Times New Roman" panose="02020603050405020304" pitchFamily="18" charset="0"/>
                <a:cs typeface="Times New Roman" panose="02020603050405020304" pitchFamily="18" charset="0"/>
              </a:rPr>
              <a:t>Περι</a:t>
            </a:r>
            <a:r>
              <a:rPr sz="1600" dirty="0">
                <a:latin typeface="Times New Roman" panose="02020603050405020304" pitchFamily="18" charset="0"/>
                <a:cs typeface="Times New Roman" panose="02020603050405020304" pitchFamily="18" charset="0"/>
              </a:rPr>
              <a:t>β</a:t>
            </a:r>
            <a:r>
              <a:rPr sz="1600" dirty="0" err="1">
                <a:latin typeface="Times New Roman" panose="02020603050405020304" pitchFamily="18" charset="0"/>
                <a:cs typeface="Times New Roman" panose="02020603050405020304" pitchFamily="18" charset="0"/>
              </a:rPr>
              <a:t>άλλοντ</a:t>
            </a:r>
            <a:r>
              <a:rPr sz="1600" dirty="0">
                <a:latin typeface="Times New Roman" panose="02020603050405020304" pitchFamily="18" charset="0"/>
                <a:cs typeface="Times New Roman" panose="02020603050405020304" pitchFamily="18" charset="0"/>
              </a:rPr>
              <a:t>α &amp; </a:t>
            </a:r>
            <a:r>
              <a:rPr sz="1600" dirty="0" err="1">
                <a:latin typeface="Times New Roman" panose="02020603050405020304" pitchFamily="18" charset="0"/>
                <a:cs typeface="Times New Roman" panose="02020603050405020304" pitchFamily="18" charset="0"/>
              </a:rPr>
              <a:t>Ανά</a:t>
            </a:r>
            <a:r>
              <a:rPr sz="1600" dirty="0">
                <a:latin typeface="Times New Roman" panose="02020603050405020304" pitchFamily="18" charset="0"/>
                <a:cs typeface="Times New Roman" panose="02020603050405020304" pitchFamily="18" charset="0"/>
              </a:rPr>
              <a:t>π</a:t>
            </a:r>
            <a:r>
              <a:rPr sz="1600" dirty="0" err="1">
                <a:latin typeface="Times New Roman" panose="02020603050405020304" pitchFamily="18" charset="0"/>
                <a:cs typeface="Times New Roman" panose="02020603050405020304" pitchFamily="18" charset="0"/>
              </a:rPr>
              <a:t>τυξη</a:t>
            </a:r>
            <a:r>
              <a:rPr sz="1600" dirty="0">
                <a:latin typeface="Times New Roman" panose="02020603050405020304" pitchFamily="18" charset="0"/>
                <a:cs typeface="Times New Roman" panose="02020603050405020304" pitchFamily="18" charset="0"/>
              </a:rPr>
              <a:t> </a:t>
            </a:r>
            <a:r>
              <a:rPr sz="1600" dirty="0" err="1">
                <a:latin typeface="Times New Roman" panose="02020603050405020304" pitchFamily="18" charset="0"/>
                <a:cs typeface="Times New Roman" panose="02020603050405020304" pitchFamily="18" charset="0"/>
              </a:rPr>
              <a:t>Π</a:t>
            </a:r>
            <a:r>
              <a:rPr sz="1600" dirty="0">
                <a:latin typeface="Times New Roman" panose="02020603050405020304" pitchFamily="18" charset="0"/>
                <a:cs typeface="Times New Roman" panose="02020603050405020304" pitchFamily="18" charset="0"/>
              </a:rPr>
              <a:t>α</a:t>
            </a:r>
            <a:r>
              <a:rPr sz="1600" dirty="0" err="1">
                <a:latin typeface="Times New Roman" panose="02020603050405020304" pitchFamily="18" charset="0"/>
                <a:cs typeface="Times New Roman" panose="02020603050405020304" pitchFamily="18" charset="0"/>
              </a:rPr>
              <a:t>ιχνιδιών</a:t>
            </a:r>
            <a:endParaRPr sz="1600" dirty="0">
              <a:latin typeface="Times New Roman" panose="02020603050405020304" pitchFamily="18" charset="0"/>
              <a:cs typeface="Times New Roman" panose="02020603050405020304" pitchFamily="18" charset="0"/>
            </a:endParaRPr>
          </a:p>
          <a:p>
            <a:pPr algn="ctr">
              <a:spcAft>
                <a:spcPts val="1000"/>
              </a:spcAft>
              <a:defRPr sz="1500" b="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Φοιτη</a:t>
            </a:r>
            <a:r>
              <a:rPr lang="el-GR" dirty="0" err="1">
                <a:latin typeface="Times New Roman" panose="02020603050405020304" pitchFamily="18" charset="0"/>
                <a:cs typeface="Times New Roman" panose="02020603050405020304" pitchFamily="18" charset="0"/>
              </a:rPr>
              <a:t>τές</a:t>
            </a:r>
            <a:r>
              <a:rPr dirty="0">
                <a:latin typeface="Times New Roman" panose="02020603050405020304" pitchFamily="18" charset="0"/>
                <a:cs typeface="Times New Roman" panose="02020603050405020304" pitchFamily="18" charset="0"/>
              </a:rPr>
              <a:t>: </a:t>
            </a:r>
            <a:endParaRPr lang="el-GR" dirty="0">
              <a:latin typeface="Times New Roman" panose="02020603050405020304" pitchFamily="18" charset="0"/>
              <a:cs typeface="Times New Roman" panose="02020603050405020304" pitchFamily="18" charset="0"/>
            </a:endParaRPr>
          </a:p>
          <a:p>
            <a:pPr algn="ctr">
              <a:spcAft>
                <a:spcPts val="1000"/>
              </a:spcAft>
              <a:defRPr sz="1500" b="0">
                <a:solidFill>
                  <a:srgbClr val="DCE2EB"/>
                </a:solidFill>
              </a:defRPr>
            </a:pP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γιώτης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εκιάρης</a:t>
            </a:r>
            <a:r>
              <a:rPr lang="el-GR"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mpsp2530)</a:t>
            </a:r>
            <a:endParaRPr lang="el-GR" dirty="0">
              <a:latin typeface="Times New Roman" panose="02020603050405020304" pitchFamily="18" charset="0"/>
              <a:cs typeface="Times New Roman" panose="02020603050405020304" pitchFamily="18" charset="0"/>
            </a:endParaRPr>
          </a:p>
          <a:p>
            <a:pPr algn="ctr">
              <a:spcAft>
                <a:spcPts val="1000"/>
              </a:spcAft>
              <a:defRPr sz="1500" b="0">
                <a:solidFill>
                  <a:srgbClr val="DCE2EB"/>
                </a:solidFill>
              </a:defRPr>
            </a:pPr>
            <a:r>
              <a:rPr lang="el-GR" dirty="0">
                <a:latin typeface="Times New Roman" panose="02020603050405020304" pitchFamily="18" charset="0"/>
                <a:cs typeface="Times New Roman" panose="02020603050405020304" pitchFamily="18" charset="0"/>
              </a:rPr>
              <a:t>Κωνσταντίνα </a:t>
            </a:r>
            <a:r>
              <a:rPr lang="el-GR" dirty="0" err="1">
                <a:latin typeface="Times New Roman" panose="02020603050405020304" pitchFamily="18" charset="0"/>
                <a:cs typeface="Times New Roman" panose="02020603050405020304" pitchFamily="18" charset="0"/>
              </a:rPr>
              <a:t>Τόσκα</a:t>
            </a:r>
            <a:r>
              <a:rPr lang="el-GR"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mpsp2552)</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034531"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ΘΕΜΑΤΟΛΟΓΙΑ &amp; ΣΤΟΧΟΙ</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 </a:t>
            </a:r>
            <a:r>
              <a:rPr dirty="0" err="1">
                <a:latin typeface="Times New Roman" panose="02020603050405020304" pitchFamily="18" charset="0"/>
                <a:cs typeface="Times New Roman" panose="02020603050405020304" pitchFamily="18" charset="0"/>
              </a:rPr>
              <a:t>Σκο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Έργου</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ιλογή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Θέμ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Αντικείμενο</a:t>
            </a:r>
            <a:r>
              <a:rPr dirty="0">
                <a:latin typeface="Times New Roman" panose="02020603050405020304" pitchFamily="18" charset="0"/>
                <a:cs typeface="Times New Roman" panose="02020603050405020304" pitchFamily="18" charset="0"/>
              </a:rPr>
              <a:t> 5: Interactive Escape Room / Puzzle Environment</a:t>
            </a:r>
          </a:p>
        </p:txBody>
      </p:sp>
      <p:sp>
        <p:nvSpPr>
          <p:cNvPr id="6" name="Rounded Rectangle 5"/>
          <p:cNvSpPr/>
          <p:nvPr/>
        </p:nvSpPr>
        <p:spPr>
          <a:xfrm>
            <a:off x="731520" y="1691640"/>
            <a:ext cx="5852160" cy="256032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Κύριοι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Στόχοι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Ανά</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τυξης</a:t>
            </a:r>
            <a:endParaRPr dirty="0">
              <a:latin typeface="Times New Roman" panose="02020603050405020304" pitchFamily="18" charset="0"/>
              <a:cs typeface="Times New Roman" panose="02020603050405020304" pitchFamily="18" charset="0"/>
            </a:endParaRP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Δημιουργί</a:t>
            </a:r>
            <a:r>
              <a:rPr dirty="0">
                <a:latin typeface="Times New Roman" panose="02020603050405020304" pitchFamily="18" charset="0"/>
                <a:cs typeface="Times New Roman" panose="02020603050405020304" pitchFamily="18" charset="0"/>
              </a:rPr>
              <a:t>α α</a:t>
            </a:r>
            <a:r>
              <a:rPr dirty="0" err="1">
                <a:latin typeface="Times New Roman" panose="02020603050405020304" pitchFamily="18" charset="0"/>
                <a:cs typeface="Times New Roman" panose="02020603050405020304" pitchFamily="18" charset="0"/>
              </a:rPr>
              <a:t>τμοσφ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ιρικού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τρισδιάστ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χώρου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μυστικής</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λιοθήκης</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Πρώτου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Προσώ</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ου</a:t>
            </a:r>
            <a:r>
              <a:rPr dirty="0">
                <a:latin typeface="Times New Roman" panose="02020603050405020304" pitchFamily="18" charset="0"/>
                <a:cs typeface="Times New Roman" panose="02020603050405020304" pitchFamily="18" charset="0"/>
              </a:rPr>
              <a:t> (FPS)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λήρη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έλεγχο</a:t>
            </a:r>
            <a:r>
              <a:rPr dirty="0">
                <a:latin typeface="Times New Roman" panose="02020603050405020304" pitchFamily="18" charset="0"/>
                <a:cs typeface="Times New Roman" panose="02020603050405020304" pitchFamily="18" charset="0"/>
              </a:rPr>
              <a:t> 360°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ρε</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λιστική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φυσική</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Σύστημ</a:t>
            </a:r>
            <a:r>
              <a:rPr dirty="0">
                <a:latin typeface="Times New Roman" panose="02020603050405020304" pitchFamily="18" charset="0"/>
                <a:cs typeface="Times New Roman" panose="02020603050405020304" pitchFamily="18" charset="0"/>
              </a:rPr>
              <a:t>α α</a:t>
            </a:r>
            <a:r>
              <a:rPr dirty="0" err="1">
                <a:latin typeface="Times New Roman" panose="02020603050405020304" pitchFamily="18" charset="0"/>
                <a:cs typeface="Times New Roman" panose="02020603050405020304" pitchFamily="18" charset="0"/>
              </a:rPr>
              <a:t>λληλε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RayCast3D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τρισδιάστ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απα</a:t>
            </a:r>
            <a:r>
              <a:rPr dirty="0" err="1">
                <a:latin typeface="Times New Roman" panose="02020603050405020304" pitchFamily="18" charset="0"/>
                <a:cs typeface="Times New Roman" panose="02020603050405020304" pitchFamily="18" charset="0"/>
              </a:rPr>
              <a:t>ράστ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χεριού</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δοχική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νικών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γεωμετρικών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γρίφων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δύο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έδων</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κύκλος</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ιχνιδιού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εξερεύνηση</a:t>
            </a: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γρίφοι</a:t>
            </a:r>
            <a:r>
              <a:rPr dirty="0">
                <a:latin typeface="Times New Roman" panose="02020603050405020304" pitchFamily="18" charset="0"/>
                <a:cs typeface="Times New Roman" panose="02020603050405020304" pitchFamily="18" charset="0"/>
              </a:rPr>
              <a:t> ➔ απ</a:t>
            </a:r>
            <a:r>
              <a:rPr dirty="0" err="1">
                <a:latin typeface="Times New Roman" panose="02020603050405020304" pitchFamily="18" charset="0"/>
                <a:cs typeface="Times New Roman" panose="02020603050405020304" pitchFamily="18" charset="0"/>
              </a:rPr>
              <a:t>όδρ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 α</a:t>
            </a:r>
            <a:r>
              <a:rPr dirty="0" err="1">
                <a:latin typeface="Times New Roman" panose="02020603050405020304" pitchFamily="18" charset="0"/>
                <a:cs typeface="Times New Roman" panose="02020603050405020304" pitchFamily="18" charset="0"/>
              </a:rPr>
              <a:t>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τισμός</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731520" y="4389120"/>
            <a:ext cx="5852160" cy="196596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Θεμ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Αισθητική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υτότητ</a:t>
            </a:r>
            <a:r>
              <a:rPr dirty="0">
                <a:latin typeface="Times New Roman" panose="02020603050405020304" pitchFamily="18" charset="0"/>
                <a:cs typeface="Times New Roman" panose="02020603050405020304" pitchFamily="18" charset="0"/>
              </a:rPr>
              <a:t>α</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Αρχιτεκτονική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σικής</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σκούρο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ξύλο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όνι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χρυσό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ρούτζο</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νομοιότυ</a:t>
            </a:r>
            <a:r>
              <a:rPr dirty="0">
                <a:latin typeface="Times New Roman" panose="02020603050405020304" pitchFamily="18" charset="0"/>
                <a:cs typeface="Times New Roman" panose="02020603050405020304" pitchFamily="18" charset="0"/>
              </a:rPr>
              <a:t>πα </a:t>
            </a:r>
            <a:r>
              <a:rPr dirty="0" err="1">
                <a:latin typeface="Times New Roman" panose="02020603050405020304" pitchFamily="18" charset="0"/>
                <a:cs typeface="Times New Roman" panose="02020603050405020304" pitchFamily="18" charset="0"/>
              </a:rPr>
              <a:t>δερμ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τόδετ</a:t>
            </a:r>
            <a:r>
              <a:rPr dirty="0">
                <a:latin typeface="Times New Roman" panose="02020603050405020304" pitchFamily="18" charset="0"/>
                <a:cs typeface="Times New Roman" panose="02020603050405020304" pitchFamily="18" charset="0"/>
              </a:rPr>
              <a:t>α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απ</a:t>
            </a:r>
            <a:r>
              <a:rPr dirty="0" err="1">
                <a:latin typeface="Times New Roman" panose="02020603050405020304" pitchFamily="18" charset="0"/>
                <a:cs typeface="Times New Roman" panose="02020603050405020304" pitchFamily="18" charset="0"/>
              </a:rPr>
              <a:t>όκρυψη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νισμού</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Δυν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φωτισμός</a:t>
            </a:r>
            <a:r>
              <a:rPr dirty="0">
                <a:latin typeface="Times New Roman" panose="02020603050405020304" pitchFamily="18" charset="0"/>
                <a:cs typeface="Times New Roman" panose="02020603050405020304" pitchFamily="18" charset="0"/>
              </a:rPr>
              <a:t> PBR π</a:t>
            </a:r>
            <a:r>
              <a:rPr dirty="0" err="1">
                <a:latin typeface="Times New Roman" panose="02020603050405020304" pitchFamily="18" charset="0"/>
                <a:cs typeface="Times New Roman" panose="02020603050405020304" pitchFamily="18" charset="0"/>
              </a:rPr>
              <a:t>ου</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δεικνύει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τις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τομέρειες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υλικών</a:t>
            </a:r>
            <a:r>
              <a:rPr dirty="0">
                <a:latin typeface="Times New Roman" panose="02020603050405020304" pitchFamily="18" charset="0"/>
                <a:cs typeface="Times New Roman" panose="02020603050405020304" pitchFamily="18" charset="0"/>
              </a:rPr>
              <a:t>.</a:t>
            </a:r>
          </a:p>
        </p:txBody>
      </p:sp>
      <p:pic>
        <p:nvPicPr>
          <p:cNvPr id="8" name="Picture 7" descr="image1.png"/>
          <p:cNvPicPr>
            <a:picLocks noChangeAspect="1"/>
          </p:cNvPicPr>
          <p:nvPr/>
        </p:nvPicPr>
        <p:blipFill>
          <a:blip r:embed="rId3"/>
          <a:stretch>
            <a:fillRect/>
          </a:stretch>
        </p:blipFill>
        <p:spPr>
          <a:xfrm>
            <a:off x="6858000" y="1691640"/>
            <a:ext cx="4572000" cy="4023360"/>
          </a:xfrm>
          <a:prstGeom prst="rect">
            <a:avLst/>
          </a:prstGeom>
        </p:spPr>
      </p:pic>
      <p:sp>
        <p:nvSpPr>
          <p:cNvPr id="9" name="TextBox 8"/>
          <p:cNvSpPr txBox="1"/>
          <p:nvPr/>
        </p:nvSpPr>
        <p:spPr>
          <a:xfrm>
            <a:off x="6858000" y="5779008"/>
            <a:ext cx="4572000" cy="502920"/>
          </a:xfrm>
          <a:prstGeom prst="rect">
            <a:avLst/>
          </a:prstGeom>
          <a:noFill/>
        </p:spPr>
        <p:txBody>
          <a:bodyPr wrap="square">
            <a:spAutoFit/>
          </a:bodyPr>
          <a:lstStyle/>
          <a:p>
            <a:pPr algn="ctr">
              <a:defRPr sz="1100">
                <a:solidFill>
                  <a:srgbClr val="D4AF37"/>
                </a:solidFill>
              </a:defRPr>
            </a:pPr>
            <a:r>
              <a:t>📷 In-Game: Ο ατμοσφαιρικός 3D χώρος της βιβλιοθήκης</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117887"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ΤΕΧΝΟΛΟΓΙΚΟ ΥΠΟΒΑΘΡΟ</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2. </a:t>
            </a:r>
            <a:r>
              <a:rPr dirty="0" err="1">
                <a:latin typeface="Times New Roman" panose="02020603050405020304" pitchFamily="18" charset="0"/>
                <a:cs typeface="Times New Roman" panose="02020603050405020304" pitchFamily="18" charset="0"/>
              </a:rPr>
              <a:t>Εργ</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λεί</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Τεχνολογίες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Ανά</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τυξης</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Σύγχρονο</a:t>
            </a:r>
            <a:r>
              <a:rPr dirty="0">
                <a:latin typeface="Times New Roman" panose="02020603050405020304" pitchFamily="18" charset="0"/>
                <a:cs typeface="Times New Roman" panose="02020603050405020304" pitchFamily="18" charset="0"/>
              </a:rPr>
              <a:t> Open-Source Game Development Stack</a:t>
            </a: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D4AF37"/>
                </a:solidFill>
              </a:defRPr>
            </a:pPr>
            <a:r>
              <a:rPr dirty="0">
                <a:latin typeface="Times New Roman" panose="02020603050405020304" pitchFamily="18" charset="0"/>
                <a:cs typeface="Times New Roman" panose="02020603050405020304" pitchFamily="18" charset="0"/>
              </a:rPr>
              <a:t>🎮 Game Engine</a:t>
            </a:r>
          </a:p>
          <a:p>
            <a:pPr>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Godot Engine 4.7</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Forward+ 3D Renderer</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Σύγχρονο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σύστημ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σκηνών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κόμ</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ων</a:t>
            </a:r>
            <a:endParaRPr dirty="0">
              <a:latin typeface="Times New Roman" panose="02020603050405020304" pitchFamily="18" charset="0"/>
              <a:cs typeface="Times New Roman" panose="02020603050405020304" pitchFamily="18" charset="0"/>
            </a:endParaRP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Ελ</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φρύ</a:t>
            </a:r>
            <a:r>
              <a:rPr dirty="0">
                <a:latin typeface="Times New Roman" panose="02020603050405020304" pitchFamily="18" charset="0"/>
                <a:cs typeface="Times New Roman" panose="02020603050405020304" pitchFamily="18" charset="0"/>
              </a:rPr>
              <a:t> runtime &amp;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χύτ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export</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4ECDC4"/>
                </a:solidFill>
              </a:defRPr>
            </a:pPr>
            <a:r>
              <a:rPr dirty="0">
                <a:latin typeface="Times New Roman" panose="02020603050405020304" pitchFamily="18" charset="0"/>
                <a:cs typeface="Times New Roman" panose="02020603050405020304" pitchFamily="18" charset="0"/>
              </a:rPr>
              <a:t>💻 Programming Language</a:t>
            </a:r>
          </a:p>
          <a:p>
            <a:pPr>
              <a:spcAft>
                <a:spcPts val="1200"/>
              </a:spcAft>
              <a:defRPr sz="1400" b="1">
                <a:solidFill>
                  <a:srgbClr val="FFFFFF"/>
                </a:solidFill>
              </a:defRPr>
            </a:pPr>
            <a:r>
              <a:rPr dirty="0" err="1">
                <a:latin typeface="Times New Roman" panose="02020603050405020304" pitchFamily="18" charset="0"/>
                <a:cs typeface="Times New Roman" panose="02020603050405020304" pitchFamily="18" charset="0"/>
              </a:rPr>
              <a:t>GDScript</a:t>
            </a:r>
            <a:r>
              <a:rPr dirty="0">
                <a:latin typeface="Times New Roman" panose="02020603050405020304" pitchFamily="18" charset="0"/>
                <a:cs typeface="Times New Roman" panose="02020603050405020304" pitchFamily="18" charset="0"/>
              </a:rPr>
              <a:t> 2.0</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Native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χύτητ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εκτέλεσης</a:t>
            </a:r>
            <a:endParaRPr dirty="0">
              <a:latin typeface="Times New Roman" panose="02020603050405020304" pitchFamily="18" charset="0"/>
              <a:cs typeface="Times New Roman" panose="02020603050405020304" pitchFamily="18" charset="0"/>
            </a:endParaRP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Αρχιτεκτονική</a:t>
            </a:r>
            <a:r>
              <a:rPr dirty="0">
                <a:latin typeface="Times New Roman" panose="02020603050405020304" pitchFamily="18" charset="0"/>
                <a:cs typeface="Times New Roman" panose="02020603050405020304" pitchFamily="18" charset="0"/>
              </a:rPr>
              <a:t> Observer </a:t>
            </a:r>
            <a:r>
              <a:rPr dirty="0" err="1">
                <a:latin typeface="Times New Roman" panose="02020603050405020304" pitchFamily="18" charset="0"/>
                <a:cs typeface="Times New Roman" panose="02020603050405020304" pitchFamily="18" charset="0"/>
              </a:rPr>
              <a:t>μέσω</a:t>
            </a:r>
            <a:r>
              <a:rPr dirty="0">
                <a:latin typeface="Times New Roman" panose="02020603050405020304" pitchFamily="18" charset="0"/>
                <a:cs typeface="Times New Roman" panose="02020603050405020304" pitchFamily="18" charset="0"/>
              </a:rPr>
              <a:t> Signals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Πλήρως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σχολι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σμένος</a:t>
            </a:r>
            <a:r>
              <a:rPr dirty="0">
                <a:latin typeface="Times New Roman" panose="02020603050405020304" pitchFamily="18" charset="0"/>
                <a:cs typeface="Times New Roman" panose="02020603050405020304" pitchFamily="18" charset="0"/>
              </a:rPr>
              <a:t>, modular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endParaRPr dirty="0">
              <a:latin typeface="Times New Roman" panose="02020603050405020304" pitchFamily="18" charset="0"/>
              <a:cs typeface="Times New Roman" panose="02020603050405020304" pitchFamily="18" charset="0"/>
            </a:endParaRPr>
          </a:p>
        </p:txBody>
      </p:sp>
      <p:sp>
        <p:nvSpPr>
          <p:cNvPr id="8" name="Rounded Rectangle 7"/>
          <p:cNvSpPr/>
          <p:nvPr/>
        </p:nvSpPr>
        <p:spPr>
          <a:xfrm>
            <a:off x="8083296" y="169164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FFFFFF"/>
                </a:solidFill>
              </a:defRPr>
            </a:pPr>
            <a:r>
              <a:rPr dirty="0">
                <a:latin typeface="Times New Roman" panose="02020603050405020304" pitchFamily="18" charset="0"/>
                <a:cs typeface="Times New Roman" panose="02020603050405020304" pitchFamily="18" charset="0"/>
              </a:rPr>
              <a:t>⚙️ Physics &amp; Control</a:t>
            </a:r>
          </a:p>
          <a:p>
            <a:pPr>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Jolt 3D &amp; Git</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Jolt Physics: </a:t>
            </a:r>
            <a:r>
              <a:rPr dirty="0" err="1">
                <a:latin typeface="Times New Roman" panose="02020603050405020304" pitchFamily="18" charset="0"/>
                <a:cs typeface="Times New Roman" panose="02020603050405020304" pitchFamily="18" charset="0"/>
              </a:rPr>
              <a:t>Κορυφ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a:t>
            </a:r>
            <a:r>
              <a:rPr dirty="0">
                <a:latin typeface="Times New Roman" panose="02020603050405020304" pitchFamily="18" charset="0"/>
                <a:cs typeface="Times New Roman" panose="02020603050405020304" pitchFamily="18" charset="0"/>
              </a:rPr>
              <a:t>α απ</a:t>
            </a:r>
            <a:r>
              <a:rPr dirty="0" err="1">
                <a:latin typeface="Times New Roman" panose="02020603050405020304" pitchFamily="18" charset="0"/>
                <a:cs typeface="Times New Roman" panose="02020603050405020304" pitchFamily="18" charset="0"/>
              </a:rPr>
              <a:t>όδοση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συγκρούσεων</a:t>
            </a:r>
            <a:endParaRPr dirty="0">
              <a:latin typeface="Times New Roman" panose="02020603050405020304" pitchFamily="18" charset="0"/>
              <a:cs typeface="Times New Roman" panose="02020603050405020304" pitchFamily="18" charset="0"/>
            </a:endParaRP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PBR Materials &amp; Procedural Primitives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GitHub Repository: </a:t>
            </a:r>
            <a:r>
              <a:rPr dirty="0" err="1">
                <a:latin typeface="Times New Roman" panose="02020603050405020304" pitchFamily="18" charset="0"/>
                <a:cs typeface="Times New Roman" panose="02020603050405020304" pitchFamily="18" charset="0"/>
              </a:rPr>
              <a:t>MrMpek</a:t>
            </a:r>
            <a:r>
              <a:rPr dirty="0">
                <a:latin typeface="Times New Roman" panose="02020603050405020304" pitchFamily="18" charset="0"/>
                <a:cs typeface="Times New Roman" panose="02020603050405020304" pitchFamily="18" charset="0"/>
              </a:rPr>
              <a:t>/</a:t>
            </a:r>
            <a:r>
              <a:rPr dirty="0" err="1">
                <a:latin typeface="Times New Roman" panose="02020603050405020304" pitchFamily="18" charset="0"/>
                <a:cs typeface="Times New Roman" panose="02020603050405020304" pitchFamily="18" charset="0"/>
              </a:rPr>
              <a:t>SecretLibrary</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058577"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ΑΡΧΙΤΕΚΤΟΝΙΚΗ ΣΚΗΝΗΣ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3. </a:t>
            </a:r>
            <a:r>
              <a:rPr dirty="0" err="1">
                <a:latin typeface="Times New Roman" panose="02020603050405020304" pitchFamily="18" charset="0"/>
                <a:cs typeface="Times New Roman" panose="02020603050405020304" pitchFamily="18" charset="0"/>
              </a:rPr>
              <a:t>Δομή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Σκηνής</a:t>
            </a:r>
            <a:r>
              <a:rPr dirty="0">
                <a:latin typeface="Times New Roman" panose="02020603050405020304" pitchFamily="18" charset="0"/>
                <a:cs typeface="Times New Roman" panose="02020603050405020304" pitchFamily="18" charset="0"/>
              </a:rPr>
              <a:t> (Scene Hierarchy)</a:t>
            </a: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χωρισμός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Ευθυνών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Ιερ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ρχί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Κόμ</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main.tscn</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Δενδρική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Δομή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Κόμ</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ων</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Main (Node3D): </a:t>
            </a:r>
            <a:r>
              <a:rPr dirty="0" err="1">
                <a:latin typeface="Times New Roman" panose="02020603050405020304" pitchFamily="18" charset="0"/>
                <a:cs typeface="Times New Roman" panose="02020603050405020304" pitchFamily="18" charset="0"/>
              </a:rPr>
              <a:t>Ρίζ</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σκηνής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WorldEnvironment</a:t>
            </a:r>
            <a:r>
              <a:rPr dirty="0">
                <a:latin typeface="Times New Roman" panose="02020603050405020304" pitchFamily="18" charset="0"/>
                <a:cs typeface="Times New Roman" panose="02020603050405020304" pitchFamily="18" charset="0"/>
              </a:rPr>
              <a:t> &amp; Lights: </a:t>
            </a:r>
            <a:r>
              <a:rPr dirty="0" err="1">
                <a:latin typeface="Times New Roman" panose="02020603050405020304" pitchFamily="18" charset="0"/>
                <a:cs typeface="Times New Roman" panose="02020603050405020304" pitchFamily="18" charset="0"/>
              </a:rPr>
              <a:t>Ατμοσφ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ιρικός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φωτισμός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Architecture: </a:t>
            </a:r>
            <a:r>
              <a:rPr dirty="0" err="1">
                <a:latin typeface="Times New Roman" panose="02020603050405020304" pitchFamily="18" charset="0"/>
                <a:cs typeface="Times New Roman" panose="02020603050405020304" pitchFamily="18" charset="0"/>
              </a:rPr>
              <a:t>Πάτωμ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τοίχοι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οροφή</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ControlConsole</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Κεντρική</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a:t>
            </a:r>
            <a:r>
              <a:rPr dirty="0">
                <a:latin typeface="Times New Roman" panose="02020603050405020304" pitchFamily="18" charset="0"/>
                <a:cs typeface="Times New Roman" panose="02020603050405020304" pitchFamily="18" charset="0"/>
              </a:rPr>
              <a:t> &amp; 3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PuzzleTable</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3 π</a:t>
            </a:r>
            <a:r>
              <a:rPr dirty="0" err="1">
                <a:latin typeface="Times New Roman" panose="02020603050405020304" pitchFamily="18" charset="0"/>
                <a:cs typeface="Times New Roman" panose="02020603050405020304" pitchFamily="18" charset="0"/>
              </a:rPr>
              <a:t>εριστρεφόμενες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δους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ExitDoorPivot</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Περιστρεφόμενη</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όρτ</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οικόσημο</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Player: CharacterBody3D, Camera3D &amp; 3D Hand.</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GameManager</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ελεγκτής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λογικής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UI: </a:t>
            </a:r>
            <a:r>
              <a:rPr dirty="0" err="1">
                <a:latin typeface="Times New Roman" panose="02020603050405020304" pitchFamily="18" charset="0"/>
                <a:cs typeface="Times New Roman" panose="02020603050405020304" pitchFamily="18" charset="0"/>
              </a:rPr>
              <a:t>CanvasLayer</a:t>
            </a:r>
            <a:r>
              <a:rPr dirty="0">
                <a:latin typeface="Times New Roman" panose="02020603050405020304" pitchFamily="18" charset="0"/>
                <a:cs typeface="Times New Roman" panose="02020603050405020304" pitchFamily="18" charset="0"/>
              </a:rPr>
              <a:t> (Crosshair, Prompts, Victory).</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Αρχιτεκτονικά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Πλεονεκτήμ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Modular </a:t>
            </a:r>
            <a:r>
              <a:rPr dirty="0" err="1">
                <a:latin typeface="Times New Roman" panose="02020603050405020304" pitchFamily="18" charset="0"/>
                <a:cs typeface="Times New Roman" panose="02020603050405020304" pitchFamily="18" charset="0"/>
              </a:rPr>
              <a:t>Σχεδι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στοιχείο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λειτουργεί</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υτόνομ</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Signals Decoupling: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οφυγή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κυκλικών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ρτήσεων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ξύ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κλάσεων</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Dynamic Node Resolution: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σύνδεση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κόμ</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runtime (_ready).</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Zero External Assets: </a:t>
            </a:r>
            <a:r>
              <a:rPr dirty="0" err="1">
                <a:latin typeface="Times New Roman" panose="02020603050405020304" pitchFamily="18" charset="0"/>
                <a:cs typeface="Times New Roman" panose="02020603050405020304" pitchFamily="18" charset="0"/>
              </a:rPr>
              <a:t>Όλη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γεωμετρί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δημιουργείτ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procedural primitives.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619354"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ΧΕΙΡΙΣΜΟΣ ΠΑΙΚΤΗ</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4. FPS Controller &amp; </a:t>
            </a:r>
            <a:r>
              <a:rPr dirty="0" err="1">
                <a:latin typeface="Times New Roman" panose="02020603050405020304" pitchFamily="18" charset="0"/>
                <a:cs typeface="Times New Roman" panose="02020603050405020304" pitchFamily="18" charset="0"/>
              </a:rPr>
              <a:t>Κίνηση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Πρώτου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Προσώ</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ου</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Υλο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script </a:t>
            </a:r>
            <a:r>
              <a:rPr dirty="0" err="1">
                <a:latin typeface="Times New Roman" panose="02020603050405020304" pitchFamily="18" charset="0"/>
                <a:cs typeface="Times New Roman" panose="02020603050405020304" pitchFamily="18" charset="0"/>
              </a:rPr>
              <a:t>player.gd</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Χειρισμός</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Κάμερ</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FPS Mouse Look: </a:t>
            </a:r>
            <a:r>
              <a:rPr dirty="0" err="1">
                <a:latin typeface="Times New Roman" panose="02020603050405020304" pitchFamily="18" charset="0"/>
                <a:cs typeface="Times New Roman" panose="02020603050405020304" pitchFamily="18" charset="0"/>
              </a:rPr>
              <a:t>Περιστροφή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κάμερ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360° </a:t>
            </a:r>
            <a:r>
              <a:rPr dirty="0" err="1">
                <a:latin typeface="Times New Roman" panose="02020603050405020304" pitchFamily="18" charset="0"/>
                <a:cs typeface="Times New Roman" panose="02020603050405020304" pitchFamily="18" charset="0"/>
              </a:rPr>
              <a:t>στον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οριζόντιο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άξον</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Pitch Clamping: </a:t>
            </a:r>
            <a:r>
              <a:rPr dirty="0" err="1">
                <a:latin typeface="Times New Roman" panose="02020603050405020304" pitchFamily="18" charset="0"/>
                <a:cs typeface="Times New Roman" panose="02020603050405020304" pitchFamily="18" charset="0"/>
              </a:rPr>
              <a:t>Περιορισμός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κόρυφης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κλίσης</a:t>
            </a:r>
            <a:r>
              <a:rPr dirty="0">
                <a:latin typeface="Times New Roman" panose="02020603050405020304" pitchFamily="18" charset="0"/>
                <a:cs typeface="Times New Roman" panose="02020603050405020304" pitchFamily="18" charset="0"/>
              </a:rPr>
              <a:t> (-80° </a:t>
            </a:r>
            <a:r>
              <a:rPr dirty="0" err="1">
                <a:latin typeface="Times New Roman" panose="02020603050405020304" pitchFamily="18" charset="0"/>
                <a:cs typeface="Times New Roman" panose="02020603050405020304" pitchFamily="18" charset="0"/>
              </a:rPr>
              <a:t>έως</a:t>
            </a:r>
            <a:r>
              <a:rPr dirty="0">
                <a:latin typeface="Times New Roman" panose="02020603050405020304" pitchFamily="18" charset="0"/>
                <a:cs typeface="Times New Roman" panose="02020603050405020304" pitchFamily="18" charset="0"/>
              </a:rPr>
              <a:t> +80°)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απ</a:t>
            </a:r>
            <a:r>
              <a:rPr dirty="0" err="1">
                <a:latin typeface="Times New Roman" panose="02020603050405020304" pitchFamily="18" charset="0"/>
                <a:cs typeface="Times New Roman" panose="02020603050405020304" pitchFamily="18" charset="0"/>
              </a:rPr>
              <a:t>οφυγή</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ροσ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τολισμού</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Κίνηση</a:t>
            </a:r>
            <a:r>
              <a:rPr dirty="0">
                <a:latin typeface="Times New Roman" panose="02020603050405020304" pitchFamily="18" charset="0"/>
                <a:cs typeface="Times New Roman" panose="02020603050405020304" pitchFamily="18" charset="0"/>
              </a:rPr>
              <a:t>: Vector3 </a:t>
            </a:r>
            <a:r>
              <a:rPr dirty="0" err="1">
                <a:latin typeface="Times New Roman" panose="02020603050405020304" pitchFamily="18" charset="0"/>
                <a:cs typeface="Times New Roman" panose="02020603050405020304" pitchFamily="18" charset="0"/>
              </a:rPr>
              <a:t>normalisation</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move_and_slide</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ρμογή</a:t>
            </a:r>
            <a:r>
              <a:rPr dirty="0">
                <a:latin typeface="Times New Roman" panose="02020603050405020304" pitchFamily="18" charset="0"/>
                <a:cs typeface="Times New Roman" panose="02020603050405020304" pitchFamily="18" charset="0"/>
              </a:rPr>
              <a:t> βα</a:t>
            </a:r>
            <a:r>
              <a:rPr dirty="0" err="1">
                <a:latin typeface="Times New Roman" panose="02020603050405020304" pitchFamily="18" charset="0"/>
                <a:cs typeface="Times New Roman" panose="02020603050405020304" pitchFamily="18" charset="0"/>
              </a:rPr>
              <a:t>ρύτητ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Mouse Capture: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κλείδωμ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κέρσορ</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ριστερό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κλικ</a:t>
            </a:r>
            <a:r>
              <a:rPr dirty="0">
                <a:latin typeface="Times New Roman" panose="02020603050405020304" pitchFamily="18" charset="0"/>
                <a:cs typeface="Times New Roman" panose="02020603050405020304" pitchFamily="18" charset="0"/>
              </a:rPr>
              <a:t> &amp; απ</a:t>
            </a:r>
            <a:r>
              <a:rPr dirty="0" err="1">
                <a:latin typeface="Times New Roman" panose="02020603050405020304" pitchFamily="18" charset="0"/>
                <a:cs typeface="Times New Roman" panose="02020603050405020304" pitchFamily="18" charset="0"/>
              </a:rPr>
              <a:t>ελευθέρωση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Escape.</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Ανεξ</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ρτησί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Διάτ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ξης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Πληκτρολογίου</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Πρό</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λημ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macOS/Windows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ελληνικό</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ληκτρολόγιο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λήκτρο</a:t>
            </a:r>
            <a:r>
              <a:rPr dirty="0">
                <a:latin typeface="Times New Roman" panose="02020603050405020304" pitchFamily="18" charset="0"/>
                <a:cs typeface="Times New Roman" panose="02020603050405020304" pitchFamily="18" charset="0"/>
              </a:rPr>
              <a:t> E πα</a:t>
            </a:r>
            <a:r>
              <a:rPr dirty="0" err="1">
                <a:latin typeface="Times New Roman" panose="02020603050405020304" pitchFamily="18" charset="0"/>
                <a:cs typeface="Times New Roman" panose="02020603050405020304" pitchFamily="18" charset="0"/>
              </a:rPr>
              <a:t>ράγει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φορετικό</a:t>
            </a:r>
            <a:r>
              <a:rPr dirty="0">
                <a:latin typeface="Times New Roman" panose="02020603050405020304" pitchFamily="18" charset="0"/>
                <a:cs typeface="Times New Roman" panose="02020603050405020304" pitchFamily="18" charset="0"/>
              </a:rPr>
              <a:t> keycode.</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Λύση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Έλεγχος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event.physical_keycode</a:t>
            </a:r>
            <a:r>
              <a:rPr dirty="0">
                <a:latin typeface="Times New Roman" panose="02020603050405020304" pitchFamily="18" charset="0"/>
                <a:cs typeface="Times New Roman" panose="02020603050405020304" pitchFamily="18" charset="0"/>
              </a:rPr>
              <a:t> == KEY_E (Physical </a:t>
            </a:r>
            <a:r>
              <a:rPr dirty="0" err="1">
                <a:latin typeface="Times New Roman" panose="02020603050405020304" pitchFamily="18" charset="0"/>
                <a:cs typeface="Times New Roman" panose="02020603050405020304" pitchFamily="18" charset="0"/>
              </a:rPr>
              <a:t>Scancode</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λή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οστήριξη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δυν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τότητ</a:t>
            </a:r>
            <a:r>
              <a:rPr dirty="0">
                <a:latin typeface="Times New Roman" panose="02020603050405020304" pitchFamily="18" charset="0"/>
                <a:cs typeface="Times New Roman" panose="02020603050405020304" pitchFamily="18" charset="0"/>
              </a:rPr>
              <a:t>α α</a:t>
            </a:r>
            <a:r>
              <a:rPr dirty="0" err="1">
                <a:latin typeface="Times New Roman" panose="02020603050405020304" pitchFamily="18" charset="0"/>
                <a:cs typeface="Times New Roman" panose="02020603050405020304" pitchFamily="18" charset="0"/>
              </a:rPr>
              <a:t>λληλε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μέσω</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Αριστερού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Κλικ</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οτέλεσμ</a:t>
            </a:r>
            <a:r>
              <a:rPr dirty="0">
                <a:latin typeface="Times New Roman" panose="02020603050405020304" pitchFamily="18" charset="0"/>
                <a:cs typeface="Times New Roman" panose="02020603050405020304" pitchFamily="18" charset="0"/>
              </a:rPr>
              <a:t>α: 100% α</a:t>
            </a:r>
            <a:r>
              <a:rPr dirty="0" err="1">
                <a:latin typeface="Times New Roman" panose="02020603050405020304" pitchFamily="18" charset="0"/>
                <a:cs typeface="Times New Roman" panose="02020603050405020304" pitchFamily="18" charset="0"/>
              </a:rPr>
              <a:t>ξιό</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ιστος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χειρισμός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νεξ</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ρτήτως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ενεργής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γλώσσ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συστήμ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459328"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ΑΛΛΗΛΕΠΙΔΡΑΣΗ &amp; ΑΙΣΘΗΤΙΚΗ</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5. </a:t>
            </a:r>
            <a:r>
              <a:rPr dirty="0" err="1">
                <a:latin typeface="Times New Roman" panose="02020603050405020304" pitchFamily="18" charset="0"/>
                <a:cs typeface="Times New Roman" panose="02020603050405020304" pitchFamily="18" charset="0"/>
              </a:rPr>
              <a:t>Τρισδιάστ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Χέρι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Πρώτου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Προσώ</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ου</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a:latin typeface="Times New Roman" panose="02020603050405020304" pitchFamily="18" charset="0"/>
                <a:cs typeface="Times New Roman" panose="02020603050405020304" pitchFamily="18" charset="0"/>
              </a:rPr>
              <a:t>Procedural 3D Hand Model &amp; Animation</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Γεωμετρί</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Αν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τομί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Χεριού</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Ανθρώ</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τομί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σκευή</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λάμης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BoxMesh</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5 </a:t>
            </a:r>
            <a:r>
              <a:rPr dirty="0" err="1">
                <a:latin typeface="Times New Roman" panose="02020603050405020304" pitchFamily="18" charset="0"/>
                <a:cs typeface="Times New Roman" panose="02020603050405020304" pitchFamily="18" charset="0"/>
              </a:rPr>
              <a:t>ξεχωριστών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χτύλων</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Αρθρωτός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Αντίχειρ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οθέτηση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λάι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φυσική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κλίση</a:t>
            </a:r>
            <a:r>
              <a:rPr dirty="0">
                <a:latin typeface="Times New Roman" panose="02020603050405020304" pitchFamily="18" charset="0"/>
                <a:cs typeface="Times New Roman" panose="02020603050405020304" pitchFamily="18" charset="0"/>
              </a:rPr>
              <a:t> 35°.</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νίκι</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Δέρμ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Σκούρο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λε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κυλινδρικό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νίκι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ρε</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λιστικό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ροδ</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κινί</a:t>
            </a:r>
            <a:r>
              <a:rPr dirty="0">
                <a:latin typeface="Times New Roman" panose="02020603050405020304" pitchFamily="18" charset="0"/>
                <a:cs typeface="Times New Roman" panose="02020603050405020304" pitchFamily="18" charset="0"/>
              </a:rPr>
              <a:t>/</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εζ</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τόνο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δέρμ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Camera Attachment: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οθετημένο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HandPivot</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Camera3D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φυσική</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Tween Animation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λώμ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Reach Forward: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άτημ</a:t>
            </a:r>
            <a:r>
              <a:rPr dirty="0">
                <a:latin typeface="Times New Roman" panose="02020603050405020304" pitchFamily="18" charset="0"/>
                <a:cs typeface="Times New Roman" panose="02020603050405020304" pitchFamily="18" charset="0"/>
              </a:rPr>
              <a:t>α α</a:t>
            </a:r>
            <a:r>
              <a:rPr dirty="0" err="1">
                <a:latin typeface="Times New Roman" panose="02020603050405020304" pitchFamily="18" charset="0"/>
                <a:cs typeface="Times New Roman" panose="02020603050405020304" pitchFamily="18" charset="0"/>
              </a:rPr>
              <a:t>λληλε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χέρι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κινείτ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ρός</a:t>
            </a:r>
            <a:r>
              <a:rPr dirty="0">
                <a:latin typeface="Times New Roman" panose="02020603050405020304" pitchFamily="18" charset="0"/>
                <a:cs typeface="Times New Roman" panose="02020603050405020304" pitchFamily="18" charset="0"/>
              </a:rPr>
              <a:t> (0.1s).</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Smooth Return: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ιστροφή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στην</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ρχική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θέση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ηρεμί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(0.15s)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Sine easing.</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βα</a:t>
            </a:r>
            <a:r>
              <a:rPr dirty="0" err="1">
                <a:latin typeface="Times New Roman" panose="02020603050405020304" pitchFamily="18" charset="0"/>
                <a:cs typeface="Times New Roman" panose="02020603050405020304" pitchFamily="18" charset="0"/>
              </a:rPr>
              <a:t>ίωση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Άμεση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ικ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οιητική</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ίσθηση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ότι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ίκτης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γγίζει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κόσμο</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904689"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ΣΥΣΤΗΜΑ ΑΝΙΧΝΕΥΣΗΣ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6. </a:t>
            </a:r>
            <a:r>
              <a:rPr dirty="0" err="1">
                <a:latin typeface="Times New Roman" panose="02020603050405020304" pitchFamily="18" charset="0"/>
                <a:cs typeface="Times New Roman" panose="02020603050405020304" pitchFamily="18" charset="0"/>
              </a:rPr>
              <a:t>Ανίχνευση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Αντικειμένων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Δυν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μικό</a:t>
            </a:r>
            <a:r>
              <a:rPr dirty="0">
                <a:latin typeface="Times New Roman" panose="02020603050405020304" pitchFamily="18" charset="0"/>
                <a:cs typeface="Times New Roman" panose="02020603050405020304" pitchFamily="18" charset="0"/>
              </a:rPr>
              <a:t> UI</a:t>
            </a:r>
          </a:p>
          <a:p>
            <a:pPr algn="ctr">
              <a:defRPr sz="1400" i="1">
                <a:solidFill>
                  <a:srgbClr val="4ECDC4"/>
                </a:solidFill>
              </a:defRPr>
            </a:pPr>
            <a:r>
              <a:rPr dirty="0">
                <a:latin typeface="Times New Roman" panose="02020603050405020304" pitchFamily="18" charset="0"/>
                <a:cs typeface="Times New Roman" panose="02020603050405020304" pitchFamily="18" charset="0"/>
              </a:rPr>
              <a:t>RayCast3D, Signals &amp; Adaptive Crosshair</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νισμός</a:t>
            </a:r>
            <a:r>
              <a:rPr dirty="0">
                <a:latin typeface="Times New Roman" panose="02020603050405020304" pitchFamily="18" charset="0"/>
                <a:cs typeface="Times New Roman" panose="02020603050405020304" pitchFamily="18" charset="0"/>
              </a:rPr>
              <a:t> RayCast3D</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Ακτίν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Ανίχνευσης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Μήκους</a:t>
            </a:r>
            <a:r>
              <a:rPr dirty="0">
                <a:latin typeface="Times New Roman" panose="02020603050405020304" pitchFamily="18" charset="0"/>
                <a:cs typeface="Times New Roman" panose="02020603050405020304" pitchFamily="18" charset="0"/>
              </a:rPr>
              <a:t> 3.0 </a:t>
            </a:r>
            <a:r>
              <a:rPr dirty="0" err="1">
                <a:latin typeface="Times New Roman" panose="02020603050405020304" pitchFamily="18" charset="0"/>
                <a:cs typeface="Times New Roman" panose="02020603050405020304" pitchFamily="18" charset="0"/>
              </a:rPr>
              <a:t>μέτρων</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κέντρο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κάμερ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Κλάση</a:t>
            </a:r>
            <a:r>
              <a:rPr dirty="0">
                <a:latin typeface="Times New Roman" panose="02020603050405020304" pitchFamily="18" charset="0"/>
                <a:cs typeface="Times New Roman" panose="02020603050405020304" pitchFamily="18" charset="0"/>
              </a:rPr>
              <a:t> Interactable: </a:t>
            </a:r>
            <a:r>
              <a:rPr dirty="0" err="1">
                <a:latin typeface="Times New Roman" panose="02020603050405020304" pitchFamily="18" charset="0"/>
                <a:cs typeface="Times New Roman" panose="02020603050405020304" pitchFamily="18" charset="0"/>
              </a:rPr>
              <a:t>Β</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κλάση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έκτ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StaticBody3D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σήμ</a:t>
            </a:r>
            <a:r>
              <a:rPr dirty="0">
                <a:latin typeface="Times New Roman" panose="02020603050405020304" pitchFamily="18" charset="0"/>
                <a:cs typeface="Times New Roman" panose="02020603050405020304" pitchFamily="18" charset="0"/>
              </a:rPr>
              <a:t>α interacted(player).</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Έλεγχος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Εγκυρότητ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Ανίχνευση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μεθόδου</a:t>
            </a:r>
            <a:r>
              <a:rPr dirty="0">
                <a:latin typeface="Times New Roman" panose="02020603050405020304" pitchFamily="18" charset="0"/>
                <a:cs typeface="Times New Roman" panose="02020603050405020304" pitchFamily="18" charset="0"/>
              </a:rPr>
              <a:t> interact()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is_interactive</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οσύνδεση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ίκτης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δεν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γνωρίζει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λογική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ντικειμένου</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λώς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λεί</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την</a:t>
            </a:r>
            <a:r>
              <a:rPr dirty="0">
                <a:latin typeface="Times New Roman" panose="02020603050405020304" pitchFamily="18" charset="0"/>
                <a:cs typeface="Times New Roman" panose="02020603050405020304" pitchFamily="18" charset="0"/>
              </a:rPr>
              <a:t> interact().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Δυν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μικό</a:t>
            </a:r>
            <a:r>
              <a:rPr dirty="0">
                <a:latin typeface="Times New Roman" panose="02020603050405020304" pitchFamily="18" charset="0"/>
                <a:cs typeface="Times New Roman" panose="02020603050405020304" pitchFamily="18" charset="0"/>
              </a:rPr>
              <a:t> UI </a:t>
            </a:r>
            <a:r>
              <a:rPr dirty="0" err="1">
                <a:latin typeface="Times New Roman" panose="02020603050405020304" pitchFamily="18" charset="0"/>
                <a:cs typeface="Times New Roman" panose="02020603050405020304" pitchFamily="18" charset="0"/>
              </a:rPr>
              <a:t>Στόχ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στρο</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Ηρεμί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κριτικό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στόχ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στρο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υρού</a:t>
            </a:r>
            <a:r>
              <a:rPr dirty="0">
                <a:latin typeface="Times New Roman" panose="02020603050405020304" pitchFamily="18" charset="0"/>
                <a:cs typeface="Times New Roman" panose="02020603050405020304" pitchFamily="18" charset="0"/>
              </a:rPr>
              <a:t> (+).</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Εστί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εικονίδιο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χεριού</a:t>
            </a: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ότ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σημ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δεύουμε</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ντικείμενο</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Interaction Prompt: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ής</a:t>
            </a:r>
            <a:r>
              <a:rPr dirty="0">
                <a:latin typeface="Times New Roman" panose="02020603050405020304" pitchFamily="18" charset="0"/>
                <a:cs typeface="Times New Roman" panose="02020603050405020304" pitchFamily="18" charset="0"/>
              </a:rPr>
              <a:t> context (π.</a:t>
            </a:r>
            <a:r>
              <a:rPr dirty="0" err="1">
                <a:latin typeface="Times New Roman" panose="02020603050405020304" pitchFamily="18" charset="0"/>
                <a:cs typeface="Times New Roman" panose="02020603050405020304" pitchFamily="18" charset="0"/>
              </a:rPr>
              <a:t>χ</a:t>
            </a:r>
            <a:r>
              <a:rPr dirty="0">
                <a:latin typeface="Times New Roman" panose="02020603050405020304" pitchFamily="18" charset="0"/>
                <a:cs typeface="Times New Roman" panose="02020603050405020304" pitchFamily="18" charset="0"/>
              </a:rPr>
              <a:t>. '[E] Pull Book', '[E] Rotate Piece').</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ρότητ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όκρυψη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ότ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ίκτης</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κρύνετ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042273"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1ΟΣ ΓΡΙΦΟΣ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7. 1ος </a:t>
            </a:r>
            <a:r>
              <a:rPr dirty="0" err="1">
                <a:latin typeface="Times New Roman" panose="02020603050405020304" pitchFamily="18" charset="0"/>
                <a:cs typeface="Times New Roman" panose="02020603050405020304" pitchFamily="18" charset="0"/>
              </a:rPr>
              <a:t>Γρίφος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Μυστικό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λιοστάσιο</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Αλληλουχί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νομοιότυ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λίων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τροφοδότηση</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5852160" cy="224028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λιοθήκης</a:t>
            </a:r>
            <a:endParaRPr dirty="0">
              <a:latin typeface="Times New Roman" panose="02020603050405020304" pitchFamily="18" charset="0"/>
              <a:cs typeface="Times New Roman" panose="02020603050405020304" pitchFamily="18" charset="0"/>
            </a:endParaRP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νομοιότυ</a:t>
            </a:r>
            <a:r>
              <a:rPr dirty="0">
                <a:latin typeface="Times New Roman" panose="02020603050405020304" pitchFamily="18" charset="0"/>
                <a:cs typeface="Times New Roman" panose="02020603050405020304" pitchFamily="18" charset="0"/>
              </a:rPr>
              <a:t>πα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Ενι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λ</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ιωμένου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φέ</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δέρμ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(Antique Brown Leather).</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Κοινή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Όλ</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εμφ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νίζουν</a:t>
            </a:r>
            <a:r>
              <a:rPr dirty="0">
                <a:latin typeface="Times New Roman" panose="02020603050405020304" pitchFamily="18" charset="0"/>
                <a:cs typeface="Times New Roman" panose="02020603050405020304" pitchFamily="18" charset="0"/>
              </a:rPr>
              <a:t> [E] Pull Book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μην</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ροδίδουν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λύση</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Σωστή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Σειρά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Ενεργο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Αριστερό</a:t>
            </a:r>
            <a:r>
              <a:rPr dirty="0">
                <a:latin typeface="Times New Roman" panose="02020603050405020304" pitchFamily="18" charset="0"/>
                <a:cs typeface="Times New Roman" panose="02020603050405020304" pitchFamily="18" charset="0"/>
              </a:rPr>
              <a:t> (1) ➔ </a:t>
            </a:r>
            <a:r>
              <a:rPr dirty="0" err="1">
                <a:latin typeface="Times New Roman" panose="02020603050405020304" pitchFamily="18" charset="0"/>
                <a:cs typeface="Times New Roman" panose="02020603050405020304" pitchFamily="18" charset="0"/>
              </a:rPr>
              <a:t>Δεξί</a:t>
            </a:r>
            <a:r>
              <a:rPr dirty="0">
                <a:latin typeface="Times New Roman" panose="02020603050405020304" pitchFamily="18" charset="0"/>
                <a:cs typeface="Times New Roman" panose="02020603050405020304" pitchFamily="18" charset="0"/>
              </a:rPr>
              <a:t> (3) ➔ </a:t>
            </a:r>
            <a:r>
              <a:rPr dirty="0" err="1">
                <a:latin typeface="Times New Roman" panose="02020603050405020304" pitchFamily="18" charset="0"/>
                <a:cs typeface="Times New Roman" panose="02020603050405020304" pitchFamily="18" charset="0"/>
              </a:rPr>
              <a:t>Μεσ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ίο</a:t>
            </a:r>
            <a:r>
              <a:rPr dirty="0">
                <a:latin typeface="Times New Roman" panose="02020603050405020304" pitchFamily="18" charset="0"/>
                <a:cs typeface="Times New Roman" panose="02020603050405020304" pitchFamily="18" charset="0"/>
              </a:rPr>
              <a:t> (2).</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Κλίση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ιλεγμένο</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λίο</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εριστρέφετ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λά</a:t>
            </a:r>
            <a:r>
              <a:rPr dirty="0">
                <a:latin typeface="Times New Roman" panose="02020603050405020304" pitchFamily="18" charset="0"/>
                <a:cs typeface="Times New Roman" panose="02020603050405020304" pitchFamily="18" charset="0"/>
              </a:rPr>
              <a:t> (Tween) π</a:t>
            </a:r>
            <a:r>
              <a:rPr dirty="0" err="1">
                <a:latin typeface="Times New Roman" panose="02020603050405020304" pitchFamily="18" charset="0"/>
                <a:cs typeface="Times New Roman" panose="02020603050405020304" pitchFamily="18" charset="0"/>
              </a:rPr>
              <a:t>ρος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έξω</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731520" y="4069080"/>
            <a:ext cx="5852160" cy="228600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Φωτεινοί</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Κρύστ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λλοι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Ένδειξης</a:t>
            </a:r>
            <a:endParaRPr dirty="0">
              <a:latin typeface="Times New Roman" panose="02020603050405020304" pitchFamily="18" charset="0"/>
              <a:cs typeface="Times New Roman" panose="02020603050405020304" pitchFamily="18" charset="0"/>
            </a:endParaRP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Ενσωμ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τωμένοι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Κρύστ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λλοι</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άνω</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Emission shaders.</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Σωστό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Βήμ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ντίστοιχος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κρύστ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λλος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μόνιμ</a:t>
            </a:r>
            <a:r>
              <a:rPr dirty="0">
                <a:latin typeface="Times New Roman" panose="02020603050405020304" pitchFamily="18" charset="0"/>
                <a:cs typeface="Times New Roman" panose="02020603050405020304" pitchFamily="18" charset="0"/>
              </a:rPr>
              <a:t>α π</a:t>
            </a:r>
            <a:r>
              <a:rPr dirty="0" err="1">
                <a:latin typeface="Times New Roman" panose="02020603050405020304" pitchFamily="18" charset="0"/>
                <a:cs typeface="Times New Roman" panose="02020603050405020304" pitchFamily="18" charset="0"/>
              </a:rPr>
              <a:t>ράσινος</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Λάθος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Βήμ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Όλοι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κρύστ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λλοι</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αβ</a:t>
            </a:r>
            <a:r>
              <a:rPr dirty="0" err="1">
                <a:latin typeface="Times New Roman" panose="02020603050405020304" pitchFamily="18" charset="0"/>
                <a:cs typeface="Times New Roman" panose="02020603050405020304" pitchFamily="18" charset="0"/>
              </a:rPr>
              <a:t>οσ</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ήνουν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κόκκινοι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σειρά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μηδενίζετ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2ου </a:t>
            </a:r>
            <a:r>
              <a:rPr dirty="0" err="1">
                <a:latin typeface="Times New Roman" panose="02020603050405020304" pitchFamily="18" charset="0"/>
                <a:cs typeface="Times New Roman" panose="02020603050405020304" pitchFamily="18" charset="0"/>
              </a:rPr>
              <a:t>γρίφου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a:t>
            </a:r>
          </a:p>
        </p:txBody>
      </p:sp>
      <p:pic>
        <p:nvPicPr>
          <p:cNvPr id="8" name="Picture 7" descr="image2.png"/>
          <p:cNvPicPr>
            <a:picLocks noChangeAspect="1"/>
          </p:cNvPicPr>
          <p:nvPr/>
        </p:nvPicPr>
        <p:blipFill>
          <a:blip r:embed="rId3"/>
          <a:stretch>
            <a:fillRect/>
          </a:stretch>
        </p:blipFill>
        <p:spPr>
          <a:xfrm>
            <a:off x="6858000" y="1691640"/>
            <a:ext cx="4572000" cy="4023360"/>
          </a:xfrm>
          <a:prstGeom prst="rect">
            <a:avLst/>
          </a:prstGeom>
        </p:spPr>
      </p:pic>
      <p:sp>
        <p:nvSpPr>
          <p:cNvPr id="9" name="TextBox 8"/>
          <p:cNvSpPr txBox="1"/>
          <p:nvPr/>
        </p:nvSpPr>
        <p:spPr>
          <a:xfrm>
            <a:off x="6858000" y="5779008"/>
            <a:ext cx="4572000" cy="502920"/>
          </a:xfrm>
          <a:prstGeom prst="rect">
            <a:avLst/>
          </a:prstGeom>
          <a:noFill/>
        </p:spPr>
        <p:txBody>
          <a:bodyPr wrap="square">
            <a:spAutoFit/>
          </a:bodyPr>
          <a:lstStyle/>
          <a:p>
            <a:pPr algn="ctr">
              <a:defRPr sz="1100">
                <a:solidFill>
                  <a:srgbClr val="D4AF37"/>
                </a:solidFill>
              </a:defRPr>
            </a:pPr>
            <a:r>
              <a:t>📷 In-Game: Οι 3 κρύσταλλοι &amp; τα μυστικά βιβλία</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042273"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2ΟΣ ΓΡΙΦΟΣ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8. 2ος </a:t>
            </a:r>
            <a:r>
              <a:rPr dirty="0" err="1">
                <a:latin typeface="Times New Roman" panose="02020603050405020304" pitchFamily="18" charset="0"/>
                <a:cs typeface="Times New Roman" panose="02020603050405020304" pitchFamily="18" charset="0"/>
              </a:rPr>
              <a:t>Γρίφος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Γεωμετρικό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ζλ</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Τριγώνου</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Έξυ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νος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Αλγόριθμος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θέσεων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Συμμετρί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180°</a:t>
            </a:r>
          </a:p>
        </p:txBody>
      </p:sp>
      <p:sp>
        <p:nvSpPr>
          <p:cNvPr id="6" name="Rounded Rectangle 5"/>
          <p:cNvSpPr/>
          <p:nvPr/>
        </p:nvSpPr>
        <p:spPr>
          <a:xfrm>
            <a:off x="731520" y="1691640"/>
            <a:ext cx="5852160" cy="224028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Χρυσές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δοι</a:t>
            </a:r>
            <a:endParaRPr dirty="0">
              <a:latin typeface="Times New Roman" panose="02020603050405020304" pitchFamily="18" charset="0"/>
              <a:cs typeface="Times New Roman" panose="02020603050405020304" pitchFamily="18" charset="0"/>
            </a:endParaRP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ζλ</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Εμφ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νίζοντ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χρυσές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ρούτζινες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ξύλινο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Τυχ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Αρχικές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Γωνίες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ξεκινούν</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τεμένες</a:t>
            </a:r>
            <a:r>
              <a:rPr dirty="0">
                <a:latin typeface="Times New Roman" panose="02020603050405020304" pitchFamily="18" charset="0"/>
                <a:cs typeface="Times New Roman" panose="02020603050405020304" pitchFamily="18" charset="0"/>
              </a:rPr>
              <a:t> (120°, 0°, 60°).</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Περιστροφή</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νά</a:t>
            </a:r>
            <a:r>
              <a:rPr dirty="0">
                <a:latin typeface="Times New Roman" panose="02020603050405020304" pitchFamily="18" charset="0"/>
                <a:cs typeface="Times New Roman" panose="02020603050405020304" pitchFamily="18" charset="0"/>
              </a:rPr>
              <a:t> 60°: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λληλε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εριστρέφει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a:t>
            </a:r>
            <a:r>
              <a:rPr dirty="0">
                <a:latin typeface="Times New Roman" panose="02020603050405020304" pitchFamily="18" charset="0"/>
                <a:cs typeface="Times New Roman" panose="02020603050405020304" pitchFamily="18" charset="0"/>
              </a:rPr>
              <a:t> flat π</a:t>
            </a:r>
            <a:r>
              <a:rPr dirty="0" err="1">
                <a:latin typeface="Times New Roman" panose="02020603050405020304" pitchFamily="18" charset="0"/>
                <a:cs typeface="Times New Roman" panose="02020603050405020304" pitchFamily="18" charset="0"/>
              </a:rPr>
              <a:t>άνω</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Στόχος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Ευθυγράμμιση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ώστε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σχημ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τίσουν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έν</a:t>
            </a:r>
            <a:r>
              <a:rPr dirty="0">
                <a:latin typeface="Times New Roman" panose="02020603050405020304" pitchFamily="18" charset="0"/>
                <a:cs typeface="Times New Roman" panose="02020603050405020304" pitchFamily="18" charset="0"/>
              </a:rPr>
              <a:t>α π</a:t>
            </a:r>
            <a:r>
              <a:rPr dirty="0" err="1">
                <a:latin typeface="Times New Roman" panose="02020603050405020304" pitchFamily="18" charset="0"/>
                <a:cs typeface="Times New Roman" panose="02020603050405020304" pitchFamily="18" charset="0"/>
              </a:rPr>
              <a:t>λήρες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τρίγωνο</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731520" y="4069080"/>
            <a:ext cx="5852160" cy="228600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Αλγόριθμος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check_triangle_puzzle</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ξινόμηση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Τύ</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ους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Οριζόντι</a:t>
            </a:r>
            <a:r>
              <a:rPr dirty="0">
                <a:latin typeface="Times New Roman" panose="02020603050405020304" pitchFamily="18" charset="0"/>
                <a:cs typeface="Times New Roman" panose="02020603050405020304" pitchFamily="18" charset="0"/>
              </a:rPr>
              <a:t>α (0°/180°), Slash / (60°/240°), Backslash \ (120°/300°).</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οστήριξη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Συμμετρί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ειδή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είν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ορθογώνιες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180° </a:t>
            </a:r>
            <a:r>
              <a:rPr dirty="0" err="1">
                <a:latin typeface="Times New Roman" panose="02020603050405020304" pitchFamily="18" charset="0"/>
                <a:cs typeface="Times New Roman" panose="02020603050405020304" pitchFamily="18" charset="0"/>
              </a:rPr>
              <a:t>μοιάζουν</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νομοιότυ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ες</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Έλεγχος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θέσεων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ζλ</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λύνετ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άρχει</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κρι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ώς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δος</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τύ</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(types == [0,1,2]).</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οτέλεσμ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Δέχετ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οιονδή</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οτε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σωστό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σχημ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τισμό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τριγώνου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χωρίς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εκνευρισμό</a:t>
            </a:r>
            <a:r>
              <a:rPr dirty="0">
                <a:latin typeface="Times New Roman" panose="02020603050405020304" pitchFamily="18" charset="0"/>
                <a:cs typeface="Times New Roman" panose="02020603050405020304" pitchFamily="18" charset="0"/>
              </a:rPr>
              <a:t>.</a:t>
            </a:r>
          </a:p>
        </p:txBody>
      </p:sp>
      <p:pic>
        <p:nvPicPr>
          <p:cNvPr id="8" name="Picture 7" descr="image3.png"/>
          <p:cNvPicPr>
            <a:picLocks noChangeAspect="1"/>
          </p:cNvPicPr>
          <p:nvPr/>
        </p:nvPicPr>
        <p:blipFill>
          <a:blip r:embed="rId3"/>
          <a:stretch>
            <a:fillRect/>
          </a:stretch>
        </p:blipFill>
        <p:spPr>
          <a:xfrm>
            <a:off x="6858000" y="1691640"/>
            <a:ext cx="4572000" cy="4023360"/>
          </a:xfrm>
          <a:prstGeom prst="rect">
            <a:avLst/>
          </a:prstGeom>
        </p:spPr>
      </p:pic>
      <p:sp>
        <p:nvSpPr>
          <p:cNvPr id="9" name="TextBox 8"/>
          <p:cNvSpPr txBox="1"/>
          <p:nvPr/>
        </p:nvSpPr>
        <p:spPr>
          <a:xfrm>
            <a:off x="6858000" y="5779008"/>
            <a:ext cx="4572000" cy="502920"/>
          </a:xfrm>
          <a:prstGeom prst="rect">
            <a:avLst/>
          </a:prstGeom>
          <a:noFill/>
        </p:spPr>
        <p:txBody>
          <a:bodyPr wrap="square">
            <a:spAutoFit/>
          </a:bodyPr>
          <a:lstStyle/>
          <a:p>
            <a:pPr algn="ctr">
              <a:defRPr sz="1100">
                <a:solidFill>
                  <a:srgbClr val="D4AF37"/>
                </a:solidFill>
              </a:defRPr>
            </a:pPr>
            <a:r>
              <a:t>📷 In-Game: Το γεωμετρικό παζλ τριγώνου στο τραπέζι</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210862"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ΟΛΟΚΛΗΡΩΣΗ &amp; ΑΠΟΔΡΑΣΗ</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9.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Εξόδου</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τισμός</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Ξεκλείδωμ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Μυστικής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Πόρτ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&amp; Victory Screen</a:t>
            </a:r>
          </a:p>
        </p:txBody>
      </p:sp>
      <p:sp>
        <p:nvSpPr>
          <p:cNvPr id="6" name="Rounded Rectangle 5"/>
          <p:cNvSpPr/>
          <p:nvPr/>
        </p:nvSpPr>
        <p:spPr>
          <a:xfrm>
            <a:off x="731520" y="1691640"/>
            <a:ext cx="5852160" cy="224028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Μυστικό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Οικόσημο</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Πόρτ</a:t>
            </a:r>
            <a:r>
              <a:rPr dirty="0">
                <a:latin typeface="Times New Roman" panose="02020603050405020304" pitchFamily="18" charset="0"/>
                <a:cs typeface="Times New Roman" panose="02020603050405020304" pitchFamily="18" charset="0"/>
              </a:rPr>
              <a:t>α</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Ξεκλείδωμ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Μετά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τριγώνου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χρυσό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οικόσημο</a:t>
            </a:r>
            <a:r>
              <a:rPr dirty="0">
                <a:latin typeface="Times New Roman" panose="02020603050405020304" pitchFamily="18" charset="0"/>
                <a:cs typeface="Times New Roman" panose="02020603050405020304" pitchFamily="18" charset="0"/>
              </a:rPr>
              <a:t> (Secret Crest) </a:t>
            </a:r>
            <a:r>
              <a:rPr dirty="0" err="1">
                <a:latin typeface="Times New Roman" panose="02020603050405020304" pitchFamily="18" charset="0"/>
                <a:cs typeface="Times New Roman" panose="02020603050405020304" pitchFamily="18" charset="0"/>
              </a:rPr>
              <a:t>γίνετ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ράσινο</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Αλλάζει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[E] Turn Secret Crest.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Door Pivot Tween: </a:t>
            </a:r>
            <a:r>
              <a:rPr dirty="0" err="1">
                <a:latin typeface="Times New Roman" panose="02020603050405020304" pitchFamily="18" charset="0"/>
                <a:cs typeface="Times New Roman" panose="02020603050405020304" pitchFamily="18" charset="0"/>
              </a:rPr>
              <a:t>Η</a:t>
            </a:r>
            <a:r>
              <a:rPr dirty="0">
                <a:latin typeface="Times New Roman" panose="02020603050405020304" pitchFamily="18" charset="0"/>
                <a:cs typeface="Times New Roman" panose="02020603050405020304" pitchFamily="18" charset="0"/>
              </a:rPr>
              <a:t> βα</a:t>
            </a:r>
            <a:r>
              <a:rPr dirty="0" err="1">
                <a:latin typeface="Times New Roman" panose="02020603050405020304" pitchFamily="18" charset="0"/>
                <a:cs typeface="Times New Roman" panose="02020603050405020304" pitchFamily="18" charset="0"/>
              </a:rPr>
              <a:t>ριά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ξύλινη</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όρτ</a:t>
            </a:r>
            <a:r>
              <a:rPr dirty="0">
                <a:latin typeface="Times New Roman" panose="02020603050405020304" pitchFamily="18" charset="0"/>
                <a:cs typeface="Times New Roman" panose="02020603050405020304" pitchFamily="18" charset="0"/>
              </a:rPr>
              <a:t>α π</a:t>
            </a:r>
            <a:r>
              <a:rPr dirty="0" err="1">
                <a:latin typeface="Times New Roman" panose="02020603050405020304" pitchFamily="18" charset="0"/>
                <a:cs typeface="Times New Roman" panose="02020603050405020304" pitchFamily="18" charset="0"/>
              </a:rPr>
              <a:t>εριστρέφετ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90° </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1.5 </a:t>
            </a:r>
            <a:r>
              <a:rPr dirty="0" err="1">
                <a:latin typeface="Times New Roman" panose="02020603050405020304" pitchFamily="18" charset="0"/>
                <a:cs typeface="Times New Roman" panose="02020603050405020304" pitchFamily="18" charset="0"/>
              </a:rPr>
              <a:t>δευτερόλε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οκάλυψη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λύ</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φωτεινό</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έρ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φυγής</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731520" y="4069080"/>
            <a:ext cx="5852160" cy="228600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Οθόνη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Νίκης</a:t>
            </a:r>
            <a:r>
              <a:rPr dirty="0">
                <a:latin typeface="Times New Roman" panose="02020603050405020304" pitchFamily="18" charset="0"/>
                <a:cs typeface="Times New Roman" panose="02020603050405020304" pitchFamily="18" charset="0"/>
              </a:rPr>
              <a:t> &amp; Auto-Quit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Area3D Trigger: </a:t>
            </a:r>
            <a:r>
              <a:rPr dirty="0" err="1">
                <a:latin typeface="Times New Roman" panose="02020603050405020304" pitchFamily="18" charset="0"/>
                <a:cs typeface="Times New Roman" panose="02020603050405020304" pitchFamily="18" charset="0"/>
              </a:rPr>
              <a:t>Ανίχνευση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διέλευσης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ίκτη</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τώφλι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εξόδου</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Victory </a:t>
            </a:r>
            <a:r>
              <a:rPr dirty="0" err="1">
                <a:latin typeface="Times New Roman" panose="02020603050405020304" pitchFamily="18" charset="0"/>
                <a:cs typeface="Times New Roman" panose="02020603050405020304" pitchFamily="18" charset="0"/>
              </a:rPr>
              <a:t>CanvasLayer</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οθόνης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μήνυμ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Συγχ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ρητήρι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έδρ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σες</a:t>
            </a:r>
            <a:r>
              <a:rPr dirty="0">
                <a:latin typeface="Times New Roman" panose="02020603050405020304" pitchFamily="18" charset="0"/>
                <a:cs typeface="Times New Roman" panose="02020603050405020304" pitchFamily="18" charset="0"/>
              </a:rPr>
              <a: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Αντίστροφη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μέτρηση</a:t>
            </a: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δευτερολέ</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κλήση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get_tree</a:t>
            </a:r>
            <a:r>
              <a:rPr dirty="0">
                <a:latin typeface="Times New Roman" panose="02020603050405020304" pitchFamily="18" charset="0"/>
                <a:cs typeface="Times New Roman" panose="02020603050405020304" pitchFamily="18" charset="0"/>
              </a:rPr>
              <a:t>().quit().</a:t>
            </a:r>
          </a:p>
          <a:p>
            <a:pPr algn="just">
              <a:spcAft>
                <a:spcPts val="9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Κλείσιμο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γγελμ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κύκλος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ζωής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ρμογής</a:t>
            </a:r>
            <a:r>
              <a:rPr dirty="0">
                <a:latin typeface="Times New Roman" panose="02020603050405020304" pitchFamily="18" charset="0"/>
                <a:cs typeface="Times New Roman" panose="02020603050405020304" pitchFamily="18" charset="0"/>
              </a:rPr>
              <a:t>.</a:t>
            </a:r>
          </a:p>
        </p:txBody>
      </p:sp>
      <p:pic>
        <p:nvPicPr>
          <p:cNvPr id="8" name="Picture 7" descr="image4.png"/>
          <p:cNvPicPr>
            <a:picLocks noChangeAspect="1"/>
          </p:cNvPicPr>
          <p:nvPr/>
        </p:nvPicPr>
        <p:blipFill>
          <a:blip r:embed="rId3"/>
          <a:stretch>
            <a:fillRect/>
          </a:stretch>
        </p:blipFill>
        <p:spPr>
          <a:xfrm>
            <a:off x="6858000" y="1691640"/>
            <a:ext cx="4572000" cy="4023360"/>
          </a:xfrm>
          <a:prstGeom prst="rect">
            <a:avLst/>
          </a:prstGeom>
        </p:spPr>
      </p:pic>
      <p:sp>
        <p:nvSpPr>
          <p:cNvPr id="9" name="TextBox 8"/>
          <p:cNvSpPr txBox="1"/>
          <p:nvPr/>
        </p:nvSpPr>
        <p:spPr>
          <a:xfrm>
            <a:off x="6858000" y="5779008"/>
            <a:ext cx="4572000" cy="502920"/>
          </a:xfrm>
          <a:prstGeom prst="rect">
            <a:avLst/>
          </a:prstGeom>
          <a:noFill/>
        </p:spPr>
        <p:txBody>
          <a:bodyPr wrap="square">
            <a:spAutoFit/>
          </a:bodyPr>
          <a:lstStyle/>
          <a:p>
            <a:pPr algn="ctr">
              <a:defRPr sz="1100">
                <a:solidFill>
                  <a:srgbClr val="D4AF37"/>
                </a:solidFill>
              </a:defRPr>
            </a:pPr>
            <a:r>
              <a:t>📷 In-Game: Το ξεκλείδωμα θυρεού &amp; η μυστική πόρτα</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503938"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ΒΕΛΤΙΣΤΟΠΟΙΗΣΗ</a:t>
            </a:r>
          </a:p>
        </p:txBody>
      </p:sp>
      <p:sp>
        <p:nvSpPr>
          <p:cNvPr id="5" name="TextBox 4"/>
          <p:cNvSpPr txBox="1"/>
          <p:nvPr/>
        </p:nvSpPr>
        <p:spPr>
          <a:xfrm>
            <a:off x="731520" y="58165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10. </a:t>
            </a:r>
            <a:r>
              <a:rPr dirty="0" err="1">
                <a:latin typeface="Times New Roman" panose="02020603050405020304" pitchFamily="18" charset="0"/>
                <a:cs typeface="Times New Roman" panose="02020603050405020304" pitchFamily="18" charset="0"/>
              </a:rPr>
              <a:t>Τεχνικές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Βελτιστο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οίησης</a:t>
            </a:r>
            <a:r>
              <a:rPr dirty="0">
                <a:latin typeface="Times New Roman" panose="02020603050405020304" pitchFamily="18" charset="0"/>
                <a:cs typeface="Times New Roman" panose="02020603050405020304" pitchFamily="18" charset="0"/>
              </a:rPr>
              <a:t> (Optimization)</a:t>
            </a: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Ανάλυση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Τεχνικών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Βελτιστο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σύμφων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τις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ιτήσεις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700" b="1">
                <a:solidFill>
                  <a:srgbClr val="D4AF37"/>
                </a:solidFill>
              </a:defRPr>
            </a:pPr>
            <a:r>
              <a:t>📦 Asset &amp; Geometry</a:t>
            </a:r>
          </a:p>
          <a:p>
            <a:pPr>
              <a:defRPr sz="1500"/>
            </a:pPr>
            <a:r>
              <a:t>Procedural Primitives</a:t>
            </a:r>
          </a:p>
          <a:p>
            <a:pPr>
              <a:defRPr sz="1300"/>
            </a:pPr>
            <a:r>
              <a:t>• Μηδενικό μέγεθος εξωτερικών 3D αρχείων (.obj/.gltf)</a:t>
            </a:r>
          </a:p>
          <a:p>
            <a:pPr>
              <a:defRPr sz="1300"/>
            </a:pPr>
            <a:r>
              <a:t>• Χρήση native Box/Cylinder/Sphere meshes (20.892 τρίγωνα)</a:t>
            </a:r>
          </a:p>
          <a:p>
            <a:pPr>
              <a:defRPr sz="1300"/>
            </a:pPr>
            <a:r>
              <a:t>• Άμεση φόρτωση στη VRAM χωρίς I/O stalls</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700" b="1">
                <a:solidFill>
                  <a:srgbClr val="4ECDC4"/>
                </a:solidFill>
              </a:defRPr>
            </a:pPr>
            <a:r>
              <a:t>🎨 Rendering &amp; Draw Calls</a:t>
            </a:r>
          </a:p>
          <a:p>
            <a:pPr>
              <a:defRPr sz="1500"/>
            </a:pPr>
            <a:r>
              <a:t>Material Sharing &amp; State Optimization</a:t>
            </a:r>
          </a:p>
          <a:p>
            <a:pPr>
              <a:defRPr sz="1300"/>
            </a:pPr>
            <a:r>
              <a:t>• Επαναχρησιμοποίηση StandardMaterial3D (κοινό ξύλο/μέταλλο)</a:t>
            </a:r>
          </a:p>
          <a:p>
            <a:pPr>
              <a:defRPr sz="1300"/>
            </a:pPr>
            <a:r>
              <a:t>• 68 Draw Calls, 89 Αντικείμενα (-55% έναντι naive 150 DC)</a:t>
            </a:r>
          </a:p>
          <a:p>
            <a:pPr>
              <a:defRPr sz="1300"/>
            </a:pPr>
            <a:r>
              <a:t>• 108.5 FPS avg (χωρίς V-Sync) / 60 FPS (V-Sync)</a:t>
            </a:r>
          </a:p>
        </p:txBody>
      </p:sp>
      <p:sp>
        <p:nvSpPr>
          <p:cNvPr id="8" name="Rounded Rectangle 7"/>
          <p:cNvSpPr/>
          <p:nvPr/>
        </p:nvSpPr>
        <p:spPr>
          <a:xfrm>
            <a:off x="8083296" y="169164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FFFFFF"/>
                </a:solidFill>
              </a:defRPr>
            </a:pPr>
            <a:r>
              <a:rPr dirty="0">
                <a:latin typeface="Times New Roman" panose="02020603050405020304" pitchFamily="18" charset="0"/>
                <a:cs typeface="Times New Roman" panose="02020603050405020304" pitchFamily="18" charset="0"/>
              </a:rPr>
              <a:t>⚡ Logic &amp; Physics</a:t>
            </a:r>
          </a:p>
          <a:p>
            <a:pPr>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Signals &amp; Jolt Physics</a:t>
            </a:r>
          </a:p>
          <a:p>
            <a:pPr algn="r">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Jolt Physics: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χύτ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collision detection</a:t>
            </a:r>
          </a:p>
          <a:p>
            <a:pPr algn="r">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Ασύγχρονη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ικοινωνί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μηδενικό</a:t>
            </a:r>
            <a:r>
              <a:rPr dirty="0">
                <a:latin typeface="Times New Roman" panose="02020603050405020304" pitchFamily="18" charset="0"/>
                <a:cs typeface="Times New Roman" panose="02020603050405020304" pitchFamily="18" charset="0"/>
              </a:rPr>
              <a:t> polling loop)</a:t>
            </a:r>
          </a:p>
          <a:p>
            <a:pPr algn="r">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χείριση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μνήμης</a:t>
            </a:r>
            <a:r>
              <a:rPr dirty="0">
                <a:latin typeface="Times New Roman" panose="02020603050405020304" pitchFamily="18" charset="0"/>
                <a:cs typeface="Times New Roman" panose="02020603050405020304" pitchFamily="18" charset="0"/>
              </a:rPr>
              <a:t> &amp; Tweens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983235"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ΚΡΙΤΗΡΙΑ ΑΞΙΟΛΟΓΗΣΗΣ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11. </a:t>
            </a:r>
            <a:r>
              <a:rPr dirty="0" err="1">
                <a:latin typeface="Times New Roman" panose="02020603050405020304" pitchFamily="18" charset="0"/>
                <a:cs typeface="Times New Roman" panose="02020603050405020304" pitchFamily="18" charset="0"/>
              </a:rPr>
              <a:t>Αντ</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όκριση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Κριτήρι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Αξιολόγησης</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Κάλυψη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ιτήσεων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Εκφώνησης</a:t>
            </a:r>
            <a:r>
              <a:rPr dirty="0">
                <a:latin typeface="Times New Roman" panose="02020603050405020304" pitchFamily="18" charset="0"/>
                <a:cs typeface="Times New Roman" panose="02020603050405020304" pitchFamily="18" charset="0"/>
              </a:rPr>
              <a:t> (ΠΑ.ΠΕΙ.)</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Κριτήρι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Σχεδί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Υλο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Στοιχεί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ενσωμάτωση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τεχνικών</a:t>
            </a:r>
            <a:r>
              <a:rPr dirty="0">
                <a:latin typeface="Times New Roman" panose="02020603050405020304" pitchFamily="18" charset="0"/>
                <a:cs typeface="Times New Roman" panose="02020603050405020304" pitchFamily="18" charset="0"/>
              </a:rPr>
              <a:t> 3D VR/Game development.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Αληθοφάνει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Συνε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τμόσφ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ιρ</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μυστικής</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ρε</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λιστικά</a:t>
            </a:r>
            <a:r>
              <a:rPr dirty="0">
                <a:latin typeface="Times New Roman" panose="02020603050405020304" pitchFamily="18" charset="0"/>
                <a:cs typeface="Times New Roman" panose="02020603050405020304" pitchFamily="18" charset="0"/>
              </a:rPr>
              <a:t> PBR </a:t>
            </a:r>
            <a:r>
              <a:rPr dirty="0" err="1">
                <a:latin typeface="Times New Roman" panose="02020603050405020304" pitchFamily="18" charset="0"/>
                <a:cs typeface="Times New Roman" panose="02020603050405020304" pitchFamily="18" charset="0"/>
              </a:rPr>
              <a:t>υλικά</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Πληρότητ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Κλειστός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ολοκληρωμένος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κύκλος</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ιχνιδιού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χωρίς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συνέχειες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Αισθητική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Ευ</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ρουσί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ερι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άλλον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κριτικός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PBR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κλάσεις</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Λειτουργικά</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Τεχνικά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Κριτήρι</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Κίνηση</a:t>
            </a:r>
            <a:r>
              <a:rPr dirty="0">
                <a:latin typeface="Times New Roman" panose="02020603050405020304" pitchFamily="18" charset="0"/>
                <a:cs typeface="Times New Roman" panose="02020603050405020304" pitchFamily="18" charset="0"/>
              </a:rPr>
              <a:t> (Animation): </a:t>
            </a:r>
            <a:r>
              <a:rPr dirty="0" err="1">
                <a:latin typeface="Times New Roman" panose="02020603050405020304" pitchFamily="18" charset="0"/>
                <a:cs typeface="Times New Roman" panose="02020603050405020304" pitchFamily="18" charset="0"/>
              </a:rPr>
              <a:t>Πλούσι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χρήση</a:t>
            </a:r>
            <a:r>
              <a:rPr dirty="0">
                <a:latin typeface="Times New Roman" panose="02020603050405020304" pitchFamily="18" charset="0"/>
                <a:cs typeface="Times New Roman" panose="02020603050405020304" pitchFamily="18" charset="0"/>
              </a:rPr>
              <a:t> Tweens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όρτες</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δους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3D </a:t>
            </a:r>
            <a:r>
              <a:rPr dirty="0" err="1">
                <a:latin typeface="Times New Roman" panose="02020603050405020304" pitchFamily="18" charset="0"/>
                <a:cs typeface="Times New Roman" panose="02020603050405020304" pitchFamily="18" charset="0"/>
              </a:rPr>
              <a:t>χέρι</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Λειτουργικότητ</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Χρηστικότητ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ισθητικός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χειρισμός</a:t>
            </a:r>
            <a:r>
              <a:rPr dirty="0">
                <a:latin typeface="Times New Roman" panose="02020603050405020304" pitchFamily="18" charset="0"/>
                <a:cs typeface="Times New Roman" panose="02020603050405020304" pitchFamily="18" charset="0"/>
              </a:rPr>
              <a:t>, adaptive crosshair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φείς</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ές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Δομή</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Λογική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Γρίφων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Δύο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δοχικά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στάδι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ροηγμένη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θημ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λήθευση</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Ποιότητ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ρός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λυτικά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σχολι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σμένος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GDScript</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638590"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ΚΩΔΙΚΑΣ &amp; SCRIPTS</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12. </a:t>
            </a:r>
            <a:r>
              <a:rPr dirty="0" err="1">
                <a:latin typeface="Times New Roman" panose="02020603050405020304" pitchFamily="18" charset="0"/>
                <a:cs typeface="Times New Roman" panose="02020603050405020304" pitchFamily="18" charset="0"/>
              </a:rPr>
              <a:t>Ανάλυση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GDScript</a:t>
            </a:r>
            <a:r>
              <a:rPr dirty="0">
                <a:latin typeface="Times New Roman" panose="02020603050405020304" pitchFamily="18" charset="0"/>
                <a:cs typeface="Times New Roman" panose="02020603050405020304" pitchFamily="18" charset="0"/>
              </a:rPr>
              <a:t> Scripts</a:t>
            </a: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Αρχιτεκτονική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χωρισμός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Λειτουργιών</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player.gd</a:t>
            </a:r>
            <a:endParaRPr dirty="0">
              <a:latin typeface="Times New Roman" panose="02020603050405020304" pitchFamily="18" charset="0"/>
              <a:cs typeface="Times New Roman" panose="02020603050405020304" pitchFamily="18" charset="0"/>
            </a:endParaRPr>
          </a:p>
          <a:p>
            <a:pPr algn="just">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266 Γραμμές Κώδικα</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FPS Movement &amp; Mouse Look</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RayCast3D Interaction Loop</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3D Hand </a:t>
            </a:r>
            <a:r>
              <a:rPr dirty="0" err="1">
                <a:latin typeface="Times New Roman" panose="02020603050405020304" pitchFamily="18" charset="0"/>
                <a:cs typeface="Times New Roman" panose="02020603050405020304" pitchFamily="18" charset="0"/>
              </a:rPr>
              <a:t>Tweening</a:t>
            </a:r>
            <a:r>
              <a:rPr dirty="0">
                <a:latin typeface="Times New Roman" panose="02020603050405020304" pitchFamily="18" charset="0"/>
                <a:cs typeface="Times New Roman" panose="02020603050405020304" pitchFamily="18" charset="0"/>
              </a:rPr>
              <a:t> Animation</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Adaptive UI Crosshair &amp; Prompts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Escape &amp; Auto-Quit Trigger</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game_manager.gd</a:t>
            </a:r>
            <a:endParaRPr dirty="0">
              <a:latin typeface="Times New Roman" panose="02020603050405020304" pitchFamily="18" charset="0"/>
              <a:cs typeface="Times New Roman" panose="02020603050405020304" pitchFamily="18" charset="0"/>
            </a:endParaRPr>
          </a:p>
          <a:p>
            <a:pPr algn="just">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406 Γραμμές Κώδικα</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Bookshelf Sequence State Machine</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Triangle Puzzle Geometry Solver</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180° Symmetry Permutation Logic</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Crystal Indicators Emission Control</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Secret Bookcase Door Animation</a:t>
            </a:r>
          </a:p>
        </p:txBody>
      </p:sp>
      <p:sp>
        <p:nvSpPr>
          <p:cNvPr id="8" name="Rounded Rectangle 7"/>
          <p:cNvSpPr/>
          <p:nvPr/>
        </p:nvSpPr>
        <p:spPr>
          <a:xfrm>
            <a:off x="8083294" y="160020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FFFFFF"/>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interactable.gd</a:t>
            </a:r>
            <a:endParaRPr dirty="0">
              <a:latin typeface="Times New Roman" panose="02020603050405020304" pitchFamily="18" charset="0"/>
              <a:cs typeface="Times New Roman" panose="02020603050405020304" pitchFamily="18" charset="0"/>
            </a:endParaRPr>
          </a:p>
          <a:p>
            <a:pPr algn="just">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25 Γραμμές Κώδικα</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r>
              <a:rPr dirty="0" err="1">
                <a:latin typeface="Times New Roman" panose="02020603050405020304" pitchFamily="18" charset="0"/>
                <a:cs typeface="Times New Roman" panose="02020603050405020304" pitchFamily="18" charset="0"/>
              </a:rPr>
              <a:t/>
            </a:r>
            <a:r>
              <a:rPr dirty="0">
                <a:latin typeface="Times New Roman" panose="02020603050405020304" pitchFamily="18" charset="0"/>
                <a:cs typeface="Times New Roman" panose="02020603050405020304" pitchFamily="18" charset="0"/>
              </a:rPr>
              <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χρησιμο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οιήσιμη</a:t>
            </a:r>
            <a:r>
              <a:rPr dirty="0">
                <a:latin typeface="Times New Roman" panose="02020603050405020304" pitchFamily="18" charset="0"/>
                <a:cs typeface="Times New Roman" panose="02020603050405020304" pitchFamily="18" charset="0"/>
              </a:rPr>
              <a:t> Base Class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Extension of CollisionObject3D</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prompt_message</a:t>
            </a:r>
            <a:r>
              <a:rPr dirty="0">
                <a:latin typeface="Times New Roman" panose="02020603050405020304" pitchFamily="18" charset="0"/>
                <a:cs typeface="Times New Roman" panose="02020603050405020304" pitchFamily="18" charset="0"/>
              </a:rPr>
              <a:t> Property</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is_interactive</a:t>
            </a:r>
            <a:r>
              <a:rPr dirty="0">
                <a:latin typeface="Times New Roman" panose="02020603050405020304" pitchFamily="18" charset="0"/>
                <a:cs typeface="Times New Roman" panose="02020603050405020304" pitchFamily="18" charset="0"/>
              </a:rPr>
              <a:t> State Toggle</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interacted(player) Signal Dispatch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088" y="-69669"/>
            <a:ext cx="12329008" cy="7036526"/>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058577"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ΣΥΜΠΕΡΑΣΜΑΤΑ &amp; DEMO</a:t>
            </a:r>
          </a:p>
        </p:txBody>
      </p:sp>
      <p:sp>
        <p:nvSpPr>
          <p:cNvPr id="5" name="TextBox 4"/>
          <p:cNvSpPr txBox="1"/>
          <p:nvPr/>
        </p:nvSpPr>
        <p:spPr>
          <a:xfrm>
            <a:off x="762000" y="548821"/>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13. </a:t>
            </a:r>
            <a:r>
              <a:rPr dirty="0" err="1">
                <a:latin typeface="Times New Roman" panose="02020603050405020304" pitchFamily="18" charset="0"/>
                <a:cs typeface="Times New Roman" panose="02020603050405020304" pitchFamily="18" charset="0"/>
              </a:rPr>
              <a:t>Συμ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εράσμ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δοτέ</a:t>
            </a:r>
            <a:r>
              <a:rPr dirty="0">
                <a:latin typeface="Times New Roman" panose="02020603050405020304" pitchFamily="18" charset="0"/>
                <a:cs typeface="Times New Roman" panose="02020603050405020304" pitchFamily="18" charset="0"/>
              </a:rPr>
              <a:t>α</a:t>
            </a: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Ολοκληρωμένη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ρμογή</a:t>
            </a:r>
            <a:r>
              <a:rPr dirty="0">
                <a:latin typeface="Times New Roman" panose="02020603050405020304" pitchFamily="18" charset="0"/>
                <a:cs typeface="Times New Roman" panose="02020603050405020304" pitchFamily="18" charset="0"/>
              </a:rPr>
              <a:t> Escape Room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Godot 4</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Σουίτ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δοτέων</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1. </a:t>
            </a:r>
            <a:r>
              <a:rPr dirty="0" err="1">
                <a:latin typeface="Times New Roman" panose="02020603050405020304" pitchFamily="18" charset="0"/>
                <a:cs typeface="Times New Roman" panose="02020603050405020304" pitchFamily="18" charset="0"/>
              </a:rPr>
              <a:t>Πλήρες</a:t>
            </a:r>
            <a:r>
              <a:rPr dirty="0">
                <a:latin typeface="Times New Roman" panose="02020603050405020304" pitchFamily="18" charset="0"/>
                <a:cs typeface="Times New Roman" panose="02020603050405020304" pitchFamily="18" charset="0"/>
              </a:rPr>
              <a:t> Godot 4 Project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όλο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τον</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ηγ</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σκηνές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2. </a:t>
            </a:r>
            <a:r>
              <a:rPr dirty="0" err="1">
                <a:latin typeface="Times New Roman" panose="02020603050405020304" pitchFamily="18" charset="0"/>
                <a:cs typeface="Times New Roman" panose="02020603050405020304" pitchFamily="18" charset="0"/>
              </a:rPr>
              <a:t>Τεχνική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Έκθεση</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Εγχειρίδιο</a:t>
            </a:r>
            <a:r>
              <a:rPr dirty="0">
                <a:latin typeface="Times New Roman" panose="02020603050405020304" pitchFamily="18" charset="0"/>
                <a:cs typeface="Times New Roman" panose="02020603050405020304" pitchFamily="18" charset="0"/>
              </a:rPr>
              <a:t> (.docx)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λύ</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τοντ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σημεί</a:t>
            </a:r>
            <a:r>
              <a:rPr dirty="0">
                <a:latin typeface="Times New Roman" panose="02020603050405020304" pitchFamily="18" charset="0"/>
                <a:cs typeface="Times New Roman" panose="02020603050405020304" pitchFamily="18" charset="0"/>
              </a:rPr>
              <a:t>α a–</a:t>
            </a:r>
            <a:r>
              <a:rPr dirty="0" err="1">
                <a:latin typeface="Times New Roman" panose="02020603050405020304" pitchFamily="18" charset="0"/>
                <a:cs typeface="Times New Roman" panose="02020603050405020304" pitchFamily="18" charset="0"/>
              </a:rPr>
              <a:t>i</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ρουσί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PowerPoint 14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νειών</a:t>
            </a:r>
            <a:r>
              <a:rPr dirty="0">
                <a:latin typeface="Times New Roman" panose="02020603050405020304" pitchFamily="18" charset="0"/>
                <a:cs typeface="Times New Roman" panose="02020603050405020304" pitchFamily="18" charset="0"/>
              </a:rPr>
              <a:t> (.pptx).</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4. </a:t>
            </a:r>
            <a:r>
              <a:rPr dirty="0" err="1">
                <a:latin typeface="Times New Roman" panose="02020603050405020304" pitchFamily="18" charset="0"/>
                <a:cs typeface="Times New Roman" panose="02020603050405020304" pitchFamily="18" charset="0"/>
              </a:rPr>
              <a:t>Σενάριο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γρ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Βίντεο</a:t>
            </a:r>
            <a:r>
              <a:rPr dirty="0">
                <a:latin typeface="Times New Roman" panose="02020603050405020304" pitchFamily="18" charset="0"/>
                <a:cs typeface="Times New Roman" panose="02020603050405020304" pitchFamily="18" charset="0"/>
              </a:rPr>
              <a:t> Voice-Over (</a:t>
            </a:r>
            <a:r>
              <a:rPr dirty="0" err="1">
                <a:latin typeface="Times New Roman" panose="02020603050405020304" pitchFamily="18" charset="0"/>
                <a:cs typeface="Times New Roman" panose="02020603050405020304" pitchFamily="18" charset="0"/>
              </a:rPr>
              <a:t>VoiceOver_Video_Script.md</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5. Build / Executable </a:t>
            </a:r>
            <a:r>
              <a:rPr dirty="0" err="1">
                <a:latin typeface="Times New Roman" panose="02020603050405020304" pitchFamily="18" charset="0"/>
                <a:cs typeface="Times New Roman" panose="02020603050405020304" pitchFamily="18" charset="0"/>
              </a:rPr>
              <a:t>εφ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ρμογής</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Σύνδεσμοι</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Στοιχεί</a:t>
            </a:r>
            <a:r>
              <a:rPr dirty="0">
                <a:latin typeface="Times New Roman" panose="02020603050405020304" pitchFamily="18" charset="0"/>
                <a:cs typeface="Times New Roman" panose="02020603050405020304" pitchFamily="18" charset="0"/>
              </a:rPr>
              <a:t>α</a:t>
            </a:r>
          </a:p>
          <a:p>
            <a:pPr>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GitHub Repository: https://</a:t>
            </a:r>
            <a:r>
              <a:rPr dirty="0" err="1">
                <a:latin typeface="Times New Roman" panose="02020603050405020304" pitchFamily="18" charset="0"/>
                <a:cs typeface="Times New Roman" panose="02020603050405020304" pitchFamily="18" charset="0"/>
              </a:rPr>
              <a:t>github.com</a:t>
            </a:r>
            <a:r>
              <a:rPr dirty="0">
                <a:latin typeface="Times New Roman" panose="02020603050405020304" pitchFamily="18" charset="0"/>
                <a:cs typeface="Times New Roman" panose="02020603050405020304" pitchFamily="18" charset="0"/>
              </a:rPr>
              <a:t>/</a:t>
            </a:r>
            <a:r>
              <a:rPr dirty="0" err="1">
                <a:latin typeface="Times New Roman" panose="02020603050405020304" pitchFamily="18" charset="0"/>
                <a:cs typeface="Times New Roman" panose="02020603050405020304" pitchFamily="18" charset="0"/>
              </a:rPr>
              <a:t>MrMpek</a:t>
            </a:r>
            <a:r>
              <a:rPr dirty="0">
                <a:latin typeface="Times New Roman" panose="02020603050405020304" pitchFamily="18" charset="0"/>
                <a:cs typeface="Times New Roman" panose="02020603050405020304" pitchFamily="18" charset="0"/>
              </a:rPr>
              <a:t>/</a:t>
            </a:r>
            <a:r>
              <a:rPr dirty="0" err="1">
                <a:latin typeface="Times New Roman" panose="02020603050405020304" pitchFamily="18" charset="0"/>
                <a:cs typeface="Times New Roman" panose="02020603050405020304" pitchFamily="18" charset="0"/>
              </a:rPr>
              <a:t>SecretLibrary-EscapeRoom</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Branch: main</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Φοιτητής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γιώτης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εκιάρης</a:t>
            </a:r>
            <a:r>
              <a:rPr lang="el-GR" dirty="0">
                <a:latin typeface="Times New Roman" panose="02020603050405020304" pitchFamily="18" charset="0"/>
                <a:cs typeface="Times New Roman" panose="02020603050405020304" pitchFamily="18" charset="0"/>
              </a:rPr>
              <a:t>, Κωνσταντίνα </a:t>
            </a:r>
            <a:r>
              <a:rPr lang="el-GR" dirty="0" err="1">
                <a:latin typeface="Times New Roman" panose="02020603050405020304" pitchFamily="18" charset="0"/>
                <a:cs typeface="Times New Roman" panose="02020603050405020304" pitchFamily="18" charset="0"/>
              </a:rPr>
              <a:t>Τόσκα</a:t>
            </a:r>
            <a:r>
              <a:rPr lang="el-GR" dirty="0">
                <a:latin typeface="Times New Roman" panose="02020603050405020304" pitchFamily="18" charset="0"/>
                <a:cs typeface="Times New Roman" panose="02020603050405020304" pitchFamily="18" charset="0"/>
              </a:rPr>
              <a:t>.</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ΠΜΣ </a:t>
            </a:r>
            <a:r>
              <a:rPr dirty="0" err="1">
                <a:latin typeface="Times New Roman" panose="02020603050405020304" pitchFamily="18" charset="0"/>
                <a:cs typeface="Times New Roman" panose="02020603050405020304" pitchFamily="18" charset="0"/>
              </a:rPr>
              <a:t>Προηγμέν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Συστήμ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Πληροφορικής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ιστήμιο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Πειρ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ιώς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ευχ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ριστ</a:t>
            </a:r>
            <a:r>
              <a:rPr lang="el-GR" dirty="0" err="1">
                <a:latin typeface="Times New Roman" panose="02020603050405020304" pitchFamily="18" charset="0"/>
                <a:cs typeface="Times New Roman" panose="02020603050405020304" pitchFamily="18" charset="0"/>
              </a:rPr>
              <a:t>ούμε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ολύ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την</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ροσοχή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TotalTime>
  <Words>2124</Words>
  <Application>Microsoft Macintosh PowerPoint</Application>
  <PresentationFormat>Widescreen</PresentationFormat>
  <Paragraphs>217</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panagiotis bekiaris</cp:lastModifiedBy>
  <cp:revision>2</cp:revision>
  <dcterms:created xsi:type="dcterms:W3CDTF">2013-01-27T09:14:16Z</dcterms:created>
  <dcterms:modified xsi:type="dcterms:W3CDTF">2026-10-04T22:22:02Z</dcterms:modified>
  <cp:category/>
</cp:coreProperties>
</file>