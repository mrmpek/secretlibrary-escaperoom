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Παρουσιάζω την απαλλακτική εργασία μου για το μάθημα Ευφυή Εικονικά Περιβάλλοντα και Ανάπτυξη Παιχνιδιών με τίτλο 'The Secret Library'. Πρόκειται για ένα πλήρες 3D Escape Room ανεπτυγμένο στη Godot Engine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εργασία εντάσσεται στο Θέμα 5 της εκφώνησης. Στόχος ήταν η δημιουργία ενός πειστικού, ολοκληρωμένου Escape Room με συνεπή λογική γρίφων και υψηλή αισθητική αρτιότητα.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Χρησιμοποιήθηκε η Godot 4.7 με GDScript. Για τη φυσική αξιοποιήθηκε η μηχανή Jolt Physics που προσφέρει κορυφαία σταθερότητα και απόδοση.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σκηνή main.tscn έχει σχεδιαστεί με απόλυτο διαχωρισμό ευθυνών. Ο GameManager συνδέεται ασύγχρονα με όλα τα αντικείμενα μέσω σημάτων, εξασφαλίζοντας σταθερότητα.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Στο player.gd υλοποιήσαμε FPS controller με ανεξαρτησία γλώσσας πληκτρολογίου μέσω physical keycodes, ώστε το πλήκτρο E να λειτουργεί πάντα απρόσκοπτα.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Αντί για ένα στατικό 2D εικονίδιο, σχεδιάσαμε ένα πλήρες τρισδιάστατο χέρι με 5 δάχτυλα που απλώνεται με Tween animation κάθε φορά που ο παίκτης αλληλεπιδρά.</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ανίχνευση γίνεται μέσω RayCast3D. Όταν ο παίκτης κοιτάζει κάποιο αντικείμενο, το στόχαστρο μετατρέπεται δυναμικά σε χέρι 🫱 και εμφανίζεται το κατάλληλο μήνυμα προτροπής.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Στον 1ο γρίφο, ο παίκτης πρέπει να ανακαλύψει τη σειρά τραβήγματος των βιβλίων: Αριστερό, Δεξί, Μεσαίο. Οι φωτεινοί κρύσταλλοι δίνουν άμεσο οπτικό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Ο 2ος γρίφος απαιτεί τον σχηματισμό ενός τριγώνου. Αναπτύξαμε έναν έξυπνο αλγόριθμο ταξινόμησης γωνιών που αναγνωρίζει οποιονδήποτε έγκυρο σχηματισμό με συμμετρία 180 μοιρών.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Μετά το τρίγωνο, το οικόσημο ανοίγει τη βιβλιοθήκη-πόρτα. Περνώντας την έξοδο, εμφανίζεται η οθόνη νίκης και μετά από 3 δευτερόλεπτα το παιχνίδι τερματίζει αυτόματα.</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Ιδιαίτερη έμφαση δόθηκε στη βελτιστοποίηση: μηδενικό μέγεθος assets μέσω procedural primitives, batching υλικών για χαμηλά draw calls, και Jolt Physics για ταχύτατες συγκρούσεις.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έργο καλύπτει όλα τα κριτήρια της εκφώνησης: αληθοφάνεια, πληρότητα, κίνηση μέσω tweens, βελτιστοποίηση και άρτια δομημένη λογική γρίφων.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Ο κώδικας χωρίζεται σε 3 βασικά scripts: player.gd για τον χειρισμό, game_manager.gd για τη λογική των γρίφων και interactable.gd ως βάση διαδραστικότητας.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Συνοψίζοντας, παραδίδεται ένα πλήρες, λειτουργικό project με όλα τα ζητούμενα έγγραφα και παρουσιάσεις. Ευχαριστώ πολύ για την προσοχή σας!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97280" y="731520"/>
            <a:ext cx="5943600" cy="41148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D4AF37"/>
                </a:solidFill>
              </a:defRPr>
            </a:pPr>
            <a:r>
              <a:t>ΠΑΝΕΠΙΣΤΗΜΙΟ ΠΕΙΡΑΙΩΣ | ΤΜΗΜΑ ΠΛΗΡΟΦΟΡΙΚΗΣ</a:t>
            </a:r>
          </a:p>
        </p:txBody>
      </p:sp>
      <p:sp>
        <p:nvSpPr>
          <p:cNvPr id="5" name="TextBox 4"/>
          <p:cNvSpPr txBox="1"/>
          <p:nvPr/>
        </p:nvSpPr>
        <p:spPr>
          <a:xfrm>
            <a:off x="1097280" y="1280160"/>
            <a:ext cx="10058400" cy="1280160"/>
          </a:xfrm>
          <a:prstGeom prst="rect">
            <a:avLst/>
          </a:prstGeom>
          <a:noFill/>
        </p:spPr>
        <p:txBody>
          <a:bodyPr wrap="square">
            <a:spAutoFit/>
          </a:bodyPr>
          <a:lstStyle/>
          <a:p>
            <a:pPr>
              <a:defRPr sz="4400" b="1">
                <a:solidFill>
                  <a:srgbClr val="D4AF37"/>
                </a:solidFill>
              </a:defRPr>
            </a:pPr>
            <a:r>
              <a:t>The Secret Library</a:t>
            </a:r>
          </a:p>
        </p:txBody>
      </p:sp>
      <p:sp>
        <p:nvSpPr>
          <p:cNvPr id="6" name="TextBox 5"/>
          <p:cNvSpPr txBox="1"/>
          <p:nvPr/>
        </p:nvSpPr>
        <p:spPr>
          <a:xfrm>
            <a:off x="1097280" y="2468880"/>
            <a:ext cx="10058400" cy="731520"/>
          </a:xfrm>
          <a:prstGeom prst="rect">
            <a:avLst/>
          </a:prstGeom>
          <a:noFill/>
        </p:spPr>
        <p:txBody>
          <a:bodyPr wrap="square">
            <a:spAutoFit/>
          </a:bodyPr>
          <a:lstStyle/>
          <a:p>
            <a:pPr>
              <a:defRPr sz="2200">
                <a:solidFill>
                  <a:srgbClr val="4ECDC4"/>
                </a:solidFill>
              </a:defRPr>
            </a:pPr>
            <a:r>
              <a:t>Interactive 3D Escape Room in Godot Engine 4</a:t>
            </a:r>
          </a:p>
        </p:txBody>
      </p:sp>
      <p:sp>
        <p:nvSpPr>
          <p:cNvPr id="7" name="Rounded Rectangle 6"/>
          <p:cNvSpPr/>
          <p:nvPr/>
        </p:nvSpPr>
        <p:spPr>
          <a:xfrm>
            <a:off x="1097280" y="3474720"/>
            <a:ext cx="9997135" cy="2560320"/>
          </a:xfrm>
          <a:prstGeom prst="roundRect">
            <a:avLst/>
          </a:prstGeom>
          <a:solidFill>
            <a:srgbClr val="1C2541"/>
          </a:solidFill>
          <a:ln w="1524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20040" bIns="320040"/>
          <a:lstStyle/>
          <a:p>
            <a:pPr algn="ctr">
              <a:spcAft>
                <a:spcPts val="1000"/>
              </a:spcAft>
              <a:defRPr sz="1500" b="0">
                <a:solidFill>
                  <a:srgbClr val="DCE2EB"/>
                </a:solidFill>
              </a:defRPr>
            </a:pPr>
            <a:r>
              <a:t>🏛️  Μάθημα: Ευφυή Εικονικά Περιβάλλοντα &amp; Ανάπτυξη Παιχνιδιών</a:t>
            </a:r>
          </a:p>
          <a:p>
            <a:pPr>
              <a:spcAft>
                <a:spcPts val="1000"/>
              </a:spcAft>
              <a:defRPr sz="1500" b="0">
                <a:solidFill>
                  <a:srgbClr val="DCE2EB"/>
                </a:solidFill>
              </a:defRPr>
            </a:pPr>
            <a:r>
              <a:t>🎓  </a:t>
            </a:r>
          </a:p>
          <a:p>
            <a:pPr>
              <a:spcAft>
                <a:spcPts val="1000"/>
              </a:spcAft>
              <a:defRPr sz="1500" b="0">
                <a:solidFill>
                  <a:srgbClr val="DCE2EB"/>
                </a:solidFill>
              </a:defRPr>
            </a:pPr>
            <a:r>
              <a:t>👨‍🏫  </a:t>
            </a:r>
          </a:p>
          <a:p>
            <a:pPr>
              <a:spcAft>
                <a:spcPts val="1000"/>
              </a:spcAft>
              <a:defRPr sz="1500" b="1">
                <a:solidFill>
                  <a:srgbClr val="D4AF37"/>
                </a:solidFill>
              </a:defRPr>
            </a:pPr>
            <a:r>
              <a:t>👤  Φοιτητής: Παναγιώτης Μπεκιάρης | Ακαδημαϊκό Έτος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ΘΕΜΑΤΟΛΟΓΙΑ &amp; ΣΤΟΧΟΙ</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1. Σκοπός Έργου &amp; Επιλογή Θέματος</a:t>
            </a:r>
          </a:p>
          <a:p>
            <a:pPr>
              <a:defRPr sz="1400" i="1">
                <a:solidFill>
                  <a:srgbClr val="4ECDC4"/>
                </a:solidFill>
              </a:defRPr>
            </a:pPr>
            <a:r>
              <a:t>Αντικείμενο 5: Interactive Escape Room / Puzzle Environment</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Κύριοι Στόχοι Ανάπτυξης</a:t>
            </a:r>
          </a:p>
          <a:p>
            <a:pPr>
              <a:spcAft>
                <a:spcPts val="900"/>
              </a:spcAft>
              <a:defRPr sz="1300">
                <a:solidFill>
                  <a:srgbClr val="DCE2EB"/>
                </a:solidFill>
              </a:defRPr>
            </a:pPr>
            <a:r>
              <a:t>• Δημιουργία ατμοσφαιρικού τρισδιάστατου χώρου μυστικής βιβλιοθήκης.</a:t>
            </a:r>
          </a:p>
          <a:p>
            <a:pPr>
              <a:spcAft>
                <a:spcPts val="900"/>
              </a:spcAft>
              <a:defRPr sz="1300">
                <a:solidFill>
                  <a:srgbClr val="DCE2EB"/>
                </a:solidFill>
              </a:defRPr>
            </a:pPr>
            <a:r>
              <a:t>• Προοπτική Πρώτου Προσώπου (FPS) με πλήρη έλεγχο 360° και ρεαλιστική φυσική.</a:t>
            </a:r>
          </a:p>
          <a:p>
            <a:pPr>
              <a:spcAft>
                <a:spcPts val="900"/>
              </a:spcAft>
              <a:defRPr sz="1300">
                <a:solidFill>
                  <a:srgbClr val="DCE2EB"/>
                </a:solidFill>
              </a:defRPr>
            </a:pPr>
            <a:r>
              <a:t>• Σύστημα αλληλεπίδρασης με RayCast3D και τρισδιάστατη αναπαράσταση χεριού.</a:t>
            </a:r>
          </a:p>
          <a:p>
            <a:pPr>
              <a:spcAft>
                <a:spcPts val="900"/>
              </a:spcAft>
              <a:defRPr sz="1300">
                <a:solidFill>
                  <a:srgbClr val="DCE2EB"/>
                </a:solidFill>
              </a:defRPr>
            </a:pPr>
            <a:r>
              <a:t>• Διαδοχική επίλυση μηχανικών &amp; γεωμετρικών γρίφων δύο επιπέδων.</a:t>
            </a:r>
          </a:p>
          <a:p>
            <a:pPr>
              <a:spcAft>
                <a:spcPts val="900"/>
              </a:spcAft>
              <a:defRPr sz="1300">
                <a:solidFill>
                  <a:srgbClr val="DCE2EB"/>
                </a:solidFill>
              </a:defRPr>
            </a:pPr>
            <a:r>
              <a:t>• Πλήρης κύκλος παιχνιδιού: εξερεύνηση ➔ γρίφοι ➔ απόδραση ➔ αυτόματος τερματισμός.</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Θεματική &amp; Αισθητική Ταυτότητα</a:t>
            </a:r>
          </a:p>
          <a:p>
            <a:pPr>
              <a:spcAft>
                <a:spcPts val="900"/>
              </a:spcAft>
              <a:defRPr sz="1300">
                <a:solidFill>
                  <a:srgbClr val="DCE2EB"/>
                </a:solidFill>
              </a:defRPr>
            </a:pPr>
            <a:r>
              <a:t>• Αρχιτεκτονική κλασικής βιβλιοθήκης με σκούρο ξύλο μαόνι και χρυσό μπρούτζο.</a:t>
            </a:r>
          </a:p>
          <a:p>
            <a:pPr>
              <a:spcAft>
                <a:spcPts val="900"/>
              </a:spcAft>
              <a:defRPr sz="1300">
                <a:solidFill>
                  <a:srgbClr val="DCE2EB"/>
                </a:solidFill>
              </a:defRPr>
            </a:pPr>
            <a:r>
              <a:t>• Πανομοιότυπα δερματόδετα βιβλία για απόκρυψη του μηχανισμού.</a:t>
            </a:r>
          </a:p>
          <a:p>
            <a:pPr>
              <a:spcAft>
                <a:spcPts val="900"/>
              </a:spcAft>
              <a:defRPr sz="1300">
                <a:solidFill>
                  <a:srgbClr val="DCE2EB"/>
                </a:solidFill>
              </a:defRPr>
            </a:pPr>
            <a:r>
              <a:t>• Κρυφό πέρασμα πίσω από περιστρεφόμενη βιβλιοθήκη-πόρτα.</a:t>
            </a:r>
          </a:p>
          <a:p>
            <a:pPr>
              <a:spcAft>
                <a:spcPts val="900"/>
              </a:spcAft>
              <a:defRPr sz="1300">
                <a:solidFill>
                  <a:srgbClr val="DCE2EB"/>
                </a:solidFill>
              </a:defRPr>
            </a:pPr>
            <a:r>
              <a:t>• Δυναμικός φωτισμός PBR που αναδεικνύει τις λεπτομέρειες των υλικών.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ΤΕΧΝΟΛΟΓΙΚΟ ΥΠΟΒΑΘΡΟ</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2. Εργαλεία &amp; Τεχνολογίες Ανάπτυξης</a:t>
            </a:r>
          </a:p>
          <a:p>
            <a:pPr>
              <a:defRPr sz="1400" i="1">
                <a:solidFill>
                  <a:srgbClr val="4ECDC4"/>
                </a:solidFill>
              </a:defRPr>
            </a:pPr>
            <a:r>
              <a:t>Σύγχρονο Open-Source Game Development Stack</a:t>
            </a: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D4AF37"/>
                </a:solidFill>
              </a:defRPr>
            </a:pPr>
            <a:r>
              <a:t>🎮 Game Engine</a:t>
            </a:r>
          </a:p>
          <a:p>
            <a:pPr>
              <a:spcAft>
                <a:spcPts val="1200"/>
              </a:spcAft>
              <a:defRPr sz="1400" b="1">
                <a:solidFill>
                  <a:srgbClr val="FFFFFF"/>
                </a:solidFill>
              </a:defRPr>
            </a:pPr>
            <a:r>
              <a:t>Godot Engine 4.7</a:t>
            </a:r>
          </a:p>
          <a:p>
            <a:pPr>
              <a:spcAft>
                <a:spcPts val="800"/>
              </a:spcAft>
              <a:defRPr sz="1200">
                <a:solidFill>
                  <a:srgbClr val="DCE2EB"/>
                </a:solidFill>
              </a:defRPr>
            </a:pPr>
            <a:r>
              <a:t>• Forward+ 3D Renderer</a:t>
            </a:r>
          </a:p>
          <a:p>
            <a:pPr>
              <a:spcAft>
                <a:spcPts val="800"/>
              </a:spcAft>
              <a:defRPr sz="1200">
                <a:solidFill>
                  <a:srgbClr val="DCE2EB"/>
                </a:solidFill>
              </a:defRPr>
            </a:pPr>
            <a:r>
              <a:t>• Σύγχρονο σύστημα σκηνών &amp; κόμβων</a:t>
            </a:r>
          </a:p>
          <a:p>
            <a:pPr>
              <a:spcAft>
                <a:spcPts val="800"/>
              </a:spcAft>
              <a:defRPr sz="1200">
                <a:solidFill>
                  <a:srgbClr val="DCE2EB"/>
                </a:solidFill>
              </a:defRPr>
            </a:pPr>
            <a:r>
              <a:t>• Ελαφρύ runtime &amp; ταχύτατο export</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4ECDC4"/>
                </a:solidFill>
              </a:defRPr>
            </a:pPr>
            <a:r>
              <a:t>💻 Programming Language</a:t>
            </a:r>
          </a:p>
          <a:p>
            <a:pPr>
              <a:spcAft>
                <a:spcPts val="1200"/>
              </a:spcAft>
              <a:defRPr sz="1400" b="1">
                <a:solidFill>
                  <a:srgbClr val="FFFFFF"/>
                </a:solidFill>
              </a:defRPr>
            </a:pPr>
            <a:r>
              <a:t>GDScript 2.0</a:t>
            </a:r>
          </a:p>
          <a:p>
            <a:pPr>
              <a:spcAft>
                <a:spcPts val="800"/>
              </a:spcAft>
              <a:defRPr sz="1200">
                <a:solidFill>
                  <a:srgbClr val="DCE2EB"/>
                </a:solidFill>
              </a:defRPr>
            </a:pPr>
            <a:r>
              <a:t>• Native ταχύτητα εκτέλεσης</a:t>
            </a:r>
          </a:p>
          <a:p>
            <a:pPr>
              <a:spcAft>
                <a:spcPts val="800"/>
              </a:spcAft>
              <a:defRPr sz="1200">
                <a:solidFill>
                  <a:srgbClr val="DCE2EB"/>
                </a:solidFill>
              </a:defRPr>
            </a:pPr>
            <a:r>
              <a:t>• Αρχιτεκτονική Observer μέσω Signals</a:t>
            </a:r>
          </a:p>
          <a:p>
            <a:pPr>
              <a:spcAft>
                <a:spcPts val="800"/>
              </a:spcAft>
              <a:defRPr sz="1200">
                <a:solidFill>
                  <a:srgbClr val="DCE2EB"/>
                </a:solidFill>
              </a:defRPr>
            </a:pPr>
            <a:r>
              <a:t>• Πλήρως σχολιασμένος, modular κώδικας</a:t>
            </a: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FFFFFF"/>
                </a:solidFill>
              </a:defRPr>
            </a:pPr>
            <a:r>
              <a:t>⚙️ Physics &amp; Control</a:t>
            </a:r>
          </a:p>
          <a:p>
            <a:pPr>
              <a:spcAft>
                <a:spcPts val="1200"/>
              </a:spcAft>
              <a:defRPr sz="1400" b="1">
                <a:solidFill>
                  <a:srgbClr val="FFFFFF"/>
                </a:solidFill>
              </a:defRPr>
            </a:pPr>
            <a:r>
              <a:t>Jolt 3D &amp; Git</a:t>
            </a:r>
          </a:p>
          <a:p>
            <a:pPr>
              <a:spcAft>
                <a:spcPts val="800"/>
              </a:spcAft>
              <a:defRPr sz="1200">
                <a:solidFill>
                  <a:srgbClr val="DCE2EB"/>
                </a:solidFill>
              </a:defRPr>
            </a:pPr>
            <a:r>
              <a:t>• Jolt Physics: Κορυφαία απόδοση συγκρούσεων</a:t>
            </a:r>
          </a:p>
          <a:p>
            <a:pPr>
              <a:spcAft>
                <a:spcPts val="800"/>
              </a:spcAft>
              <a:defRPr sz="1200">
                <a:solidFill>
                  <a:srgbClr val="DCE2EB"/>
                </a:solidFill>
              </a:defRPr>
            </a:pPr>
            <a:r>
              <a:t>• PBR Materials &amp; Procedural Primitives</a:t>
            </a:r>
          </a:p>
          <a:p>
            <a:pPr>
              <a:spcAft>
                <a:spcPts val="800"/>
              </a:spcAft>
              <a:defRPr sz="1200">
                <a:solidFill>
                  <a:srgbClr val="DCE2EB"/>
                </a:solidFill>
              </a:defRPr>
            </a:pPr>
            <a:r>
              <a:t>• GitHub Repository: MrMpek/SecretLibrary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ΑΡΧΙΤΕΚΤΟΝΙΚΗ ΣΚΗΝΗΣ</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3. Δομή Σκηνής (Scene Hierarchy)</a:t>
            </a:r>
          </a:p>
          <a:p>
            <a:pPr>
              <a:defRPr sz="1400" i="1">
                <a:solidFill>
                  <a:srgbClr val="4ECDC4"/>
                </a:solidFill>
              </a:defRPr>
            </a:pPr>
            <a:r>
              <a:t>Διαχωρισμός Ευθυνών &amp; Ιεραρχία Κόμβων στο main.tscn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Δενδρική Δομή Κόμβων</a:t>
            </a:r>
          </a:p>
          <a:p>
            <a:pPr>
              <a:spcAft>
                <a:spcPts val="900"/>
              </a:spcAft>
              <a:defRPr sz="1300">
                <a:solidFill>
                  <a:srgbClr val="DCE2EB"/>
                </a:solidFill>
              </a:defRPr>
            </a:pPr>
            <a:r>
              <a:t>• Main (Node3D): Ρίζα της σκηνής.</a:t>
            </a:r>
          </a:p>
          <a:p>
            <a:pPr>
              <a:spcAft>
                <a:spcPts val="900"/>
              </a:spcAft>
              <a:defRPr sz="1300">
                <a:solidFill>
                  <a:srgbClr val="DCE2EB"/>
                </a:solidFill>
              </a:defRPr>
            </a:pPr>
            <a:r>
              <a:t>• ├── WorldEnvironment &amp; Lights: Ατμοσφαιρικός φωτισμός.</a:t>
            </a:r>
          </a:p>
          <a:p>
            <a:pPr>
              <a:spcAft>
                <a:spcPts val="900"/>
              </a:spcAft>
              <a:defRPr sz="1300">
                <a:solidFill>
                  <a:srgbClr val="DCE2EB"/>
                </a:solidFill>
              </a:defRPr>
            </a:pPr>
            <a:r>
              <a:t>• ├── Architecture: Πάτωμα, τοίχοι, οροφή.</a:t>
            </a:r>
          </a:p>
          <a:p>
            <a:pPr>
              <a:spcAft>
                <a:spcPts val="900"/>
              </a:spcAft>
              <a:defRPr sz="1300">
                <a:solidFill>
                  <a:srgbClr val="DCE2EB"/>
                </a:solidFill>
              </a:defRPr>
            </a:pPr>
            <a:r>
              <a:t>• ├── ControlConsole: Κεντρική βιβλιοθήκη &amp; 3 βιβλία.</a:t>
            </a:r>
          </a:p>
          <a:p>
            <a:pPr>
              <a:spcAft>
                <a:spcPts val="900"/>
              </a:spcAft>
              <a:defRPr sz="1300">
                <a:solidFill>
                  <a:srgbClr val="DCE2EB"/>
                </a:solidFill>
              </a:defRPr>
            </a:pPr>
            <a:r>
              <a:t>• ├── PuzzleTable: Τραπέζι με 3 περιστρεφόμενες ράβδους.</a:t>
            </a:r>
          </a:p>
          <a:p>
            <a:pPr>
              <a:spcAft>
                <a:spcPts val="900"/>
              </a:spcAft>
              <a:defRPr sz="1300">
                <a:solidFill>
                  <a:srgbClr val="DCE2EB"/>
                </a:solidFill>
              </a:defRPr>
            </a:pPr>
            <a:r>
              <a:t>• ├── ExitDoorPivot: Περιστρεφόμενη πόρτα &amp; οικόσημο.</a:t>
            </a:r>
          </a:p>
          <a:p>
            <a:pPr>
              <a:spcAft>
                <a:spcPts val="900"/>
              </a:spcAft>
              <a:defRPr sz="1300">
                <a:solidFill>
                  <a:srgbClr val="DCE2EB"/>
                </a:solidFill>
              </a:defRPr>
            </a:pPr>
            <a:r>
              <a:t>• ├── Player: CharacterBody3D, Camera3D &amp; 3D Hand.</a:t>
            </a:r>
          </a:p>
          <a:p>
            <a:pPr>
              <a:spcAft>
                <a:spcPts val="900"/>
              </a:spcAft>
              <a:defRPr sz="1300">
                <a:solidFill>
                  <a:srgbClr val="DCE2EB"/>
                </a:solidFill>
              </a:defRPr>
            </a:pPr>
            <a:r>
              <a:t>• ├── GameManager: Κεντρικός ελεγκτής λογικής.</a:t>
            </a:r>
          </a:p>
          <a:p>
            <a:pPr>
              <a:spcAft>
                <a:spcPts val="900"/>
              </a:spcAft>
              <a:defRPr sz="1300">
                <a:solidFill>
                  <a:srgbClr val="DCE2EB"/>
                </a:solidFill>
              </a:defRPr>
            </a:pPr>
            <a:r>
              <a:t>• └── UI: CanvasLayer (Crosshair, Prompts, Victory).</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Αρχιτεκτονικά Πλεονεκτήματα</a:t>
            </a:r>
          </a:p>
          <a:p>
            <a:pPr>
              <a:spcAft>
                <a:spcPts val="900"/>
              </a:spcAft>
              <a:defRPr sz="1300">
                <a:solidFill>
                  <a:srgbClr val="DCE2EB"/>
                </a:solidFill>
              </a:defRPr>
            </a:pPr>
            <a:r>
              <a:t>• Modular Σχεδιασμός: Κάθε διαδραστικό στοιχείο λειτουργεί αυτόνομα.</a:t>
            </a:r>
          </a:p>
          <a:p>
            <a:pPr>
              <a:spcAft>
                <a:spcPts val="900"/>
              </a:spcAft>
              <a:defRPr sz="1300">
                <a:solidFill>
                  <a:srgbClr val="DCE2EB"/>
                </a:solidFill>
              </a:defRPr>
            </a:pPr>
            <a:r>
              <a:t>• Signals Decoupling: Αποφυγή κυκλικών εξαρτήσεων μεταξύ κλάσεων.</a:t>
            </a:r>
          </a:p>
          <a:p>
            <a:pPr>
              <a:spcAft>
                <a:spcPts val="900"/>
              </a:spcAft>
              <a:defRPr sz="1300">
                <a:solidFill>
                  <a:srgbClr val="DCE2EB"/>
                </a:solidFill>
              </a:defRPr>
            </a:pPr>
            <a:r>
              <a:t>• Dynamic Node Resolution: Αυτόματη σύνδεση κόμβων κατά το runtime (_ready).</a:t>
            </a:r>
          </a:p>
          <a:p>
            <a:pPr>
              <a:spcAft>
                <a:spcPts val="900"/>
              </a:spcAft>
              <a:defRPr sz="1300">
                <a:solidFill>
                  <a:srgbClr val="DCE2EB"/>
                </a:solidFill>
              </a:defRPr>
            </a:pPr>
            <a:r>
              <a:t>• Zero External Assets: Όλη η γεωμετρία δημιουργείται από procedural primitives.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ΧΕΙΡΙΣΜΟΣ ΠΑΙΚΤΗ</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4. FPS Controller &amp; Κίνηση Πρώτου Προσώπου</a:t>
            </a:r>
          </a:p>
          <a:p>
            <a:pPr>
              <a:defRPr sz="1400" i="1">
                <a:solidFill>
                  <a:srgbClr val="4ECDC4"/>
                </a:solidFill>
              </a:defRPr>
            </a:pPr>
            <a:r>
              <a:t>Υλοποίηση στο script player.gd</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Χειρισμός &amp; Κάμερα</a:t>
            </a:r>
          </a:p>
          <a:p>
            <a:pPr>
              <a:spcAft>
                <a:spcPts val="900"/>
              </a:spcAft>
              <a:defRPr sz="1300">
                <a:solidFill>
                  <a:srgbClr val="DCE2EB"/>
                </a:solidFill>
              </a:defRPr>
            </a:pPr>
            <a:r>
              <a:t>• FPS Mouse Look: Περιστροφή κάμερας 360° στον οριζόντιο άξονα.</a:t>
            </a:r>
          </a:p>
          <a:p>
            <a:pPr>
              <a:spcAft>
                <a:spcPts val="900"/>
              </a:spcAft>
              <a:defRPr sz="1300">
                <a:solidFill>
                  <a:srgbClr val="DCE2EB"/>
                </a:solidFill>
              </a:defRPr>
            </a:pPr>
            <a:r>
              <a:t>• Pitch Clamping: Περιορισμός κατακόρυφης κλίσης (-80° έως +80°) για αποφυγή αποπροσανατολισμού.</a:t>
            </a:r>
          </a:p>
          <a:p>
            <a:pPr>
              <a:spcAft>
                <a:spcPts val="900"/>
              </a:spcAft>
              <a:defRPr sz="1300">
                <a:solidFill>
                  <a:srgbClr val="DCE2EB"/>
                </a:solidFill>
              </a:defRPr>
            </a:pPr>
            <a:r>
              <a:t>• Ομαλή Κίνηση: Vector3 normalisation και move_and_slide() με εφαρμογή βαρύτητας.</a:t>
            </a:r>
          </a:p>
          <a:p>
            <a:pPr>
              <a:spcAft>
                <a:spcPts val="900"/>
              </a:spcAft>
              <a:defRPr sz="1300">
                <a:solidFill>
                  <a:srgbClr val="DCE2EB"/>
                </a:solidFill>
              </a:defRPr>
            </a:pPr>
            <a:r>
              <a:t>• Mouse Capture: Αυτόματο κλείδωμα του κέρσορα με αριστερό κλικ &amp; απελευθέρωση με Escape.</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Ανεξαρτησία Διάταξης Πληκτρολογίου</a:t>
            </a:r>
          </a:p>
          <a:p>
            <a:pPr>
              <a:spcAft>
                <a:spcPts val="900"/>
              </a:spcAft>
              <a:defRPr sz="1300">
                <a:solidFill>
                  <a:srgbClr val="DCE2EB"/>
                </a:solidFill>
              </a:defRPr>
            </a:pPr>
            <a:r>
              <a:t>• Πρόβλημα: Σε macOS/Windows με ελληνικό πληκτρολόγιο, το πλήκτρο E παράγει διαφορετικό keycode.</a:t>
            </a:r>
          </a:p>
          <a:p>
            <a:pPr>
              <a:spcAft>
                <a:spcPts val="900"/>
              </a:spcAft>
              <a:defRPr sz="1300">
                <a:solidFill>
                  <a:srgbClr val="DCE2EB"/>
                </a:solidFill>
              </a:defRPr>
            </a:pPr>
            <a:r>
              <a:t>• Λύση: Έλεγχος event.physical_keycode == KEY_E (Physical Scancode).</a:t>
            </a:r>
          </a:p>
          <a:p>
            <a:pPr>
              <a:spcAft>
                <a:spcPts val="900"/>
              </a:spcAft>
              <a:defRPr sz="1300">
                <a:solidFill>
                  <a:srgbClr val="DCE2EB"/>
                </a:solidFill>
              </a:defRPr>
            </a:pPr>
            <a:r>
              <a:t>• Διπλή Υποστήριξη: Πλήρης δυνατότητα αλληλεπίδρασης και μέσω Αριστερού Κλικ.</a:t>
            </a:r>
          </a:p>
          <a:p>
            <a:pPr>
              <a:spcAft>
                <a:spcPts val="900"/>
              </a:spcAft>
              <a:defRPr sz="1300">
                <a:solidFill>
                  <a:srgbClr val="DCE2EB"/>
                </a:solidFill>
              </a:defRPr>
            </a:pPr>
            <a:r>
              <a:t>• Αποτέλεσμα: 100% αξιόπιστος χειρισμός ανεξαρτήτως ενεργής γλώσσας συστήματος.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ΑΛΛΗΛΕΠΙΔΡΑΣΗ &amp; ΑΙΣΘΗΤΙΚΗ</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5. Τρισδιάστατο Χέρι Πρώτου Προσώπου</a:t>
            </a:r>
          </a:p>
          <a:p>
            <a:pPr>
              <a:defRPr sz="1400" i="1">
                <a:solidFill>
                  <a:srgbClr val="4ECDC4"/>
                </a:solidFill>
              </a:defRPr>
            </a:pPr>
            <a:r>
              <a:t>Procedural 3D Hand Model &amp; Animation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Γεωμετρία &amp; Ανατομία Χεριού</a:t>
            </a:r>
          </a:p>
          <a:p>
            <a:pPr>
              <a:spcAft>
                <a:spcPts val="900"/>
              </a:spcAft>
              <a:defRPr sz="1300">
                <a:solidFill>
                  <a:srgbClr val="DCE2EB"/>
                </a:solidFill>
              </a:defRPr>
            </a:pPr>
            <a:r>
              <a:t>• Ανθρώπινη Ανατομία: Κατασκευή παλάμης (BoxMesh) και 5 ξεχωριστών δαχτύλων.</a:t>
            </a:r>
          </a:p>
          <a:p>
            <a:pPr>
              <a:spcAft>
                <a:spcPts val="900"/>
              </a:spcAft>
              <a:defRPr sz="1300">
                <a:solidFill>
                  <a:srgbClr val="DCE2EB"/>
                </a:solidFill>
              </a:defRPr>
            </a:pPr>
            <a:r>
              <a:t>• Αρθρωτός Αντίχειρας: Τοποθέτηση στο πλάι με φυσική κλίση 35°.</a:t>
            </a:r>
          </a:p>
          <a:p>
            <a:pPr>
              <a:spcAft>
                <a:spcPts val="900"/>
              </a:spcAft>
              <a:defRPr sz="1300">
                <a:solidFill>
                  <a:srgbClr val="DCE2EB"/>
                </a:solidFill>
              </a:defRPr>
            </a:pPr>
            <a:r>
              <a:t>• Μανίκι &amp; Δέρμα: Σκούρο μπλε κυλινδρικό μανίκι με ρεαλιστικό ροδακινί/μπεζ τόνο δέρματος.</a:t>
            </a:r>
          </a:p>
          <a:p>
            <a:pPr>
              <a:spcAft>
                <a:spcPts val="900"/>
              </a:spcAft>
              <a:defRPr sz="1300">
                <a:solidFill>
                  <a:srgbClr val="DCE2EB"/>
                </a:solidFill>
              </a:defRPr>
            </a:pPr>
            <a:r>
              <a:t>• Camera Attachment: Τοποθετημένο στο HandPivot της Camera3D για φυσική προοπτική.</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Tween Animation Απλώματος</a:t>
            </a:r>
          </a:p>
          <a:p>
            <a:pPr>
              <a:spcAft>
                <a:spcPts val="900"/>
              </a:spcAft>
              <a:defRPr sz="1300">
                <a:solidFill>
                  <a:srgbClr val="DCE2EB"/>
                </a:solidFill>
              </a:defRPr>
            </a:pPr>
            <a:r>
              <a:t>• Reach Forward: Σε κάθε πάτημα αλληλεπίδρασης, το χέρι κινείται προς τα εμπρός (0.1s).</a:t>
            </a:r>
          </a:p>
          <a:p>
            <a:pPr>
              <a:spcAft>
                <a:spcPts val="900"/>
              </a:spcAft>
              <a:defRPr sz="1300">
                <a:solidFill>
                  <a:srgbClr val="DCE2EB"/>
                </a:solidFill>
              </a:defRPr>
            </a:pPr>
            <a:r>
              <a:t>• Smooth Return: Επιστροφή στην αρχική θέση ηρεμίας (0.15s) με Sine easing.</a:t>
            </a:r>
          </a:p>
          <a:p>
            <a:pPr>
              <a:spcAft>
                <a:spcPts val="900"/>
              </a:spcAft>
              <a:defRPr sz="1300">
                <a:solidFill>
                  <a:srgbClr val="DCE2EB"/>
                </a:solidFill>
              </a:defRPr>
            </a:pPr>
            <a:r>
              <a:t>• Οπτική Επιβεβαίωση: Άμεση και ικανοποιητική αίσθηση ότι ο παίκτης αγγίζει τον κόσμο.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ΣΥΣΤΗΜΑ ΑΝΙΧΝΕΥΣΗΣ</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6. Ανίχνευση Αντικειμένων &amp; Δυναμικό UI</a:t>
            </a:r>
          </a:p>
          <a:p>
            <a:pPr>
              <a:defRPr sz="1400" i="1">
                <a:solidFill>
                  <a:srgbClr val="4ECDC4"/>
                </a:solidFill>
              </a:defRPr>
            </a:pPr>
            <a:r>
              <a:t>RayCast3D, Signals &amp; Adaptive Crosshair</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Μηχανισμός RayCast3D</a:t>
            </a:r>
          </a:p>
          <a:p>
            <a:pPr>
              <a:spcAft>
                <a:spcPts val="900"/>
              </a:spcAft>
              <a:defRPr sz="1300">
                <a:solidFill>
                  <a:srgbClr val="DCE2EB"/>
                </a:solidFill>
              </a:defRPr>
            </a:pPr>
            <a:r>
              <a:t>• Ακτίνα Ανίχνευσης: Μήκους 2.5 μέτρων από το κέντρο της κάμερας.</a:t>
            </a:r>
          </a:p>
          <a:p>
            <a:pPr>
              <a:spcAft>
                <a:spcPts val="900"/>
              </a:spcAft>
              <a:defRPr sz="1300">
                <a:solidFill>
                  <a:srgbClr val="DCE2EB"/>
                </a:solidFill>
              </a:defRPr>
            </a:pPr>
            <a:r>
              <a:t>• Κλάση Interactable: Βασική κλάση επέκτασης StaticBody3D με σήμα interacted(player).</a:t>
            </a:r>
          </a:p>
          <a:p>
            <a:pPr>
              <a:spcAft>
                <a:spcPts val="900"/>
              </a:spcAft>
              <a:defRPr sz="1300">
                <a:solidFill>
                  <a:srgbClr val="DCE2EB"/>
                </a:solidFill>
              </a:defRPr>
            </a:pPr>
            <a:r>
              <a:t>• Έλεγχος Εγκυρότητας: Ανίχνευση μεθόδου interact() και κατάστασης is_interactive.</a:t>
            </a:r>
          </a:p>
          <a:p>
            <a:pPr>
              <a:spcAft>
                <a:spcPts val="900"/>
              </a:spcAft>
              <a:defRPr sz="1300">
                <a:solidFill>
                  <a:srgbClr val="DCE2EB"/>
                </a:solidFill>
              </a:defRPr>
            </a:pPr>
            <a:r>
              <a:t>• Αποσύνδεση: Ο παίκτης δεν γνωρίζει τη λογική του αντικειμένου, απλώς καλεί την interact().</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Δυναμικό UI Στόχαστρο</a:t>
            </a:r>
          </a:p>
          <a:p>
            <a:pPr>
              <a:spcAft>
                <a:spcPts val="900"/>
              </a:spcAft>
              <a:defRPr sz="1300">
                <a:solidFill>
                  <a:srgbClr val="DCE2EB"/>
                </a:solidFill>
              </a:defRPr>
            </a:pPr>
            <a:r>
              <a:t>• Κατάσταση Ηρεμίας: Διακριτικό κεντρικό στόχαστρο σταυρού (+).</a:t>
            </a:r>
          </a:p>
          <a:p>
            <a:pPr>
              <a:spcAft>
                <a:spcPts val="900"/>
              </a:spcAft>
              <a:defRPr sz="1300">
                <a:solidFill>
                  <a:srgbClr val="DCE2EB"/>
                </a:solidFill>
              </a:defRPr>
            </a:pPr>
            <a:r>
              <a:t>• Κατάσταση Εστίασης: Αυτόματη μετατροπή σε εικονίδιο χεριού (🫱) όταν σημαδεύουμε αντικείμενο.</a:t>
            </a:r>
          </a:p>
          <a:p>
            <a:pPr>
              <a:spcAft>
                <a:spcPts val="900"/>
              </a:spcAft>
              <a:defRPr sz="1300">
                <a:solidFill>
                  <a:srgbClr val="DCE2EB"/>
                </a:solidFill>
              </a:defRPr>
            </a:pPr>
            <a:r>
              <a:t>• Interaction Prompt: Εμφάνιση προτροπής context (π.χ. '[E] Pull Book', '[E] Rotate Piece').</a:t>
            </a:r>
          </a:p>
          <a:p>
            <a:pPr>
              <a:spcAft>
                <a:spcPts val="900"/>
              </a:spcAft>
              <a:defRPr sz="1300">
                <a:solidFill>
                  <a:srgbClr val="DCE2EB"/>
                </a:solidFill>
              </a:defRPr>
            </a:pPr>
            <a:r>
              <a:t>• Καθαρότητα: Αυτόματη απόκρυψη όταν ο παίκτης απομακρύνεται.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1ΟΣ ΓΡΙΦΟΣ</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7. 1ος Γρίφος: Το Μυστικό Βιβλιοστάσιο</a:t>
            </a:r>
          </a:p>
          <a:p>
            <a:pPr>
              <a:defRPr sz="1400" i="1">
                <a:solidFill>
                  <a:srgbClr val="4ECDC4"/>
                </a:solidFill>
              </a:defRPr>
            </a:pPr>
            <a:r>
              <a:t>Αλληλουχία Πανομοιότυπων Βιβλίων &amp; Οπτική Ανατροφοδότηση</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Μηχανισμός Βιβλιοθήκης</a:t>
            </a:r>
          </a:p>
          <a:p>
            <a:pPr>
              <a:spcAft>
                <a:spcPts val="900"/>
              </a:spcAft>
              <a:defRPr sz="1300">
                <a:solidFill>
                  <a:srgbClr val="DCE2EB"/>
                </a:solidFill>
              </a:defRPr>
            </a:pPr>
            <a:r>
              <a:t>• 3 Πανομοιότυπα Βιβλία: Ενιαία εμφάνιση παλαιωμένου καφέ δέρματος (Antique Brown Leather).</a:t>
            </a:r>
          </a:p>
          <a:p>
            <a:pPr>
              <a:spcAft>
                <a:spcPts val="900"/>
              </a:spcAft>
              <a:defRPr sz="1300">
                <a:solidFill>
                  <a:srgbClr val="DCE2EB"/>
                </a:solidFill>
              </a:defRPr>
            </a:pPr>
            <a:r>
              <a:t>• Κοινή Προτροπή: Όλα εμφανίζουν [E] Pull Book για να μην προδίδουν τη λύση.</a:t>
            </a:r>
          </a:p>
          <a:p>
            <a:pPr>
              <a:spcAft>
                <a:spcPts val="900"/>
              </a:spcAft>
              <a:defRPr sz="1300">
                <a:solidFill>
                  <a:srgbClr val="DCE2EB"/>
                </a:solidFill>
              </a:defRPr>
            </a:pPr>
            <a:r>
              <a:t>• Σωστή Σειρά Ενεργοποίησης: Αριστερό (1) ➔ Δεξί (3) ➔ Μεσαίο (2).</a:t>
            </a:r>
          </a:p>
          <a:p>
            <a:pPr>
              <a:spcAft>
                <a:spcPts val="900"/>
              </a:spcAft>
              <a:defRPr sz="1300">
                <a:solidFill>
                  <a:srgbClr val="DCE2EB"/>
                </a:solidFill>
              </a:defRPr>
            </a:pPr>
            <a:r>
              <a:t>• Κλίση Βιβλίου: Κάθε επιλεγμένο βιβλίο περιστρέφεται ομαλά (Tween) προς τα έξω.</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Φωτεινοί Κρύσταλλοι Ένδειξης</a:t>
            </a:r>
          </a:p>
          <a:p>
            <a:pPr>
              <a:spcAft>
                <a:spcPts val="900"/>
              </a:spcAft>
              <a:defRPr sz="1300">
                <a:solidFill>
                  <a:srgbClr val="DCE2EB"/>
                </a:solidFill>
              </a:defRPr>
            </a:pPr>
            <a:r>
              <a:t>• 3 Ενσωματωμένοι Κρύσταλλοι πάνω από τη βιβλιοθήκη με Emission shaders.</a:t>
            </a:r>
          </a:p>
          <a:p>
            <a:pPr>
              <a:spcAft>
                <a:spcPts val="900"/>
              </a:spcAft>
              <a:defRPr sz="1300">
                <a:solidFill>
                  <a:srgbClr val="DCE2EB"/>
                </a:solidFill>
              </a:defRPr>
            </a:pPr>
            <a:r>
              <a:t>• Σωστό Βήμα: Ο αντίστοιχος κρύσταλλος ανάβει μόνιμα πράσινος.</a:t>
            </a:r>
          </a:p>
          <a:p>
            <a:pPr>
              <a:spcAft>
                <a:spcPts val="900"/>
              </a:spcAft>
              <a:defRPr sz="1300">
                <a:solidFill>
                  <a:srgbClr val="DCE2EB"/>
                </a:solidFill>
              </a:defRPr>
            </a:pPr>
            <a:r>
              <a:t>• Λάθος Βήμα: Όλοι οι κρύσταλλοι αναβοσβήνουν κόκκινοι και η σειρά μηδενίζεται.</a:t>
            </a:r>
          </a:p>
          <a:p>
            <a:pPr>
              <a:spcAft>
                <a:spcPts val="900"/>
              </a:spcAft>
              <a:defRPr sz="1300">
                <a:solidFill>
                  <a:srgbClr val="DCE2EB"/>
                </a:solidFill>
              </a:defRPr>
            </a:pPr>
            <a:r>
              <a:t>• Επίλυση: Αυτόματη εμφάνιση του 2ου γρίφου στο κεντρικό τραπέζι.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2ΟΣ ΓΡΙΦΟΣ</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8. 2ος Γρίφος: Το Γεωμετρικό Παζλ Τριγώνου</a:t>
            </a:r>
          </a:p>
          <a:p>
            <a:pPr>
              <a:defRPr sz="1400" i="1">
                <a:solidFill>
                  <a:srgbClr val="4ECDC4"/>
                </a:solidFill>
              </a:defRPr>
            </a:pPr>
            <a:r>
              <a:t>Έξυπνος Αλγόριθμος Μεταθέσεων &amp; Συμμετρίας 180°</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Το Τραπέζι &amp; οι 3 Χρυσές Ράβδοι</a:t>
            </a:r>
          </a:p>
          <a:p>
            <a:pPr>
              <a:spcAft>
                <a:spcPts val="900"/>
              </a:spcAft>
              <a:defRPr sz="1300">
                <a:solidFill>
                  <a:srgbClr val="DCE2EB"/>
                </a:solidFill>
              </a:defRPr>
            </a:pPr>
            <a:r>
              <a:t>• Εμφάνιση Παζλ: Εμφανίζονται 3 χρυσές μπρούτζινες ράβδοι στο κεντρικό ξύλινο τραπέζι.</a:t>
            </a:r>
          </a:p>
          <a:p>
            <a:pPr>
              <a:spcAft>
                <a:spcPts val="900"/>
              </a:spcAft>
              <a:defRPr sz="1300">
                <a:solidFill>
                  <a:srgbClr val="DCE2EB"/>
                </a:solidFill>
              </a:defRPr>
            </a:pPr>
            <a:r>
              <a:t>• Τυχαίες Αρχικές Γωνίες: Οι ράβδοι ξεκινούν ανακατεμένες (120°, 0°, 60°).</a:t>
            </a:r>
          </a:p>
          <a:p>
            <a:pPr>
              <a:spcAft>
                <a:spcPts val="900"/>
              </a:spcAft>
              <a:defRPr sz="1300">
                <a:solidFill>
                  <a:srgbClr val="DCE2EB"/>
                </a:solidFill>
              </a:defRPr>
            </a:pPr>
            <a:r>
              <a:t>• Περιστροφή ανά 60°: Κάθε αλληλεπίδραση περιστρέφει τη ράβδο flat πάνω στο τραπέζι.</a:t>
            </a:r>
          </a:p>
          <a:p>
            <a:pPr>
              <a:spcAft>
                <a:spcPts val="900"/>
              </a:spcAft>
              <a:defRPr sz="1300">
                <a:solidFill>
                  <a:srgbClr val="DCE2EB"/>
                </a:solidFill>
              </a:defRPr>
            </a:pPr>
            <a:r>
              <a:t>• Στόχος: Ευθυγράμμιση των ράβδων ώστε να σχηματίσουν ένα πλήρες τρίγωνο.</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Αλγόριθμος check_triangle_puzzle()</a:t>
            </a:r>
          </a:p>
          <a:p>
            <a:pPr>
              <a:spcAft>
                <a:spcPts val="900"/>
              </a:spcAft>
              <a:defRPr sz="1300">
                <a:solidFill>
                  <a:srgbClr val="DCE2EB"/>
                </a:solidFill>
              </a:defRPr>
            </a:pPr>
            <a:r>
              <a:t>• Ταξινόμηση σε 3 Τύπους: Οριζόντια (0°/180°), Slash / (60°/240°), Backslash \ (120°/300°).</a:t>
            </a:r>
          </a:p>
          <a:p>
            <a:pPr>
              <a:spcAft>
                <a:spcPts val="900"/>
              </a:spcAft>
              <a:defRPr sz="1300">
                <a:solidFill>
                  <a:srgbClr val="DCE2EB"/>
                </a:solidFill>
              </a:defRPr>
            </a:pPr>
            <a:r>
              <a:t>• Υποστήριξη Συμμετρίας: Επειδή οι ράβδοι είναι ορθογώνιες, οι 180° μοιάζουν πανομοιότυπες.</a:t>
            </a:r>
          </a:p>
          <a:p>
            <a:pPr>
              <a:spcAft>
                <a:spcPts val="900"/>
              </a:spcAft>
              <a:defRPr sz="1300">
                <a:solidFill>
                  <a:srgbClr val="DCE2EB"/>
                </a:solidFill>
              </a:defRPr>
            </a:pPr>
            <a:r>
              <a:t>• Έλεγχος Μεταθέσεων: Το παζλ λύνεται αν υπάρχει ακριβώς μία ράβδος από κάθε τύπο (types == [0,1,2]).</a:t>
            </a:r>
          </a:p>
          <a:p>
            <a:pPr>
              <a:spcAft>
                <a:spcPts val="900"/>
              </a:spcAft>
              <a:defRPr sz="1300">
                <a:solidFill>
                  <a:srgbClr val="DCE2EB"/>
                </a:solidFill>
              </a:defRPr>
            </a:pPr>
            <a:r>
              <a:t>• Αποτέλεσμα: Δέχεται οποιονδήποτε οπτικά σωστό σχηματισμό τριγώνου χωρίς εκνευρισμό.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ΟΛΟΚΛΗΡΩΣΗ &amp; ΑΠΟΔΡΑΣΗ</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9. Μηχανισμός Εξόδου &amp; Αυτόματος Τερματισμός</a:t>
            </a:r>
          </a:p>
          <a:p>
            <a:pPr>
              <a:defRPr sz="1400" i="1">
                <a:solidFill>
                  <a:srgbClr val="4ECDC4"/>
                </a:solidFill>
              </a:defRPr>
            </a:pPr>
            <a:r>
              <a:t>Ξεκλείδωμα Μυστικής Πόρτας &amp; Victory Screen</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Το Μυστικό Οικόσημο &amp; η Πόρτα</a:t>
            </a:r>
          </a:p>
          <a:p>
            <a:pPr>
              <a:spcAft>
                <a:spcPts val="900"/>
              </a:spcAft>
              <a:defRPr sz="1300">
                <a:solidFill>
                  <a:srgbClr val="DCE2EB"/>
                </a:solidFill>
              </a:defRPr>
            </a:pPr>
            <a:r>
              <a:t>• Ξεκλείδωμα: Μετά την επίλυση του τριγώνου, το χρυσό οικόσημο (Secret Crest) γίνεται πράσινο.</a:t>
            </a:r>
          </a:p>
          <a:p>
            <a:pPr>
              <a:spcAft>
                <a:spcPts val="900"/>
              </a:spcAft>
              <a:defRPr sz="1300">
                <a:solidFill>
                  <a:srgbClr val="DCE2EB"/>
                </a:solidFill>
              </a:defRPr>
            </a:pPr>
            <a:r>
              <a:t>• Προτροπή: Αλλάζει σε [E] Turn Secret Crest.</a:t>
            </a:r>
          </a:p>
          <a:p>
            <a:pPr>
              <a:spcAft>
                <a:spcPts val="900"/>
              </a:spcAft>
              <a:defRPr sz="1300">
                <a:solidFill>
                  <a:srgbClr val="DCE2EB"/>
                </a:solidFill>
              </a:defRPr>
            </a:pPr>
            <a:r>
              <a:t>• Door Pivot Tween: Η βαριά ξύλινη βιβλιοθήκη-πόρτα περιστρέφεται 90° ομαλά σε 1.5 δευτερόλεπτο.</a:t>
            </a:r>
          </a:p>
          <a:p>
            <a:pPr>
              <a:spcAft>
                <a:spcPts val="900"/>
              </a:spcAft>
              <a:defRPr sz="1300">
                <a:solidFill>
                  <a:srgbClr val="DCE2EB"/>
                </a:solidFill>
              </a:defRPr>
            </a:pPr>
            <a:r>
              <a:t>• Αποκάλυψη: Αποκαλύπτεται το φωτεινό πέρασμα διαφυγής.</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Οθόνη Νίκης &amp; Auto-Quit</a:t>
            </a:r>
          </a:p>
          <a:p>
            <a:pPr>
              <a:spcAft>
                <a:spcPts val="900"/>
              </a:spcAft>
              <a:defRPr sz="1300">
                <a:solidFill>
                  <a:srgbClr val="DCE2EB"/>
                </a:solidFill>
              </a:defRPr>
            </a:pPr>
            <a:r>
              <a:t>• Area3D Trigger: Ανίχνευση διέλευσης του παίκτη από το κατώφλι της εξόδου.</a:t>
            </a:r>
          </a:p>
          <a:p>
            <a:pPr>
              <a:spcAft>
                <a:spcPts val="900"/>
              </a:spcAft>
              <a:defRPr sz="1300">
                <a:solidFill>
                  <a:srgbClr val="DCE2EB"/>
                </a:solidFill>
              </a:defRPr>
            </a:pPr>
            <a:r>
              <a:t>• Victory CanvasLayer: Εμφάνιση οθόνης με μήνυμα «Συγχαρητήρια! Απέδρασες!».</a:t>
            </a:r>
          </a:p>
          <a:p>
            <a:pPr>
              <a:spcAft>
                <a:spcPts val="900"/>
              </a:spcAft>
              <a:defRPr sz="1300">
                <a:solidFill>
                  <a:srgbClr val="DCE2EB"/>
                </a:solidFill>
              </a:defRPr>
            </a:pPr>
            <a:r>
              <a:t>• Αυτόματος Τερματισμός: Αντίστροφη μέτρηση 3 δευτερολέπτων και κλήση get_tree().quit().</a:t>
            </a:r>
          </a:p>
          <a:p>
            <a:pPr>
              <a:spcAft>
                <a:spcPts val="900"/>
              </a:spcAft>
              <a:defRPr sz="1300">
                <a:solidFill>
                  <a:srgbClr val="DCE2EB"/>
                </a:solidFill>
              </a:defRPr>
            </a:pPr>
            <a:r>
              <a:t>• Ομαλό Κλείσιμο: Πλήρης, επαγγελματικός κύκλος ζωής της εφαρμογής.</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ΒΕΛΤΙΣΤΟΠΟΙΗΣΗ</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10. Τεχνικές Βελτιστοποίησης (Optimization)</a:t>
            </a:r>
          </a:p>
          <a:p>
            <a:pPr>
              <a:defRPr sz="1400" i="1">
                <a:solidFill>
                  <a:srgbClr val="4ECDC4"/>
                </a:solidFill>
              </a:defRPr>
            </a:pPr>
            <a:r>
              <a:t>Ανάλυση Τεχνικών Βελτιστοποίησης σύμφωνα με τις Απαιτήσεις του Μαθήματος</a:t>
            </a: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D4AF37"/>
                </a:solidFill>
              </a:defRPr>
            </a:pPr>
            <a:r>
              <a:t>📦 Asset &amp; Geometry</a:t>
            </a:r>
          </a:p>
          <a:p>
            <a:pPr>
              <a:spcAft>
                <a:spcPts val="1200"/>
              </a:spcAft>
              <a:defRPr sz="1400" b="1">
                <a:solidFill>
                  <a:srgbClr val="FFFFFF"/>
                </a:solidFill>
              </a:defRPr>
            </a:pPr>
            <a:r>
              <a:t>Procedural Primitives</a:t>
            </a:r>
          </a:p>
          <a:p>
            <a:pPr>
              <a:spcAft>
                <a:spcPts val="800"/>
              </a:spcAft>
              <a:defRPr sz="1200">
                <a:solidFill>
                  <a:srgbClr val="DCE2EB"/>
                </a:solidFill>
              </a:defRPr>
            </a:pPr>
            <a:r>
              <a:t>• Μηδενικό μέγεθος εξωτερικών 3D αρχείων (.obj/.gltf)</a:t>
            </a:r>
          </a:p>
          <a:p>
            <a:pPr>
              <a:spcAft>
                <a:spcPts val="800"/>
              </a:spcAft>
              <a:defRPr sz="1200">
                <a:solidFill>
                  <a:srgbClr val="DCE2EB"/>
                </a:solidFill>
              </a:defRPr>
            </a:pPr>
            <a:r>
              <a:t>• Χρήση native Box/Cylinder/Sphere meshes</a:t>
            </a:r>
          </a:p>
          <a:p>
            <a:pPr>
              <a:spcAft>
                <a:spcPts val="800"/>
              </a:spcAft>
              <a:defRPr sz="1200">
                <a:solidFill>
                  <a:srgbClr val="DCE2EB"/>
                </a:solidFill>
              </a:defRPr>
            </a:pPr>
            <a:r>
              <a:t>• Άμεση φόρτωση στη VRAM</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4ECDC4"/>
                </a:solidFill>
              </a:defRPr>
            </a:pPr>
            <a:r>
              <a:t>🎨 Rendering &amp; Draw Calls</a:t>
            </a:r>
          </a:p>
          <a:p>
            <a:pPr>
              <a:spcAft>
                <a:spcPts val="1200"/>
              </a:spcAft>
              <a:defRPr sz="1400" b="1">
                <a:solidFill>
                  <a:srgbClr val="FFFFFF"/>
                </a:solidFill>
              </a:defRPr>
            </a:pPr>
            <a:r>
              <a:t>PBR Material Batching</a:t>
            </a:r>
          </a:p>
          <a:p>
            <a:pPr>
              <a:spcAft>
                <a:spcPts val="800"/>
              </a:spcAft>
              <a:defRPr sz="1200">
                <a:solidFill>
                  <a:srgbClr val="DCE2EB"/>
                </a:solidFill>
              </a:defRPr>
            </a:pPr>
            <a:r>
              <a:t>• Επαναχρησιμοποίηση StandardMaterial3D</a:t>
            </a:r>
          </a:p>
          <a:p>
            <a:pPr>
              <a:spcAft>
                <a:spcPts val="800"/>
              </a:spcAft>
              <a:defRPr sz="1200">
                <a:solidFill>
                  <a:srgbClr val="DCE2EB"/>
                </a:solidFill>
              </a:defRPr>
            </a:pPr>
            <a:r>
              <a:t>• Ελαχιστοποίηση shader program swaps</a:t>
            </a:r>
          </a:p>
          <a:p>
            <a:pPr>
              <a:spcAft>
                <a:spcPts val="800"/>
              </a:spcAft>
              <a:defRPr sz="1200">
                <a:solidFill>
                  <a:srgbClr val="DCE2EB"/>
                </a:solidFill>
              </a:defRPr>
            </a:pPr>
            <a:r>
              <a:t>• Σταθερά 60+ FPS σε κάθε σύστημα</a:t>
            </a: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FFFFFF"/>
                </a:solidFill>
              </a:defRPr>
            </a:pPr>
            <a:r>
              <a:t>⚡ Logic &amp; Physics</a:t>
            </a:r>
          </a:p>
          <a:p>
            <a:pPr>
              <a:spcAft>
                <a:spcPts val="1200"/>
              </a:spcAft>
              <a:defRPr sz="1400" b="1">
                <a:solidFill>
                  <a:srgbClr val="FFFFFF"/>
                </a:solidFill>
              </a:defRPr>
            </a:pPr>
            <a:r>
              <a:t>Signals &amp; Jolt Physics</a:t>
            </a:r>
          </a:p>
          <a:p>
            <a:pPr>
              <a:spcAft>
                <a:spcPts val="800"/>
              </a:spcAft>
              <a:defRPr sz="1200">
                <a:solidFill>
                  <a:srgbClr val="DCE2EB"/>
                </a:solidFill>
              </a:defRPr>
            </a:pPr>
            <a:r>
              <a:t>• Jolt Physics: Ταχύτατο collision detection</a:t>
            </a:r>
          </a:p>
          <a:p>
            <a:pPr>
              <a:spcAft>
                <a:spcPts val="800"/>
              </a:spcAft>
              <a:defRPr sz="1200">
                <a:solidFill>
                  <a:srgbClr val="DCE2EB"/>
                </a:solidFill>
              </a:defRPr>
            </a:pPr>
            <a:r>
              <a:t>• Ασύγχρονη επικοινωνία (μηδενικό polling loop)</a:t>
            </a:r>
          </a:p>
          <a:p>
            <a:pPr>
              <a:spcAft>
                <a:spcPts val="800"/>
              </a:spcAft>
              <a:defRPr sz="1200">
                <a:solidFill>
                  <a:srgbClr val="DCE2EB"/>
                </a:solidFill>
              </a:defRPr>
            </a:pPr>
            <a:r>
              <a:t>• Καθαρή διαχείριση μνήμης &amp; Tweens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ΚΡΙΤΗΡΙΑ ΑΞΙΟΛΟΓΗΣΗΣ</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11. Ανταπόκριση στα Κριτήρια Αξιολόγησης</a:t>
            </a:r>
          </a:p>
          <a:p>
            <a:pPr>
              <a:defRPr sz="1400" i="1">
                <a:solidFill>
                  <a:srgbClr val="4ECDC4"/>
                </a:solidFill>
              </a:defRPr>
            </a:pPr>
            <a:r>
              <a:t>Πλήρης Κάλυψη των Απαιτήσεων της Εκφώνησης (ΠΑ.ΠΕΙ.)</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Κριτήρια Σχεδίασης &amp; Υλοποίησης</a:t>
            </a:r>
          </a:p>
          <a:p>
            <a:pPr>
              <a:spcAft>
                <a:spcPts val="900"/>
              </a:spcAft>
              <a:defRPr sz="1300">
                <a:solidFill>
                  <a:srgbClr val="DCE2EB"/>
                </a:solidFill>
              </a:defRPr>
            </a:pPr>
            <a:r>
              <a:t>• • Στοιχεία Μαθήματος: Πλήρης ενσωμάτωση τεχνικών 3D VR/Game development.</a:t>
            </a:r>
          </a:p>
          <a:p>
            <a:pPr>
              <a:spcAft>
                <a:spcPts val="900"/>
              </a:spcAft>
              <a:defRPr sz="1300">
                <a:solidFill>
                  <a:srgbClr val="DCE2EB"/>
                </a:solidFill>
              </a:defRPr>
            </a:pPr>
            <a:r>
              <a:t>• • Αληθοφάνεια: Συνεπής ατμόσφαιρα μυστικής βιβλιοθήκης με ρεαλιστικά PBR υλικά.</a:t>
            </a:r>
          </a:p>
          <a:p>
            <a:pPr>
              <a:spcAft>
                <a:spcPts val="900"/>
              </a:spcAft>
              <a:defRPr sz="1300">
                <a:solidFill>
                  <a:srgbClr val="DCE2EB"/>
                </a:solidFill>
              </a:defRPr>
            </a:pPr>
            <a:r>
              <a:t>• • Πληρότητα: Κλειστός, ολοκληρωμένος κύκλος παιχνιδιού χωρίς ασυνέχειες.</a:t>
            </a:r>
          </a:p>
          <a:p>
            <a:pPr>
              <a:spcAft>
                <a:spcPts val="900"/>
              </a:spcAft>
              <a:defRPr sz="1300">
                <a:solidFill>
                  <a:srgbClr val="DCE2EB"/>
                </a:solidFill>
              </a:defRPr>
            </a:pPr>
            <a:r>
              <a:t>• • Αισθητική: Ευπαρουσίαστο περιβάλλον, διακριτικός φωτισμός και PBR ανακλάσεις.</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Λειτουργικά &amp; Τεχνικά Κριτήρια</a:t>
            </a:r>
          </a:p>
          <a:p>
            <a:pPr>
              <a:spcAft>
                <a:spcPts val="900"/>
              </a:spcAft>
              <a:defRPr sz="1300">
                <a:solidFill>
                  <a:srgbClr val="DCE2EB"/>
                </a:solidFill>
              </a:defRPr>
            </a:pPr>
            <a:r>
              <a:t>• • Κίνηση (Animation): Πλούσια χρήση Tweens σε πόρτες, βιβλία, ράβδους και 3D χέρι.</a:t>
            </a:r>
          </a:p>
          <a:p>
            <a:pPr>
              <a:spcAft>
                <a:spcPts val="900"/>
              </a:spcAft>
              <a:defRPr sz="1300">
                <a:solidFill>
                  <a:srgbClr val="DCE2EB"/>
                </a:solidFill>
              </a:defRPr>
            </a:pPr>
            <a:r>
              <a:t>• • Λειτουργικότητα &amp; Χρηστικότητα: Διαισθητικός χειρισμός, adaptive crosshair και σαφείς προτροπές.</a:t>
            </a:r>
          </a:p>
          <a:p>
            <a:pPr>
              <a:spcAft>
                <a:spcPts val="900"/>
              </a:spcAft>
              <a:defRPr sz="1300">
                <a:solidFill>
                  <a:srgbClr val="DCE2EB"/>
                </a:solidFill>
              </a:defRPr>
            </a:pPr>
            <a:r>
              <a:t>• • Δομή &amp; Λογική Γρίφων: Δύο διαδοχικά στάδια με προηγμένη μαθηματική επαλήθευση.</a:t>
            </a:r>
          </a:p>
          <a:p>
            <a:pPr>
              <a:spcAft>
                <a:spcPts val="900"/>
              </a:spcAft>
              <a:defRPr sz="1300">
                <a:solidFill>
                  <a:srgbClr val="DCE2EB"/>
                </a:solidFill>
              </a:defRPr>
            </a:pPr>
            <a:r>
              <a:t>• • Ποιότητα Κώδικα: Καθαρός, αναλυτικά σχολιασμένος GDScript κώδικας.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ΚΩΔΙΚΑΣ &amp; SCRIPTS</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12. Ανάλυση GDScript Scripts</a:t>
            </a:r>
          </a:p>
          <a:p>
            <a:pPr>
              <a:defRPr sz="1400" i="1">
                <a:solidFill>
                  <a:srgbClr val="4ECDC4"/>
                </a:solidFill>
              </a:defRPr>
            </a:pPr>
            <a:r>
              <a:t>Αρχιτεκτονική Κώδικα &amp; Διαχωρισμός Λειτουργιών</a:t>
            </a:r>
          </a:p>
        </p:txBody>
      </p:sp>
      <p:sp>
        <p:nvSpPr>
          <p:cNvPr id="6" name="Rounded Rectangle 5"/>
          <p:cNvSpPr/>
          <p:nvPr/>
        </p:nvSpPr>
        <p:spPr>
          <a:xfrm>
            <a:off x="731520" y="1691640"/>
            <a:ext cx="3364992"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D4AF37"/>
                </a:solidFill>
              </a:defRPr>
            </a:pPr>
            <a:r>
              <a:t>🏃 player.gd</a:t>
            </a:r>
          </a:p>
          <a:p>
            <a:pPr>
              <a:spcAft>
                <a:spcPts val="1200"/>
              </a:spcAft>
              <a:defRPr sz="1400" b="1">
                <a:solidFill>
                  <a:srgbClr val="FFFFFF"/>
                </a:solidFill>
              </a:defRPr>
            </a:pPr>
            <a:r>
              <a:t>180 Γραμμές Κώδικα</a:t>
            </a:r>
          </a:p>
          <a:p>
            <a:pPr>
              <a:spcAft>
                <a:spcPts val="800"/>
              </a:spcAft>
              <a:defRPr sz="1200">
                <a:solidFill>
                  <a:srgbClr val="DCE2EB"/>
                </a:solidFill>
              </a:defRPr>
            </a:pPr>
            <a:r>
              <a:t>• FPS Movement &amp; Mouse Look</a:t>
            </a:r>
          </a:p>
          <a:p>
            <a:pPr>
              <a:spcAft>
                <a:spcPts val="800"/>
              </a:spcAft>
              <a:defRPr sz="1200">
                <a:solidFill>
                  <a:srgbClr val="DCE2EB"/>
                </a:solidFill>
              </a:defRPr>
            </a:pPr>
            <a:r>
              <a:t>• RayCast3D Interaction Loop</a:t>
            </a:r>
          </a:p>
          <a:p>
            <a:pPr>
              <a:spcAft>
                <a:spcPts val="800"/>
              </a:spcAft>
              <a:defRPr sz="1200">
                <a:solidFill>
                  <a:srgbClr val="DCE2EB"/>
                </a:solidFill>
              </a:defRPr>
            </a:pPr>
            <a:r>
              <a:t>• 3D Hand Tweening Animation</a:t>
            </a:r>
          </a:p>
          <a:p>
            <a:pPr>
              <a:spcAft>
                <a:spcPts val="800"/>
              </a:spcAft>
              <a:defRPr sz="1200">
                <a:solidFill>
                  <a:srgbClr val="DCE2EB"/>
                </a:solidFill>
              </a:defRPr>
            </a:pPr>
            <a:r>
              <a:t>• Adaptive UI Crosshair &amp; Prompts</a:t>
            </a:r>
          </a:p>
          <a:p>
            <a:pPr>
              <a:spcAft>
                <a:spcPts val="800"/>
              </a:spcAft>
              <a:defRPr sz="1200">
                <a:solidFill>
                  <a:srgbClr val="DCE2EB"/>
                </a:solidFill>
              </a:defRPr>
            </a:pPr>
            <a:r>
              <a:t>• Escape &amp; Auto-Quit Trigger</a:t>
            </a:r>
          </a:p>
        </p:txBody>
      </p:sp>
      <p:sp>
        <p:nvSpPr>
          <p:cNvPr id="7" name="Rounded Rectangle 6"/>
          <p:cNvSpPr/>
          <p:nvPr/>
        </p:nvSpPr>
        <p:spPr>
          <a:xfrm>
            <a:off x="4407407" y="1691640"/>
            <a:ext cx="3364992"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4ECDC4"/>
                </a:solidFill>
              </a:defRPr>
            </a:pPr>
            <a:r>
              <a:t>🧠 game_manager.gd</a:t>
            </a:r>
          </a:p>
          <a:p>
            <a:pPr>
              <a:spcAft>
                <a:spcPts val="1200"/>
              </a:spcAft>
              <a:defRPr sz="1400" b="1">
                <a:solidFill>
                  <a:srgbClr val="FFFFFF"/>
                </a:solidFill>
              </a:defRPr>
            </a:pPr>
            <a:r>
              <a:t>285 Γραμμές Κώδικα</a:t>
            </a:r>
          </a:p>
          <a:p>
            <a:pPr>
              <a:spcAft>
                <a:spcPts val="800"/>
              </a:spcAft>
              <a:defRPr sz="1200">
                <a:solidFill>
                  <a:srgbClr val="DCE2EB"/>
                </a:solidFill>
              </a:defRPr>
            </a:pPr>
            <a:r>
              <a:t>• Bookshelf Sequence State Machine</a:t>
            </a:r>
          </a:p>
          <a:p>
            <a:pPr>
              <a:spcAft>
                <a:spcPts val="800"/>
              </a:spcAft>
              <a:defRPr sz="1200">
                <a:solidFill>
                  <a:srgbClr val="DCE2EB"/>
                </a:solidFill>
              </a:defRPr>
            </a:pPr>
            <a:r>
              <a:t>• Triangle Puzzle Geometry Solver</a:t>
            </a:r>
          </a:p>
          <a:p>
            <a:pPr>
              <a:spcAft>
                <a:spcPts val="800"/>
              </a:spcAft>
              <a:defRPr sz="1200">
                <a:solidFill>
                  <a:srgbClr val="DCE2EB"/>
                </a:solidFill>
              </a:defRPr>
            </a:pPr>
            <a:r>
              <a:t>• 180° Symmetry Permutation Logic</a:t>
            </a:r>
          </a:p>
          <a:p>
            <a:pPr>
              <a:spcAft>
                <a:spcPts val="800"/>
              </a:spcAft>
              <a:defRPr sz="1200">
                <a:solidFill>
                  <a:srgbClr val="DCE2EB"/>
                </a:solidFill>
              </a:defRPr>
            </a:pPr>
            <a:r>
              <a:t>• Crystal Indicators Emission Control</a:t>
            </a:r>
          </a:p>
          <a:p>
            <a:pPr>
              <a:spcAft>
                <a:spcPts val="800"/>
              </a:spcAft>
              <a:defRPr sz="1200">
                <a:solidFill>
                  <a:srgbClr val="DCE2EB"/>
                </a:solidFill>
              </a:defRPr>
            </a:pPr>
            <a:r>
              <a:t>• Secret Bookcase Door Animation</a:t>
            </a:r>
          </a:p>
        </p:txBody>
      </p:sp>
      <p:sp>
        <p:nvSpPr>
          <p:cNvPr id="8" name="Rounded Rectangle 7"/>
          <p:cNvSpPr/>
          <p:nvPr/>
        </p:nvSpPr>
        <p:spPr>
          <a:xfrm>
            <a:off x="8083296" y="1691640"/>
            <a:ext cx="3364992" cy="4663440"/>
          </a:xfrm>
          <a:prstGeom prst="roundRect">
            <a:avLst/>
          </a:prstGeom>
          <a:solidFill>
            <a:srgbClr val="1C254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274320" bIns="274320"/>
          <a:lstStyle/>
          <a:p>
            <a:pPr algn="ctr">
              <a:defRPr sz="1600" b="1">
                <a:solidFill>
                  <a:srgbClr val="FFFFFF"/>
                </a:solidFill>
              </a:defRPr>
            </a:pPr>
            <a:r>
              <a:t>🔌 interactable.gd</a:t>
            </a:r>
          </a:p>
          <a:p>
            <a:pPr>
              <a:spcAft>
                <a:spcPts val="1200"/>
              </a:spcAft>
              <a:defRPr sz="1400" b="1">
                <a:solidFill>
                  <a:srgbClr val="FFFFFF"/>
                </a:solidFill>
              </a:defRPr>
            </a:pPr>
            <a:r>
              <a:t>35 Γραμμές Κώδικα</a:t>
            </a:r>
          </a:p>
          <a:p>
            <a:pPr>
              <a:spcAft>
                <a:spcPts val="800"/>
              </a:spcAft>
              <a:defRPr sz="1200">
                <a:solidFill>
                  <a:srgbClr val="DCE2EB"/>
                </a:solidFill>
              </a:defRPr>
            </a:pPr>
            <a:r>
              <a:t>• Επαναχρησιμοποιήσιμη Base Class</a:t>
            </a:r>
          </a:p>
          <a:p>
            <a:pPr>
              <a:spcAft>
                <a:spcPts val="800"/>
              </a:spcAft>
              <a:defRPr sz="1200">
                <a:solidFill>
                  <a:srgbClr val="DCE2EB"/>
                </a:solidFill>
              </a:defRPr>
            </a:pPr>
            <a:r>
              <a:t>• Extension of CollisionObject3D</a:t>
            </a:r>
          </a:p>
          <a:p>
            <a:pPr>
              <a:spcAft>
                <a:spcPts val="800"/>
              </a:spcAft>
              <a:defRPr sz="1200">
                <a:solidFill>
                  <a:srgbClr val="DCE2EB"/>
                </a:solidFill>
              </a:defRPr>
            </a:pPr>
            <a:r>
              <a:t>• prompt_message Property</a:t>
            </a:r>
          </a:p>
          <a:p>
            <a:pPr>
              <a:spcAft>
                <a:spcPts val="800"/>
              </a:spcAft>
              <a:defRPr sz="1200">
                <a:solidFill>
                  <a:srgbClr val="DCE2EB"/>
                </a:solidFill>
              </a:defRPr>
            </a:pPr>
            <a:r>
              <a:t>• is_interactive State Toggle</a:t>
            </a:r>
          </a:p>
          <a:p>
            <a:pPr>
              <a:spcAft>
                <a:spcPts val="800"/>
              </a:spcAft>
              <a:defRPr sz="1200">
                <a:solidFill>
                  <a:srgbClr val="DCE2EB"/>
                </a:solidFill>
              </a:defRPr>
            </a:pPr>
            <a:r>
              <a:t>• interacted(player) Signal Dispatch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320040"/>
          </a:xfrm>
          <a:prstGeom prst="rect">
            <a:avLst/>
          </a:prstGeom>
          <a:noFill/>
        </p:spPr>
        <p:txBody>
          <a:bodyPr wrap="none">
            <a:spAutoFit/>
          </a:bodyPr>
          <a:lstStyle/>
          <a:p>
            <a:pPr>
              <a:defRPr sz="1100" b="1">
                <a:solidFill>
                  <a:srgbClr val="D4AF37"/>
                </a:solidFill>
              </a:defRPr>
            </a:pPr>
            <a:r>
              <a:t>ΣΥΜΠΕΡΑΣΜΑΤΑ &amp; DEMO</a:t>
            </a:r>
          </a:p>
        </p:txBody>
      </p:sp>
      <p:sp>
        <p:nvSpPr>
          <p:cNvPr id="5" name="TextBox 4"/>
          <p:cNvSpPr txBox="1"/>
          <p:nvPr/>
        </p:nvSpPr>
        <p:spPr>
          <a:xfrm>
            <a:off x="731520" y="594360"/>
            <a:ext cx="10698480" cy="1005840"/>
          </a:xfrm>
          <a:prstGeom prst="rect">
            <a:avLst/>
          </a:prstGeom>
          <a:noFill/>
        </p:spPr>
        <p:txBody>
          <a:bodyPr wrap="square">
            <a:spAutoFit/>
          </a:bodyPr>
          <a:lstStyle/>
          <a:p>
            <a:pPr>
              <a:defRPr sz="2600" b="1">
                <a:solidFill>
                  <a:srgbClr val="FFFFFF"/>
                </a:solidFill>
              </a:defRPr>
            </a:pPr>
            <a:r>
              <a:t>13. Συμπεράσματα &amp; Παραδοτέα</a:t>
            </a:r>
          </a:p>
          <a:p>
            <a:pPr>
              <a:defRPr sz="1400" i="1">
                <a:solidFill>
                  <a:srgbClr val="4ECDC4"/>
                </a:solidFill>
              </a:defRPr>
            </a:pPr>
            <a:r>
              <a:t>Ολοκληρωμένη Εφαρμογή Escape Room σε Godot 4</a:t>
            </a:r>
          </a:p>
        </p:txBody>
      </p:sp>
      <p:sp>
        <p:nvSpPr>
          <p:cNvPr id="6" name="Rounded Rectangle 5"/>
          <p:cNvSpPr/>
          <p:nvPr/>
        </p:nvSpPr>
        <p:spPr>
          <a:xfrm>
            <a:off x="731520" y="1691640"/>
            <a:ext cx="5166360" cy="4663440"/>
          </a:xfrm>
          <a:prstGeom prst="roundRect">
            <a:avLst/>
          </a:prstGeom>
          <a:solidFill>
            <a:srgbClr val="1C2541"/>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D4AF37"/>
                </a:solidFill>
              </a:defRPr>
            </a:pPr>
            <a:r>
              <a:t>📦 Πλήρης Σουίτα Παραδοτέων</a:t>
            </a:r>
          </a:p>
          <a:p>
            <a:pPr>
              <a:spcAft>
                <a:spcPts val="900"/>
              </a:spcAft>
              <a:defRPr sz="1300">
                <a:solidFill>
                  <a:srgbClr val="DCE2EB"/>
                </a:solidFill>
              </a:defRPr>
            </a:pPr>
            <a:r>
              <a:t>• 1. Πλήρες Godot 4 Project με όλο τον πηγαίο κώδικα και σκηνές.</a:t>
            </a:r>
          </a:p>
          <a:p>
            <a:pPr>
              <a:spcAft>
                <a:spcPts val="900"/>
              </a:spcAft>
              <a:defRPr sz="1300">
                <a:solidFill>
                  <a:srgbClr val="DCE2EB"/>
                </a:solidFill>
              </a:defRPr>
            </a:pPr>
            <a:r>
              <a:t>• 2. Τεχνική Έκθεση &amp; Εγχειρίδιο (.docx) καλύπτοντας τα σημεία a–i.</a:t>
            </a:r>
          </a:p>
          <a:p>
            <a:pPr>
              <a:spcAft>
                <a:spcPts val="900"/>
              </a:spcAft>
              <a:defRPr sz="1300">
                <a:solidFill>
                  <a:srgbClr val="DCE2EB"/>
                </a:solidFill>
              </a:defRPr>
            </a:pPr>
            <a:r>
              <a:t>• 3. Παρουσίαση PowerPoint 14 διαφανειών (.pptx).</a:t>
            </a:r>
          </a:p>
          <a:p>
            <a:pPr>
              <a:spcAft>
                <a:spcPts val="900"/>
              </a:spcAft>
              <a:defRPr sz="1300">
                <a:solidFill>
                  <a:srgbClr val="DCE2EB"/>
                </a:solidFill>
              </a:defRPr>
            </a:pPr>
            <a:r>
              <a:t>• 4. Σενάριο Καταγραφής Βίντεο Voice-Over (VoiceOver_Video_Script.md).</a:t>
            </a:r>
          </a:p>
          <a:p>
            <a:pPr>
              <a:spcAft>
                <a:spcPts val="900"/>
              </a:spcAft>
              <a:defRPr sz="1300">
                <a:solidFill>
                  <a:srgbClr val="DCE2EB"/>
                </a:solidFill>
              </a:defRPr>
            </a:pPr>
            <a:r>
              <a:t>• 5. Build / Executable εφαρμογής.</a:t>
            </a:r>
          </a:p>
        </p:txBody>
      </p:sp>
      <p:sp>
        <p:nvSpPr>
          <p:cNvPr id="7" name="Rounded Rectangle 6"/>
          <p:cNvSpPr/>
          <p:nvPr/>
        </p:nvSpPr>
        <p:spPr>
          <a:xfrm>
            <a:off x="6263640" y="1691640"/>
            <a:ext cx="5166360" cy="4663440"/>
          </a:xfrm>
          <a:prstGeom prst="roundRect">
            <a:avLst/>
          </a:prstGeom>
          <a:solidFill>
            <a:srgbClr val="1C2541"/>
          </a:solidFill>
          <a:ln w="12700">
            <a:solidFill>
              <a:srgbClr val="4ECDC4"/>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74320" bIns="274320"/>
          <a:lstStyle/>
          <a:p>
            <a:pPr algn="ctr">
              <a:spcAft>
                <a:spcPts val="1400"/>
              </a:spcAft>
              <a:defRPr sz="1700" b="1">
                <a:solidFill>
                  <a:srgbClr val="4ECDC4"/>
                </a:solidFill>
              </a:defRPr>
            </a:pPr>
            <a:r>
              <a:t>🔗 Σύνδεσμοι &amp; Στοιχεία</a:t>
            </a:r>
          </a:p>
          <a:p>
            <a:pPr>
              <a:spcAft>
                <a:spcPts val="900"/>
              </a:spcAft>
              <a:defRPr sz="1300">
                <a:solidFill>
                  <a:srgbClr val="DCE2EB"/>
                </a:solidFill>
              </a:defRPr>
            </a:pPr>
            <a:r>
              <a:t>• GitHub Repository: https://github.com/MrMpek/SecretLibrary-EscapeRoom</a:t>
            </a:r>
          </a:p>
          <a:p>
            <a:pPr>
              <a:spcAft>
                <a:spcPts val="900"/>
              </a:spcAft>
              <a:defRPr sz="1300">
                <a:solidFill>
                  <a:srgbClr val="DCE2EB"/>
                </a:solidFill>
              </a:defRPr>
            </a:pPr>
            <a:r>
              <a:t>• Branch: main</a:t>
            </a:r>
          </a:p>
          <a:p>
            <a:pPr>
              <a:spcAft>
                <a:spcPts val="900"/>
              </a:spcAft>
              <a:defRPr sz="1300">
                <a:solidFill>
                  <a:srgbClr val="DCE2EB"/>
                </a:solidFill>
              </a:defRPr>
            </a:pPr>
            <a:r>
              <a:t>• Φοιτητής: Παναγιώτης Μπεκιάρης</a:t>
            </a:r>
          </a:p>
          <a:p>
            <a:pPr>
              <a:spcAft>
                <a:spcPts val="900"/>
              </a:spcAft>
              <a:defRPr sz="1300">
                <a:solidFill>
                  <a:srgbClr val="DCE2EB"/>
                </a:solidFill>
              </a:defRPr>
            </a:pPr>
            <a:r>
              <a:t>• ΠΜΣ Προηγμένα Συστήματα Πληροφορικής, Πανεπιστήμιο Πειραιώς</a:t>
            </a:r>
          </a:p>
          <a:p>
            <a:pPr>
              <a:spcAft>
                <a:spcPts val="900"/>
              </a:spcAft>
              <a:defRPr sz="1300">
                <a:solidFill>
                  <a:srgbClr val="DCE2EB"/>
                </a:solidFill>
              </a:defRPr>
            </a:pPr>
            <a:r>
              <a:t>• Σας ευχαριστώ πολύ για την προσοχή σας!</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