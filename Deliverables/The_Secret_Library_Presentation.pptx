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3"/>
    <p:restoredTop sz="94767"/>
  </p:normalViewPr>
  <p:slideViewPr>
    <p:cSldViewPr snapToGrid="0" snapToObjects="1">
      <p:cViewPr varScale="1">
        <p:scale>
          <a:sx n="146" d="100"/>
          <a:sy n="146" d="100"/>
        </p:scale>
        <p:origin x="106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8164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Καλησπέρα σας. Παρουσιάζω την απαλλακτική εργασία μου για το μάθημα Ευφυή Εικονικά Περιβάλλοντα και Ανάπτυξη Παιχνιδιών με τίτλο 'The Secret Library'. Πρόκειται για ένα πλήρες 3D Escape Room ανεπτυγμένο στη Godot Engine 4.</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Η εργασία εντάσσεται στο Θέμα 5 της εκφώνησης. Στόχος ήταν η δημιουργία ενός πειστικού, ολοκληρωμένου Escape Room με συνεπή λογική γρίφων και υψηλή αισθητική αρτιότητα.</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Χρησιμοποιήθηκε η Godot 4.7 με GDScript. Για τη φυσική αξιοποιήθηκε η μηχανή Jolt Physics που προσφέρει κορυφαία σταθερότητα και απόδοση.</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Η σκηνή main.tscn έχει σχεδιαστεί με απόλυτο διαχωρισμό ευθυνών. Ο GameManager συνδέεται ασύγχρονα με όλα τα αντικείμενα μέσω σημάτων, εξασφαλίζοντας σταθερότητα.</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Στο player.gd υλοποιήσαμε FPS controller με ανεξαρτησία γλώσσας πληκτρολογίου μέσω physical keycodes, ώστε το πλήκτρο E να λειτουργεί πάντα απρόσκοπτα.</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Αντί για ένα στατικό 2D εικονίδιο, σχεδιάσαμε ένα πλήρες τρισδιάστατο χέρι με 5 δάχτυλα που απλώνεται με Tween animation κάθε φορά που ο παίκτης αλληλεπιδρά.</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Η ανίχνευση γίνεται μέσω RayCast3D. Όταν ο παίκτης κοιτάζει κάποιο αντικείμενο, το στόχαστρο μετατρέπεται δυναμικά σε χέρι 🫱 και εμφανίζεται το κατάλληλο μήνυμα προτροπής.</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Στον 1ο γρίφο, ο παίκτης πρέπει να ανακαλύψει τη σειρά τραβήγματος των βιβλίων: Αριστερό, Δεξί, Μεσαίο. Οι φωτεινοί κρύσταλλοι δίνουν άμεσο οπτικό feedback.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Ο 2ος γρίφος απαιτεί τον σχηματισμό ενός τριγώνου. Αναπτύξαμε έναν έξυπνο αλγόριθμο ταξινόμησης γωνιών που αναγνωρίζει οποιονδήποτε έγκυρο σχηματισμό με συμμετρία 180 μοιρών.</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Μετά το τρίγωνο, το οικόσημο ανοίγει τη βιβλιοθήκη-πόρτα. Περνώντας την έξοδο, εμφανίζεται η οθόνη νίκης και μετά από 3 δευτερόλεπτα το παιχνίδι τερματίζει αυτόματα.</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Ιδιαίτερη έμφαση δόθηκε στη βελτιστοποίηση: μηδενικό μέγεθος assets μέσω procedural primitives, batching υλικών για χαμηλά draw calls, και Jolt Physics για ταχύτατες συγκρούσεις.</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Το έργο καλύπτει όλα τα κριτήρια της εκφώνησης: αληθοφάνεια, πληρότητα, κίνηση μέσω tweens, βελτιστοποίηση και άρτια δομημένη λογική γρίφων.</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Ο κώδικας χωρίζεται σε 3 βασικά scripts: player.gd για τον χειρισμό, game_manager.gd για τη λογική των γρίφων και interactable.gd ως βάση διαδραστικότητας.</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Συνοψίζοντας, παραδίδεται ένα πλήρες, λειτουργικό project με όλα τα ζητούμενα έγγραφα και παρουσιάσεις. Ευχαριστώ πολύ για την προσοχή σας!</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ounded Rectangle 3"/>
          <p:cNvSpPr/>
          <p:nvPr/>
        </p:nvSpPr>
        <p:spPr>
          <a:xfrm>
            <a:off x="2775167" y="312230"/>
            <a:ext cx="6641666" cy="671749"/>
          </a:xfrm>
          <a:prstGeom prst="roundRect">
            <a:avLst/>
          </a:prstGeom>
          <a:solidFill>
            <a:srgbClr val="1C2541"/>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D4AF37"/>
                </a:solidFill>
              </a:defRPr>
            </a:pPr>
            <a:r>
              <a:rPr sz="1600" dirty="0">
                <a:latin typeface="Times New Roman" panose="02020603050405020304" pitchFamily="18" charset="0"/>
                <a:cs typeface="Times New Roman" panose="02020603050405020304" pitchFamily="18" charset="0"/>
              </a:rPr>
              <a:t>ΠΑΝΕΠΙΣΤΗΜΙΟ ΠΕΙΡΑΙΩΣ | ΤΜΗΜΑ ΠΛΗΡΟΦΟΡΙΚΗΣ</a:t>
            </a:r>
          </a:p>
        </p:txBody>
      </p:sp>
      <p:sp>
        <p:nvSpPr>
          <p:cNvPr id="5" name="TextBox 4"/>
          <p:cNvSpPr txBox="1"/>
          <p:nvPr/>
        </p:nvSpPr>
        <p:spPr>
          <a:xfrm>
            <a:off x="1097280" y="1280160"/>
            <a:ext cx="10058400" cy="769441"/>
          </a:xfrm>
          <a:prstGeom prst="rect">
            <a:avLst/>
          </a:prstGeom>
          <a:noFill/>
        </p:spPr>
        <p:txBody>
          <a:bodyPr wrap="square">
            <a:spAutoFit/>
          </a:bodyPr>
          <a:lstStyle/>
          <a:p>
            <a:pPr algn="ctr">
              <a:defRPr sz="4400" b="1">
                <a:solidFill>
                  <a:srgbClr val="D4AF37"/>
                </a:solidFill>
              </a:defRPr>
            </a:pPr>
            <a:r>
              <a:rPr>
                <a:latin typeface="Times New Roman" panose="02020603050405020304" pitchFamily="18" charset="0"/>
                <a:cs typeface="Times New Roman" panose="02020603050405020304" pitchFamily="18" charset="0"/>
              </a:rPr>
              <a:t>The Secret Library</a:t>
            </a:r>
          </a:p>
        </p:txBody>
      </p:sp>
      <p:sp>
        <p:nvSpPr>
          <p:cNvPr id="6" name="TextBox 5"/>
          <p:cNvSpPr txBox="1"/>
          <p:nvPr/>
        </p:nvSpPr>
        <p:spPr>
          <a:xfrm>
            <a:off x="1097280" y="2468880"/>
            <a:ext cx="10058400" cy="430887"/>
          </a:xfrm>
          <a:prstGeom prst="rect">
            <a:avLst/>
          </a:prstGeom>
          <a:noFill/>
        </p:spPr>
        <p:txBody>
          <a:bodyPr wrap="square">
            <a:spAutoFit/>
          </a:bodyPr>
          <a:lstStyle/>
          <a:p>
            <a:pPr algn="ctr">
              <a:defRPr sz="2200">
                <a:solidFill>
                  <a:srgbClr val="4ECDC4"/>
                </a:solidFill>
              </a:defRPr>
            </a:pPr>
            <a:r>
              <a:rPr dirty="0">
                <a:latin typeface="Times New Roman" panose="02020603050405020304" pitchFamily="18" charset="0"/>
                <a:cs typeface="Times New Roman" panose="02020603050405020304" pitchFamily="18" charset="0"/>
              </a:rPr>
              <a:t>Interactive 3D Escape Room in Godot Engine 4</a:t>
            </a:r>
          </a:p>
        </p:txBody>
      </p:sp>
      <p:sp>
        <p:nvSpPr>
          <p:cNvPr id="7" name="Rounded Rectangle 6"/>
          <p:cNvSpPr/>
          <p:nvPr/>
        </p:nvSpPr>
        <p:spPr>
          <a:xfrm>
            <a:off x="1097279" y="3536949"/>
            <a:ext cx="9997135" cy="2560320"/>
          </a:xfrm>
          <a:prstGeom prst="roundRect">
            <a:avLst/>
          </a:prstGeom>
          <a:solidFill>
            <a:srgbClr val="1C2541"/>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wrap="square" lIns="457200" tIns="320040" rIns="457200" bIns="320040" rtlCol="0" anchor="ctr"/>
          <a:lstStyle/>
          <a:p>
            <a:pPr algn="ctr">
              <a:spcAft>
                <a:spcPts val="1000"/>
              </a:spcAft>
              <a:defRPr sz="1500" b="0">
                <a:solidFill>
                  <a:srgbClr val="DCE2EB"/>
                </a:solidFill>
              </a:defRPr>
            </a:pP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Μάθημ</a:t>
            </a:r>
            <a:r>
              <a:rPr sz="1600" dirty="0">
                <a:latin typeface="Times New Roman" panose="02020603050405020304" pitchFamily="18" charset="0"/>
                <a:cs typeface="Times New Roman" panose="02020603050405020304" pitchFamily="18" charset="0"/>
              </a:rPr>
              <a:t>α: </a:t>
            </a:r>
            <a:r>
              <a:rPr sz="1600" dirty="0" err="1">
                <a:latin typeface="Times New Roman" panose="02020603050405020304" pitchFamily="18" charset="0"/>
                <a:cs typeface="Times New Roman" panose="02020603050405020304" pitchFamily="18" charset="0"/>
              </a:rPr>
              <a:t>Ευφυή</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Εικονικά</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Περι</a:t>
            </a:r>
            <a:r>
              <a:rPr sz="1600" dirty="0">
                <a:latin typeface="Times New Roman" panose="02020603050405020304" pitchFamily="18" charset="0"/>
                <a:cs typeface="Times New Roman" panose="02020603050405020304" pitchFamily="18" charset="0"/>
              </a:rPr>
              <a:t>β</a:t>
            </a:r>
            <a:r>
              <a:rPr sz="1600" dirty="0" err="1">
                <a:latin typeface="Times New Roman" panose="02020603050405020304" pitchFamily="18" charset="0"/>
                <a:cs typeface="Times New Roman" panose="02020603050405020304" pitchFamily="18" charset="0"/>
              </a:rPr>
              <a:t>άλλοντ</a:t>
            </a:r>
            <a:r>
              <a:rPr sz="1600" dirty="0">
                <a:latin typeface="Times New Roman" panose="02020603050405020304" pitchFamily="18" charset="0"/>
                <a:cs typeface="Times New Roman" panose="02020603050405020304" pitchFamily="18" charset="0"/>
              </a:rPr>
              <a:t>α &amp; </a:t>
            </a:r>
            <a:r>
              <a:rPr sz="1600" dirty="0" err="1">
                <a:latin typeface="Times New Roman" panose="02020603050405020304" pitchFamily="18" charset="0"/>
                <a:cs typeface="Times New Roman" panose="02020603050405020304" pitchFamily="18" charset="0"/>
              </a:rPr>
              <a:t>Ανά</a:t>
            </a:r>
            <a:r>
              <a:rPr sz="1600" dirty="0">
                <a:latin typeface="Times New Roman" panose="02020603050405020304" pitchFamily="18" charset="0"/>
                <a:cs typeface="Times New Roman" panose="02020603050405020304" pitchFamily="18" charset="0"/>
              </a:rPr>
              <a:t>π</a:t>
            </a:r>
            <a:r>
              <a:rPr sz="1600" dirty="0" err="1">
                <a:latin typeface="Times New Roman" panose="02020603050405020304" pitchFamily="18" charset="0"/>
                <a:cs typeface="Times New Roman" panose="02020603050405020304" pitchFamily="18" charset="0"/>
              </a:rPr>
              <a:t>τυξη</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Π</a:t>
            </a:r>
            <a:r>
              <a:rPr sz="1600" dirty="0">
                <a:latin typeface="Times New Roman" panose="02020603050405020304" pitchFamily="18" charset="0"/>
                <a:cs typeface="Times New Roman" panose="02020603050405020304" pitchFamily="18" charset="0"/>
              </a:rPr>
              <a:t>α</a:t>
            </a:r>
            <a:r>
              <a:rPr sz="1600" dirty="0" err="1">
                <a:latin typeface="Times New Roman" panose="02020603050405020304" pitchFamily="18" charset="0"/>
                <a:cs typeface="Times New Roman" panose="02020603050405020304" pitchFamily="18" charset="0"/>
              </a:rPr>
              <a:t>ιχνιδιών</a:t>
            </a:r>
            <a:endParaRPr sz="1600" dirty="0">
              <a:latin typeface="Times New Roman" panose="02020603050405020304" pitchFamily="18" charset="0"/>
              <a:cs typeface="Times New Roman" panose="02020603050405020304" pitchFamily="18" charset="0"/>
            </a:endParaRPr>
          </a:p>
          <a:p>
            <a:pPr algn="ctr">
              <a:spcAft>
                <a:spcPts val="1000"/>
              </a:spcAft>
              <a:defRPr sz="1500" b="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Φοιτη</a:t>
            </a:r>
            <a:r>
              <a:rPr lang="el-GR" dirty="0" err="1">
                <a:latin typeface="Times New Roman" panose="02020603050405020304" pitchFamily="18" charset="0"/>
                <a:cs typeface="Times New Roman" panose="02020603050405020304" pitchFamily="18" charset="0"/>
              </a:rPr>
              <a:t>τές</a:t>
            </a:r>
            <a:r>
              <a:rPr dirty="0">
                <a:latin typeface="Times New Roman" panose="02020603050405020304" pitchFamily="18" charset="0"/>
                <a:cs typeface="Times New Roman" panose="02020603050405020304" pitchFamily="18" charset="0"/>
              </a:rPr>
              <a:t>: </a:t>
            </a:r>
            <a:endParaRPr lang="el-GR" dirty="0">
              <a:latin typeface="Times New Roman" panose="02020603050405020304" pitchFamily="18" charset="0"/>
              <a:cs typeface="Times New Roman" panose="02020603050405020304" pitchFamily="18" charset="0"/>
            </a:endParaRPr>
          </a:p>
          <a:p>
            <a:pPr algn="ctr">
              <a:spcAft>
                <a:spcPts val="1000"/>
              </a:spcAft>
              <a:defRPr sz="1500" b="0">
                <a:solidFill>
                  <a:srgbClr val="DCE2EB"/>
                </a:solidFill>
              </a:defRPr>
            </a:pPr>
            <a:r>
              <a:rPr dirty="0" err="1">
                <a:latin typeface="Times New Roman" panose="02020603050405020304" pitchFamily="18" charset="0"/>
                <a:cs typeface="Times New Roman" panose="02020603050405020304" pitchFamily="18" charset="0"/>
              </a:rPr>
              <a:t>Π</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γιώτης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εκιάρης</a:t>
            </a:r>
            <a:r>
              <a:rPr lang="el-G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mpsp2530)</a:t>
            </a:r>
            <a:endParaRPr lang="el-GR" dirty="0">
              <a:latin typeface="Times New Roman" panose="02020603050405020304" pitchFamily="18" charset="0"/>
              <a:cs typeface="Times New Roman" panose="02020603050405020304" pitchFamily="18" charset="0"/>
            </a:endParaRPr>
          </a:p>
          <a:p>
            <a:pPr algn="ctr">
              <a:spcAft>
                <a:spcPts val="1000"/>
              </a:spcAft>
              <a:defRPr sz="1500" b="0">
                <a:solidFill>
                  <a:srgbClr val="DCE2EB"/>
                </a:solidFill>
              </a:defRPr>
            </a:pPr>
            <a:r>
              <a:rPr lang="el-GR" dirty="0">
                <a:latin typeface="Times New Roman" panose="02020603050405020304" pitchFamily="18" charset="0"/>
                <a:cs typeface="Times New Roman" panose="02020603050405020304" pitchFamily="18" charset="0"/>
              </a:rPr>
              <a:t>Κωνσταντίνα </a:t>
            </a:r>
            <a:r>
              <a:rPr lang="el-GR" dirty="0" err="1">
                <a:latin typeface="Times New Roman" panose="02020603050405020304" pitchFamily="18" charset="0"/>
                <a:cs typeface="Times New Roman" panose="02020603050405020304" pitchFamily="18" charset="0"/>
              </a:rPr>
              <a:t>Τόσκα</a:t>
            </a:r>
            <a:r>
              <a:rPr lang="el-G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mpsp2552)</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731520" y="320040"/>
            <a:ext cx="2034531" cy="261610"/>
          </a:xfrm>
          <a:prstGeom prst="rect">
            <a:avLst/>
          </a:prstGeom>
          <a:noFill/>
        </p:spPr>
        <p:txBody>
          <a:bodyPr wrap="none">
            <a:spAutoFit/>
          </a:bodyPr>
          <a:lstStyle/>
          <a:p>
            <a:pPr>
              <a:defRPr sz="1100" b="1">
                <a:solidFill>
                  <a:srgbClr val="D4AF37"/>
                </a:solidFill>
              </a:defRPr>
            </a:pPr>
            <a:r>
              <a:rPr>
                <a:latin typeface="Times New Roman" panose="02020603050405020304" pitchFamily="18" charset="0"/>
                <a:cs typeface="Times New Roman" panose="02020603050405020304" pitchFamily="18" charset="0"/>
              </a:rPr>
              <a:t>ΘΕΜΑΤΟΛΟΓΙΑ &amp; ΣΤΟΧΟΙ</a:t>
            </a:r>
          </a:p>
        </p:txBody>
      </p:sp>
      <p:sp>
        <p:nvSpPr>
          <p:cNvPr id="5" name="TextBox 4"/>
          <p:cNvSpPr txBox="1"/>
          <p:nvPr/>
        </p:nvSpPr>
        <p:spPr>
          <a:xfrm>
            <a:off x="731520" y="594360"/>
            <a:ext cx="10698480" cy="707886"/>
          </a:xfrm>
          <a:prstGeom prst="rect">
            <a:avLst/>
          </a:prstGeom>
          <a:noFill/>
        </p:spPr>
        <p:txBody>
          <a:bodyPr wrap="square">
            <a:spAutoFit/>
          </a:bodyPr>
          <a:lstStyle/>
          <a:p>
            <a:pPr algn="ctr">
              <a:defRPr sz="2600" b="1">
                <a:solidFill>
                  <a:srgbClr val="FFFFFF"/>
                </a:solidFill>
              </a:defRPr>
            </a:pPr>
            <a:r>
              <a:rPr dirty="0">
                <a:latin typeface="Times New Roman" panose="02020603050405020304" pitchFamily="18" charset="0"/>
                <a:cs typeface="Times New Roman" panose="02020603050405020304" pitchFamily="18" charset="0"/>
              </a:rPr>
              <a:t>1. </a:t>
            </a:r>
            <a:r>
              <a:rPr dirty="0" err="1">
                <a:latin typeface="Times New Roman" panose="02020603050405020304" pitchFamily="18" charset="0"/>
                <a:cs typeface="Times New Roman" panose="02020603050405020304" pitchFamily="18" charset="0"/>
              </a:rPr>
              <a:t>Σκο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Έργου</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ιλογή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Θέμ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τος</a:t>
            </a:r>
            <a:endParaRPr dirty="0">
              <a:latin typeface="Times New Roman" panose="02020603050405020304" pitchFamily="18" charset="0"/>
              <a:cs typeface="Times New Roman" panose="02020603050405020304" pitchFamily="18" charset="0"/>
            </a:endParaRPr>
          </a:p>
          <a:p>
            <a:pPr algn="ctr">
              <a:defRPr sz="1400" i="1">
                <a:solidFill>
                  <a:srgbClr val="4ECDC4"/>
                </a:solidFill>
              </a:defRPr>
            </a:pPr>
            <a:r>
              <a:rPr dirty="0" err="1">
                <a:latin typeface="Times New Roman" panose="02020603050405020304" pitchFamily="18" charset="0"/>
                <a:cs typeface="Times New Roman" panose="02020603050405020304" pitchFamily="18" charset="0"/>
              </a:rPr>
              <a:t>Αντικείμενο</a:t>
            </a:r>
            <a:r>
              <a:rPr dirty="0">
                <a:latin typeface="Times New Roman" panose="02020603050405020304" pitchFamily="18" charset="0"/>
                <a:cs typeface="Times New Roman" panose="02020603050405020304" pitchFamily="18" charset="0"/>
              </a:rPr>
              <a:t> 5: Interactive Escape Room / Puzzle Environment</a:t>
            </a:r>
          </a:p>
        </p:txBody>
      </p:sp>
      <p:sp>
        <p:nvSpPr>
          <p:cNvPr id="6" name="Rounded Rectangle 5"/>
          <p:cNvSpPr/>
          <p:nvPr/>
        </p:nvSpPr>
        <p:spPr>
          <a:xfrm>
            <a:off x="731520" y="1691640"/>
            <a:ext cx="5166360" cy="4663440"/>
          </a:xfrm>
          <a:prstGeom prst="roundRect">
            <a:avLst/>
          </a:prstGeom>
          <a:solidFill>
            <a:srgbClr val="1C2541"/>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D4AF37"/>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Κύριοι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Στόχοι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Ανά</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τυξης</a:t>
            </a:r>
            <a:endParaRPr dirty="0">
              <a:latin typeface="Times New Roman" panose="02020603050405020304" pitchFamily="18" charset="0"/>
              <a:cs typeface="Times New Roman" panose="02020603050405020304" pitchFamily="18" charset="0"/>
            </a:endParaRP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Δημιουργί</a:t>
            </a:r>
            <a:r>
              <a:rPr dirty="0">
                <a:latin typeface="Times New Roman" panose="02020603050405020304" pitchFamily="18" charset="0"/>
                <a:cs typeface="Times New Roman" panose="02020603050405020304" pitchFamily="18" charset="0"/>
              </a:rPr>
              <a:t>α α</a:t>
            </a:r>
            <a:r>
              <a:rPr dirty="0" err="1">
                <a:latin typeface="Times New Roman" panose="02020603050405020304" pitchFamily="18" charset="0"/>
                <a:cs typeface="Times New Roman" panose="02020603050405020304" pitchFamily="18" charset="0"/>
              </a:rPr>
              <a:t>τμοσφ</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ιρικού</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τρισδιάστ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του</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χώρου</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μυστικής</a:t>
            </a:r>
            <a:r>
              <a:rPr dirty="0">
                <a:latin typeface="Times New Roman" panose="02020603050405020304" pitchFamily="18" charset="0"/>
                <a:cs typeface="Times New Roman" panose="02020603050405020304" pitchFamily="18" charset="0"/>
              </a:rPr>
              <a:t> β</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λιοθήκης</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Προο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τική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Πρώτου</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Προσώ</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ου</a:t>
            </a:r>
            <a:r>
              <a:rPr dirty="0">
                <a:latin typeface="Times New Roman" panose="02020603050405020304" pitchFamily="18" charset="0"/>
                <a:cs typeface="Times New Roman" panose="02020603050405020304" pitchFamily="18" charset="0"/>
              </a:rPr>
              <a:t> (FPS)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λήρη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έλεγχο</a:t>
            </a:r>
            <a:r>
              <a:rPr dirty="0">
                <a:latin typeface="Times New Roman" panose="02020603050405020304" pitchFamily="18" charset="0"/>
                <a:cs typeface="Times New Roman" panose="02020603050405020304" pitchFamily="18" charset="0"/>
              </a:rPr>
              <a:t> 360°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ρε</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λιστική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φυσική</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Σύστημ</a:t>
            </a:r>
            <a:r>
              <a:rPr dirty="0">
                <a:latin typeface="Times New Roman" panose="02020603050405020304" pitchFamily="18" charset="0"/>
                <a:cs typeface="Times New Roman" panose="02020603050405020304" pitchFamily="18" charset="0"/>
              </a:rPr>
              <a:t>α α</a:t>
            </a:r>
            <a:r>
              <a:rPr dirty="0" err="1">
                <a:latin typeface="Times New Roman" panose="02020603050405020304" pitchFamily="18" charset="0"/>
                <a:cs typeface="Times New Roman" panose="02020603050405020304" pitchFamily="18" charset="0"/>
              </a:rPr>
              <a:t>λληλε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ίδρ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RayCast3D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τρισδιάστ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τη</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ν</a:t>
            </a:r>
            <a:r>
              <a:rPr dirty="0">
                <a:latin typeface="Times New Roman" panose="02020603050405020304" pitchFamily="18" charset="0"/>
                <a:cs typeface="Times New Roman" panose="02020603050405020304" pitchFamily="18" charset="0"/>
              </a:rPr>
              <a:t>απα</a:t>
            </a:r>
            <a:r>
              <a:rPr dirty="0" err="1">
                <a:latin typeface="Times New Roman" panose="02020603050405020304" pitchFamily="18" charset="0"/>
                <a:cs typeface="Times New Roman" panose="02020603050405020304" pitchFamily="18" charset="0"/>
              </a:rPr>
              <a:t>ράστ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χεριού</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δοχική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ίλυση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μηχ</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νικών</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γεωμετρικών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γρίφων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δύο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έδων</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Πλήρης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κύκλος</a:t>
            </a:r>
            <a:r>
              <a:rPr dirty="0">
                <a:latin typeface="Times New Roman" panose="02020603050405020304" pitchFamily="18" charset="0"/>
                <a:cs typeface="Times New Roman" panose="02020603050405020304" pitchFamily="18" charset="0"/>
              </a:rPr>
              <a:t> πα</a:t>
            </a:r>
            <a:r>
              <a:rPr dirty="0" err="1">
                <a:latin typeface="Times New Roman" panose="02020603050405020304" pitchFamily="18" charset="0"/>
                <a:cs typeface="Times New Roman" panose="02020603050405020304" pitchFamily="18" charset="0"/>
              </a:rPr>
              <a:t>ιχνιδιού</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εξερεύνηση</a:t>
            </a:r>
            <a:r>
              <a:rPr dirty="0">
                <a:latin typeface="Times New Roman" panose="02020603050405020304" pitchFamily="18" charset="0"/>
                <a:cs typeface="Times New Roman" panose="02020603050405020304" pitchFamily="18" charset="0"/>
              </a:rPr>
              <a:t> ➔ </a:t>
            </a:r>
            <a:r>
              <a:rPr dirty="0" err="1">
                <a:latin typeface="Times New Roman" panose="02020603050405020304" pitchFamily="18" charset="0"/>
                <a:cs typeface="Times New Roman" panose="02020603050405020304" pitchFamily="18" charset="0"/>
              </a:rPr>
              <a:t>γρίφοι</a:t>
            </a:r>
            <a:r>
              <a:rPr dirty="0">
                <a:latin typeface="Times New Roman" panose="02020603050405020304" pitchFamily="18" charset="0"/>
                <a:cs typeface="Times New Roman" panose="02020603050405020304" pitchFamily="18" charset="0"/>
              </a:rPr>
              <a:t> ➔ απ</a:t>
            </a:r>
            <a:r>
              <a:rPr dirty="0" err="1">
                <a:latin typeface="Times New Roman" panose="02020603050405020304" pitchFamily="18" charset="0"/>
                <a:cs typeface="Times New Roman" panose="02020603050405020304" pitchFamily="18" charset="0"/>
              </a:rPr>
              <a:t>όδρ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ση</a:t>
            </a:r>
            <a:r>
              <a:rPr dirty="0">
                <a:latin typeface="Times New Roman" panose="02020603050405020304" pitchFamily="18" charset="0"/>
                <a:cs typeface="Times New Roman" panose="02020603050405020304" pitchFamily="18" charset="0"/>
              </a:rPr>
              <a:t> ➔ α</a:t>
            </a:r>
            <a:r>
              <a:rPr dirty="0" err="1">
                <a:latin typeface="Times New Roman" panose="02020603050405020304" pitchFamily="18" charset="0"/>
                <a:cs typeface="Times New Roman" panose="02020603050405020304" pitchFamily="18" charset="0"/>
              </a:rPr>
              <a:t>υτόμ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τερμ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τισμός</a:t>
            </a:r>
            <a:r>
              <a:rPr dirty="0">
                <a:latin typeface="Times New Roman" panose="02020603050405020304" pitchFamily="18" charset="0"/>
                <a:cs typeface="Times New Roman" panose="02020603050405020304" pitchFamily="18" charset="0"/>
              </a:rPr>
              <a:t>.</a:t>
            </a:r>
          </a:p>
        </p:txBody>
      </p:sp>
      <p:sp>
        <p:nvSpPr>
          <p:cNvPr id="7" name="Rounded Rectangle 6"/>
          <p:cNvSpPr/>
          <p:nvPr/>
        </p:nvSpPr>
        <p:spPr>
          <a:xfrm>
            <a:off x="6263640" y="1691640"/>
            <a:ext cx="5166360" cy="4663440"/>
          </a:xfrm>
          <a:prstGeom prst="roundRect">
            <a:avLst/>
          </a:prstGeom>
          <a:solidFill>
            <a:srgbClr val="1C2541"/>
          </a:solidFill>
          <a:ln w="12700">
            <a:solidFill>
              <a:srgbClr val="4ECDC4"/>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4ECDC4"/>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Θεμ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τική</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Αισθητική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υτότητ</a:t>
            </a:r>
            <a:r>
              <a:rPr dirty="0">
                <a:latin typeface="Times New Roman" panose="02020603050405020304" pitchFamily="18" charset="0"/>
                <a:cs typeface="Times New Roman" panose="02020603050405020304" pitchFamily="18" charset="0"/>
              </a:rPr>
              <a:t>α</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Αρχιτεκτονική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κλ</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σικής</a:t>
            </a:r>
            <a:r>
              <a:rPr dirty="0">
                <a:latin typeface="Times New Roman" panose="02020603050405020304" pitchFamily="18" charset="0"/>
                <a:cs typeface="Times New Roman" panose="02020603050405020304" pitchFamily="18" charset="0"/>
              </a:rPr>
              <a:t> β</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λιοθήκης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σκούρο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ξύλο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όνι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χρυσό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ρούτζο</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νομοιότυ</a:t>
            </a:r>
            <a:r>
              <a:rPr dirty="0">
                <a:latin typeface="Times New Roman" panose="02020603050405020304" pitchFamily="18" charset="0"/>
                <a:cs typeface="Times New Roman" panose="02020603050405020304" pitchFamily="18" charset="0"/>
              </a:rPr>
              <a:t>πα </a:t>
            </a:r>
            <a:r>
              <a:rPr dirty="0" err="1">
                <a:latin typeface="Times New Roman" panose="02020603050405020304" pitchFamily="18" charset="0"/>
                <a:cs typeface="Times New Roman" panose="02020603050405020304" pitchFamily="18" charset="0"/>
              </a:rPr>
              <a:t>δερμ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τόδετ</a:t>
            </a:r>
            <a:r>
              <a:rPr dirty="0">
                <a:latin typeface="Times New Roman" panose="02020603050405020304" pitchFamily="18" charset="0"/>
                <a:cs typeface="Times New Roman" panose="02020603050405020304" pitchFamily="18" charset="0"/>
              </a:rPr>
              <a:t>α β</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λί</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γι</a:t>
            </a:r>
            <a:r>
              <a:rPr dirty="0">
                <a:latin typeface="Times New Roman" panose="02020603050405020304" pitchFamily="18" charset="0"/>
                <a:cs typeface="Times New Roman" panose="02020603050405020304" pitchFamily="18" charset="0"/>
              </a:rPr>
              <a:t>α απ</a:t>
            </a:r>
            <a:r>
              <a:rPr dirty="0" err="1">
                <a:latin typeface="Times New Roman" panose="02020603050405020304" pitchFamily="18" charset="0"/>
                <a:cs typeface="Times New Roman" panose="02020603050405020304" pitchFamily="18" charset="0"/>
              </a:rPr>
              <a:t>όκρυψη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του</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μηχ</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νισμού</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Δυν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μικός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φωτισμός</a:t>
            </a:r>
            <a:r>
              <a:rPr dirty="0">
                <a:latin typeface="Times New Roman" panose="02020603050405020304" pitchFamily="18" charset="0"/>
                <a:cs typeface="Times New Roman" panose="02020603050405020304" pitchFamily="18" charset="0"/>
              </a:rPr>
              <a:t> PBR π</a:t>
            </a:r>
            <a:r>
              <a:rPr dirty="0" err="1">
                <a:latin typeface="Times New Roman" panose="02020603050405020304" pitchFamily="18" charset="0"/>
                <a:cs typeface="Times New Roman" panose="02020603050405020304" pitchFamily="18" charset="0"/>
              </a:rPr>
              <a:t>ου</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δεικνύει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τις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λε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τομέρειες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των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υλικών</a:t>
            </a:r>
            <a:r>
              <a:rPr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731520" y="320040"/>
            <a:ext cx="2117887" cy="261610"/>
          </a:xfrm>
          <a:prstGeom prst="rect">
            <a:avLst/>
          </a:prstGeom>
          <a:noFill/>
        </p:spPr>
        <p:txBody>
          <a:bodyPr wrap="none">
            <a:spAutoFit/>
          </a:bodyPr>
          <a:lstStyle/>
          <a:p>
            <a:pPr>
              <a:defRPr sz="1100" b="1">
                <a:solidFill>
                  <a:srgbClr val="D4AF37"/>
                </a:solidFill>
              </a:defRPr>
            </a:pPr>
            <a:r>
              <a:rPr>
                <a:latin typeface="Times New Roman" panose="02020603050405020304" pitchFamily="18" charset="0"/>
                <a:cs typeface="Times New Roman" panose="02020603050405020304" pitchFamily="18" charset="0"/>
              </a:rPr>
              <a:t>ΤΕΧΝΟΛΟΓΙΚΟ ΥΠΟΒΑΘΡΟ</a:t>
            </a:r>
          </a:p>
        </p:txBody>
      </p:sp>
      <p:sp>
        <p:nvSpPr>
          <p:cNvPr id="5" name="TextBox 4"/>
          <p:cNvSpPr txBox="1"/>
          <p:nvPr/>
        </p:nvSpPr>
        <p:spPr>
          <a:xfrm>
            <a:off x="731520" y="594360"/>
            <a:ext cx="10698480" cy="707886"/>
          </a:xfrm>
          <a:prstGeom prst="rect">
            <a:avLst/>
          </a:prstGeom>
          <a:noFill/>
        </p:spPr>
        <p:txBody>
          <a:bodyPr wrap="square">
            <a:spAutoFit/>
          </a:bodyPr>
          <a:lstStyle/>
          <a:p>
            <a:pPr algn="ctr">
              <a:defRPr sz="2600" b="1">
                <a:solidFill>
                  <a:srgbClr val="FFFFFF"/>
                </a:solidFill>
              </a:defRPr>
            </a:pPr>
            <a:r>
              <a:rPr dirty="0">
                <a:latin typeface="Times New Roman" panose="02020603050405020304" pitchFamily="18" charset="0"/>
                <a:cs typeface="Times New Roman" panose="02020603050405020304" pitchFamily="18" charset="0"/>
              </a:rPr>
              <a:t>2. </a:t>
            </a:r>
            <a:r>
              <a:rPr dirty="0" err="1">
                <a:latin typeface="Times New Roman" panose="02020603050405020304" pitchFamily="18" charset="0"/>
                <a:cs typeface="Times New Roman" panose="02020603050405020304" pitchFamily="18" charset="0"/>
              </a:rPr>
              <a:t>Εργ</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λεί</a:t>
            </a:r>
            <a:r>
              <a:rPr dirty="0">
                <a:latin typeface="Times New Roman" panose="02020603050405020304" pitchFamily="18" charset="0"/>
                <a:cs typeface="Times New Roman" panose="02020603050405020304" pitchFamily="18" charset="0"/>
              </a:rPr>
              <a:t>α &amp; </a:t>
            </a:r>
            <a:r>
              <a:rPr dirty="0" err="1">
                <a:latin typeface="Times New Roman" panose="02020603050405020304" pitchFamily="18" charset="0"/>
                <a:cs typeface="Times New Roman" panose="02020603050405020304" pitchFamily="18" charset="0"/>
              </a:rPr>
              <a:t>Τεχνολογίες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Ανά</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τυξης</a:t>
            </a:r>
            <a:endParaRPr dirty="0">
              <a:latin typeface="Times New Roman" panose="02020603050405020304" pitchFamily="18" charset="0"/>
              <a:cs typeface="Times New Roman" panose="02020603050405020304" pitchFamily="18" charset="0"/>
            </a:endParaRPr>
          </a:p>
          <a:p>
            <a:pPr algn="ctr">
              <a:defRPr sz="1400" i="1">
                <a:solidFill>
                  <a:srgbClr val="4ECDC4"/>
                </a:solidFill>
              </a:defRPr>
            </a:pPr>
            <a:r>
              <a:rPr dirty="0" err="1">
                <a:latin typeface="Times New Roman" panose="02020603050405020304" pitchFamily="18" charset="0"/>
                <a:cs typeface="Times New Roman" panose="02020603050405020304" pitchFamily="18" charset="0"/>
              </a:rPr>
              <a:t>Σύγχρονο</a:t>
            </a:r>
            <a:r>
              <a:rPr dirty="0">
                <a:latin typeface="Times New Roman" panose="02020603050405020304" pitchFamily="18" charset="0"/>
                <a:cs typeface="Times New Roman" panose="02020603050405020304" pitchFamily="18" charset="0"/>
              </a:rPr>
              <a:t> Open-Source Game Development Stack</a:t>
            </a:r>
          </a:p>
        </p:txBody>
      </p:sp>
      <p:sp>
        <p:nvSpPr>
          <p:cNvPr id="6" name="Rounded Rectangle 5"/>
          <p:cNvSpPr/>
          <p:nvPr/>
        </p:nvSpPr>
        <p:spPr>
          <a:xfrm>
            <a:off x="731520" y="1691640"/>
            <a:ext cx="3364992" cy="4663440"/>
          </a:xfrm>
          <a:prstGeom prst="roundRect">
            <a:avLst/>
          </a:prstGeom>
          <a:solidFill>
            <a:srgbClr val="1C2541"/>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wrap="square" lIns="256032" tIns="274320" rIns="256032" bIns="274320" rtlCol="0" anchor="ctr"/>
          <a:lstStyle/>
          <a:p>
            <a:pPr algn="ctr">
              <a:defRPr sz="1600" b="1">
                <a:solidFill>
                  <a:srgbClr val="D4AF37"/>
                </a:solidFill>
              </a:defRPr>
            </a:pPr>
            <a:r>
              <a:rPr dirty="0">
                <a:latin typeface="Times New Roman" panose="02020603050405020304" pitchFamily="18" charset="0"/>
                <a:cs typeface="Times New Roman" panose="02020603050405020304" pitchFamily="18" charset="0"/>
              </a:rPr>
              <a:t>🎮 Game Engine</a:t>
            </a:r>
          </a:p>
          <a:p>
            <a:pPr>
              <a:spcAft>
                <a:spcPts val="1200"/>
              </a:spcAft>
              <a:defRPr sz="1400" b="1">
                <a:solidFill>
                  <a:srgbClr val="FFFFFF"/>
                </a:solidFill>
              </a:defRPr>
            </a:pPr>
            <a:r>
              <a:rPr dirty="0">
                <a:latin typeface="Times New Roman" panose="02020603050405020304" pitchFamily="18" charset="0"/>
                <a:cs typeface="Times New Roman" panose="02020603050405020304" pitchFamily="18" charset="0"/>
              </a:rPr>
              <a:t>Godot Engine 4.7</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Forward+ 3D Renderer</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Σύγχρονο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σύστημ</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σκηνών</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κόμ</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ων</a:t>
            </a:r>
            <a:endParaRPr dirty="0">
              <a:latin typeface="Times New Roman" panose="02020603050405020304" pitchFamily="18" charset="0"/>
              <a:cs typeface="Times New Roman" panose="02020603050405020304" pitchFamily="18" charset="0"/>
            </a:endParaRP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Ελ</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φρύ</a:t>
            </a:r>
            <a:r>
              <a:rPr dirty="0">
                <a:latin typeface="Times New Roman" panose="02020603050405020304" pitchFamily="18" charset="0"/>
                <a:cs typeface="Times New Roman" panose="02020603050405020304" pitchFamily="18" charset="0"/>
              </a:rPr>
              <a:t> runtime &amp; </a:t>
            </a:r>
            <a:r>
              <a:rPr dirty="0" err="1">
                <a:latin typeface="Times New Roman" panose="02020603050405020304" pitchFamily="18" charset="0"/>
                <a:cs typeface="Times New Roman" panose="02020603050405020304" pitchFamily="18" charset="0"/>
              </a:rPr>
              <a:t>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χύτ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 export</a:t>
            </a:r>
          </a:p>
        </p:txBody>
      </p:sp>
      <p:sp>
        <p:nvSpPr>
          <p:cNvPr id="7" name="Rounded Rectangle 6"/>
          <p:cNvSpPr/>
          <p:nvPr/>
        </p:nvSpPr>
        <p:spPr>
          <a:xfrm>
            <a:off x="4407407" y="1691640"/>
            <a:ext cx="3364992" cy="4663440"/>
          </a:xfrm>
          <a:prstGeom prst="roundRect">
            <a:avLst/>
          </a:prstGeom>
          <a:solidFill>
            <a:srgbClr val="1C2541"/>
          </a:solidFill>
          <a:ln w="12700">
            <a:solidFill>
              <a:srgbClr val="4ECDC4"/>
            </a:solidFill>
          </a:ln>
        </p:spPr>
        <p:style>
          <a:lnRef idx="1">
            <a:schemeClr val="accent1"/>
          </a:lnRef>
          <a:fillRef idx="3">
            <a:schemeClr val="accent1"/>
          </a:fillRef>
          <a:effectRef idx="2">
            <a:schemeClr val="accent1"/>
          </a:effectRef>
          <a:fontRef idx="minor">
            <a:schemeClr val="lt1"/>
          </a:fontRef>
        </p:style>
        <p:txBody>
          <a:bodyPr wrap="square" lIns="256032" tIns="274320" rIns="256032" bIns="274320" rtlCol="0" anchor="ctr"/>
          <a:lstStyle/>
          <a:p>
            <a:pPr algn="ctr">
              <a:defRPr sz="1600" b="1">
                <a:solidFill>
                  <a:srgbClr val="4ECDC4"/>
                </a:solidFill>
              </a:defRPr>
            </a:pPr>
            <a:r>
              <a:rPr dirty="0">
                <a:latin typeface="Times New Roman" panose="02020603050405020304" pitchFamily="18" charset="0"/>
                <a:cs typeface="Times New Roman" panose="02020603050405020304" pitchFamily="18" charset="0"/>
              </a:rPr>
              <a:t>💻 Programming Language</a:t>
            </a:r>
          </a:p>
          <a:p>
            <a:pPr>
              <a:spcAft>
                <a:spcPts val="1200"/>
              </a:spcAft>
              <a:defRPr sz="1400" b="1">
                <a:solidFill>
                  <a:srgbClr val="FFFFFF"/>
                </a:solidFill>
              </a:defRPr>
            </a:pPr>
            <a:r>
              <a:rPr dirty="0" err="1">
                <a:latin typeface="Times New Roman" panose="02020603050405020304" pitchFamily="18" charset="0"/>
                <a:cs typeface="Times New Roman" panose="02020603050405020304" pitchFamily="18" charset="0"/>
              </a:rPr>
              <a:t>GDScript</a:t>
            </a:r>
            <a:r>
              <a:rPr dirty="0">
                <a:latin typeface="Times New Roman" panose="02020603050405020304" pitchFamily="18" charset="0"/>
                <a:cs typeface="Times New Roman" panose="02020603050405020304" pitchFamily="18" charset="0"/>
              </a:rPr>
              <a:t> 2.0</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Native </a:t>
            </a:r>
            <a:r>
              <a:rPr dirty="0" err="1">
                <a:latin typeface="Times New Roman" panose="02020603050405020304" pitchFamily="18" charset="0"/>
                <a:cs typeface="Times New Roman" panose="02020603050405020304" pitchFamily="18" charset="0"/>
              </a:rPr>
              <a:t>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χύτητ</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εκτέλεσης</a:t>
            </a:r>
            <a:endParaRPr dirty="0">
              <a:latin typeface="Times New Roman" panose="02020603050405020304" pitchFamily="18" charset="0"/>
              <a:cs typeface="Times New Roman" panose="02020603050405020304" pitchFamily="18" charset="0"/>
            </a:endParaRP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Αρχιτεκτονική</a:t>
            </a:r>
            <a:r>
              <a:rPr dirty="0">
                <a:latin typeface="Times New Roman" panose="02020603050405020304" pitchFamily="18" charset="0"/>
                <a:cs typeface="Times New Roman" panose="02020603050405020304" pitchFamily="18" charset="0"/>
              </a:rPr>
              <a:t> Observer </a:t>
            </a:r>
            <a:r>
              <a:rPr dirty="0" err="1">
                <a:latin typeface="Times New Roman" panose="02020603050405020304" pitchFamily="18" charset="0"/>
                <a:cs typeface="Times New Roman" panose="02020603050405020304" pitchFamily="18" charset="0"/>
              </a:rPr>
              <a:t>μέσω</a:t>
            </a:r>
            <a:r>
              <a:rPr dirty="0">
                <a:latin typeface="Times New Roman" panose="02020603050405020304" pitchFamily="18" charset="0"/>
                <a:cs typeface="Times New Roman" panose="02020603050405020304" pitchFamily="18" charset="0"/>
              </a:rPr>
              <a:t> Signals</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Πλήρως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σχολι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σμένος</a:t>
            </a:r>
            <a:r>
              <a:rPr dirty="0">
                <a:latin typeface="Times New Roman" panose="02020603050405020304" pitchFamily="18" charset="0"/>
                <a:cs typeface="Times New Roman" panose="02020603050405020304" pitchFamily="18" charset="0"/>
              </a:rPr>
              <a:t>, modular </a:t>
            </a:r>
            <a:r>
              <a:rPr dirty="0" err="1">
                <a:latin typeface="Times New Roman" panose="02020603050405020304" pitchFamily="18" charset="0"/>
                <a:cs typeface="Times New Roman" panose="02020603050405020304" pitchFamily="18" charset="0"/>
              </a:rPr>
              <a:t>κώδικ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ς</a:t>
            </a:r>
            <a:endParaRPr dirty="0">
              <a:latin typeface="Times New Roman" panose="02020603050405020304" pitchFamily="18" charset="0"/>
              <a:cs typeface="Times New Roman" panose="02020603050405020304" pitchFamily="18" charset="0"/>
            </a:endParaRPr>
          </a:p>
        </p:txBody>
      </p:sp>
      <p:sp>
        <p:nvSpPr>
          <p:cNvPr id="8" name="Rounded Rectangle 7"/>
          <p:cNvSpPr/>
          <p:nvPr/>
        </p:nvSpPr>
        <p:spPr>
          <a:xfrm>
            <a:off x="8083296" y="1691640"/>
            <a:ext cx="3364992" cy="4663440"/>
          </a:xfrm>
          <a:prstGeom prst="roundRect">
            <a:avLst/>
          </a:prstGeom>
          <a:solidFill>
            <a:srgbClr val="1C2541"/>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56032" tIns="274320" rIns="256032" bIns="274320" rtlCol="0" anchor="ctr"/>
          <a:lstStyle/>
          <a:p>
            <a:pPr algn="ctr">
              <a:defRPr sz="1600" b="1">
                <a:solidFill>
                  <a:srgbClr val="FFFFFF"/>
                </a:solidFill>
              </a:defRPr>
            </a:pPr>
            <a:r>
              <a:rPr dirty="0">
                <a:latin typeface="Times New Roman" panose="02020603050405020304" pitchFamily="18" charset="0"/>
                <a:cs typeface="Times New Roman" panose="02020603050405020304" pitchFamily="18" charset="0"/>
              </a:rPr>
              <a:t>⚙️ Physics &amp; Control</a:t>
            </a:r>
          </a:p>
          <a:p>
            <a:pPr>
              <a:spcAft>
                <a:spcPts val="1200"/>
              </a:spcAft>
              <a:defRPr sz="1400" b="1">
                <a:solidFill>
                  <a:srgbClr val="FFFFFF"/>
                </a:solidFill>
              </a:defRPr>
            </a:pPr>
            <a:r>
              <a:rPr dirty="0">
                <a:latin typeface="Times New Roman" panose="02020603050405020304" pitchFamily="18" charset="0"/>
                <a:cs typeface="Times New Roman" panose="02020603050405020304" pitchFamily="18" charset="0"/>
              </a:rPr>
              <a:t>Jolt 3D &amp; Git</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Jolt Physics: </a:t>
            </a:r>
            <a:r>
              <a:rPr dirty="0" err="1">
                <a:latin typeface="Times New Roman" panose="02020603050405020304" pitchFamily="18" charset="0"/>
                <a:cs typeface="Times New Roman" panose="02020603050405020304" pitchFamily="18" charset="0"/>
              </a:rPr>
              <a:t>Κορυφ</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ί</a:t>
            </a:r>
            <a:r>
              <a:rPr dirty="0">
                <a:latin typeface="Times New Roman" panose="02020603050405020304" pitchFamily="18" charset="0"/>
                <a:cs typeface="Times New Roman" panose="02020603050405020304" pitchFamily="18" charset="0"/>
              </a:rPr>
              <a:t>α απ</a:t>
            </a:r>
            <a:r>
              <a:rPr dirty="0" err="1">
                <a:latin typeface="Times New Roman" panose="02020603050405020304" pitchFamily="18" charset="0"/>
                <a:cs typeface="Times New Roman" panose="02020603050405020304" pitchFamily="18" charset="0"/>
              </a:rPr>
              <a:t>όδοση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συγκρούσεων</a:t>
            </a:r>
            <a:endParaRPr dirty="0">
              <a:latin typeface="Times New Roman" panose="02020603050405020304" pitchFamily="18" charset="0"/>
              <a:cs typeface="Times New Roman" panose="02020603050405020304" pitchFamily="18" charset="0"/>
            </a:endParaRP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PBR Materials &amp; Procedural Primitives</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GitHub Repository: </a:t>
            </a:r>
            <a:r>
              <a:rPr dirty="0" err="1">
                <a:latin typeface="Times New Roman" panose="02020603050405020304" pitchFamily="18" charset="0"/>
                <a:cs typeface="Times New Roman" panose="02020603050405020304" pitchFamily="18" charset="0"/>
              </a:rPr>
              <a:t>MrMpek</a:t>
            </a:r>
            <a:r>
              <a:rPr dirty="0">
                <a:latin typeface="Times New Roman" panose="02020603050405020304" pitchFamily="18" charset="0"/>
                <a:cs typeface="Times New Roman" panose="02020603050405020304" pitchFamily="18" charset="0"/>
              </a:rPr>
              <a:t>/</a:t>
            </a:r>
            <a:r>
              <a:rPr dirty="0" err="1">
                <a:latin typeface="Times New Roman" panose="02020603050405020304" pitchFamily="18" charset="0"/>
                <a:cs typeface="Times New Roman" panose="02020603050405020304" pitchFamily="18" charset="0"/>
              </a:rPr>
              <a:t>SecretLibrary</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4" name="TextBox 3"/>
          <p:cNvSpPr txBox="1"/>
          <p:nvPr/>
        </p:nvSpPr>
        <p:spPr>
          <a:xfrm>
            <a:off x="731520" y="320040"/>
            <a:ext cx="2058577" cy="261610"/>
          </a:xfrm>
          <a:prstGeom prst="rect">
            <a:avLst/>
          </a:prstGeom>
          <a:noFill/>
        </p:spPr>
        <p:txBody>
          <a:bodyPr wrap="none">
            <a:spAutoFit/>
          </a:bodyPr>
          <a:lstStyle/>
          <a:p>
            <a:pPr>
              <a:defRPr sz="1100" b="1">
                <a:solidFill>
                  <a:srgbClr val="D4AF37"/>
                </a:solidFill>
              </a:defRPr>
            </a:pPr>
            <a:r>
              <a:rPr>
                <a:latin typeface="Times New Roman" panose="02020603050405020304" pitchFamily="18" charset="0"/>
                <a:cs typeface="Times New Roman" panose="02020603050405020304" pitchFamily="18" charset="0"/>
              </a:rPr>
              <a:t>ΑΡΧΙΤΕΚΤΟΝΙΚΗ ΣΚΗΝΗΣ</a:t>
            </a:r>
          </a:p>
        </p:txBody>
      </p:sp>
      <p:sp>
        <p:nvSpPr>
          <p:cNvPr id="5" name="TextBox 4"/>
          <p:cNvSpPr txBox="1"/>
          <p:nvPr/>
        </p:nvSpPr>
        <p:spPr>
          <a:xfrm>
            <a:off x="731520" y="594360"/>
            <a:ext cx="10698480" cy="707886"/>
          </a:xfrm>
          <a:prstGeom prst="rect">
            <a:avLst/>
          </a:prstGeom>
          <a:noFill/>
        </p:spPr>
        <p:txBody>
          <a:bodyPr wrap="square">
            <a:spAutoFit/>
          </a:bodyPr>
          <a:lstStyle/>
          <a:p>
            <a:pPr algn="ctr">
              <a:defRPr sz="2600" b="1">
                <a:solidFill>
                  <a:srgbClr val="FFFFFF"/>
                </a:solidFill>
              </a:defRPr>
            </a:pPr>
            <a:r>
              <a:rPr dirty="0">
                <a:latin typeface="Times New Roman" panose="02020603050405020304" pitchFamily="18" charset="0"/>
                <a:cs typeface="Times New Roman" panose="02020603050405020304" pitchFamily="18" charset="0"/>
              </a:rPr>
              <a:t>3. </a:t>
            </a:r>
            <a:r>
              <a:rPr dirty="0" err="1">
                <a:latin typeface="Times New Roman" panose="02020603050405020304" pitchFamily="18" charset="0"/>
                <a:cs typeface="Times New Roman" panose="02020603050405020304" pitchFamily="18" charset="0"/>
              </a:rPr>
              <a:t>Δομή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Σκηνής</a:t>
            </a:r>
            <a:r>
              <a:rPr dirty="0">
                <a:latin typeface="Times New Roman" panose="02020603050405020304" pitchFamily="18" charset="0"/>
                <a:cs typeface="Times New Roman" panose="02020603050405020304" pitchFamily="18" charset="0"/>
              </a:rPr>
              <a:t> (Scene Hierarchy)</a:t>
            </a:r>
          </a:p>
          <a:p>
            <a:pPr algn="ctr">
              <a:defRPr sz="1400" i="1">
                <a:solidFill>
                  <a:srgbClr val="4ECDC4"/>
                </a:solidFill>
              </a:defRPr>
            </a:pPr>
            <a:r>
              <a:rPr dirty="0" err="1">
                <a:latin typeface="Times New Roman" panose="02020603050405020304" pitchFamily="18" charset="0"/>
                <a:cs typeface="Times New Roman" panose="02020603050405020304" pitchFamily="18" charset="0"/>
              </a:rPr>
              <a:t>Δι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χωρισμός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Ευθυνών</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Ιερ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ρχί</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Κόμ</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ων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main.tscn</a:t>
            </a:r>
            <a:endParaRPr dirty="0">
              <a:latin typeface="Times New Roman" panose="02020603050405020304" pitchFamily="18" charset="0"/>
              <a:cs typeface="Times New Roman" panose="02020603050405020304" pitchFamily="18" charset="0"/>
            </a:endParaRPr>
          </a:p>
        </p:txBody>
      </p:sp>
      <p:sp>
        <p:nvSpPr>
          <p:cNvPr id="6" name="Rounded Rectangle 5"/>
          <p:cNvSpPr/>
          <p:nvPr/>
        </p:nvSpPr>
        <p:spPr>
          <a:xfrm>
            <a:off x="731520" y="1691640"/>
            <a:ext cx="5166360" cy="4663440"/>
          </a:xfrm>
          <a:prstGeom prst="roundRect">
            <a:avLst/>
          </a:prstGeom>
          <a:solidFill>
            <a:srgbClr val="1C2541"/>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D4AF37"/>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Δενδρική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Δομή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Κόμ</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ων</a:t>
            </a:r>
            <a:endParaRPr dirty="0">
              <a:latin typeface="Times New Roman" panose="02020603050405020304" pitchFamily="18" charset="0"/>
              <a:cs typeface="Times New Roman" panose="02020603050405020304" pitchFamily="18" charset="0"/>
            </a:endParaRP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Main (Node3D): </a:t>
            </a:r>
            <a:r>
              <a:rPr dirty="0" err="1">
                <a:latin typeface="Times New Roman" panose="02020603050405020304" pitchFamily="18" charset="0"/>
                <a:cs typeface="Times New Roman" panose="02020603050405020304" pitchFamily="18" charset="0"/>
              </a:rPr>
              <a:t>Ρίζ</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της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σκηνής</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 </a:t>
            </a:r>
            <a:r>
              <a:rPr dirty="0" err="1">
                <a:latin typeface="Times New Roman" panose="02020603050405020304" pitchFamily="18" charset="0"/>
                <a:cs typeface="Times New Roman" panose="02020603050405020304" pitchFamily="18" charset="0"/>
              </a:rPr>
              <a:t>WorldEnvironment</a:t>
            </a:r>
            <a:r>
              <a:rPr dirty="0">
                <a:latin typeface="Times New Roman" panose="02020603050405020304" pitchFamily="18" charset="0"/>
                <a:cs typeface="Times New Roman" panose="02020603050405020304" pitchFamily="18" charset="0"/>
              </a:rPr>
              <a:t> &amp; Lights: </a:t>
            </a:r>
            <a:r>
              <a:rPr dirty="0" err="1">
                <a:latin typeface="Times New Roman" panose="02020603050405020304" pitchFamily="18" charset="0"/>
                <a:cs typeface="Times New Roman" panose="02020603050405020304" pitchFamily="18" charset="0"/>
              </a:rPr>
              <a:t>Ατμοσφ</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ιρικός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φωτισμός</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 Architecture: </a:t>
            </a:r>
            <a:r>
              <a:rPr dirty="0" err="1">
                <a:latin typeface="Times New Roman" panose="02020603050405020304" pitchFamily="18" charset="0"/>
                <a:cs typeface="Times New Roman" panose="02020603050405020304" pitchFamily="18" charset="0"/>
              </a:rPr>
              <a:t>Πάτωμ</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τοίχοι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οροφή</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 </a:t>
            </a:r>
            <a:r>
              <a:rPr dirty="0" err="1">
                <a:latin typeface="Times New Roman" panose="02020603050405020304" pitchFamily="18" charset="0"/>
                <a:cs typeface="Times New Roman" panose="02020603050405020304" pitchFamily="18" charset="0"/>
              </a:rPr>
              <a:t>ControlConsole</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Κεντρική</a:t>
            </a:r>
            <a:r>
              <a:rPr dirty="0">
                <a:latin typeface="Times New Roman" panose="02020603050405020304" pitchFamily="18" charset="0"/>
                <a:cs typeface="Times New Roman" panose="02020603050405020304" pitchFamily="18" charset="0"/>
              </a:rPr>
              <a:t> β</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λιοθήκη</a:t>
            </a:r>
            <a:r>
              <a:rPr dirty="0">
                <a:latin typeface="Times New Roman" panose="02020603050405020304" pitchFamily="18" charset="0"/>
                <a:cs typeface="Times New Roman" panose="02020603050405020304" pitchFamily="18" charset="0"/>
              </a:rPr>
              <a:t> &amp; 3 β</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λί</a:t>
            </a:r>
            <a:r>
              <a:rPr dirty="0">
                <a:latin typeface="Times New Roman" panose="02020603050405020304" pitchFamily="18" charset="0"/>
                <a:cs typeface="Times New Roman" panose="02020603050405020304" pitchFamily="18" charset="0"/>
              </a:rPr>
              <a:t>α.</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 </a:t>
            </a:r>
            <a:r>
              <a:rPr dirty="0" err="1">
                <a:latin typeface="Times New Roman" panose="02020603050405020304" pitchFamily="18" charset="0"/>
                <a:cs typeface="Times New Roman" panose="02020603050405020304" pitchFamily="18" charset="0"/>
              </a:rPr>
              <a:t>PuzzleTable</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Τρ</a:t>
            </a:r>
            <a:r>
              <a:rPr dirty="0">
                <a:latin typeface="Times New Roman" panose="02020603050405020304" pitchFamily="18" charset="0"/>
                <a:cs typeface="Times New Roman" panose="02020603050405020304" pitchFamily="18" charset="0"/>
              </a:rPr>
              <a:t>απ</a:t>
            </a:r>
            <a:r>
              <a:rPr dirty="0" err="1">
                <a:latin typeface="Times New Roman" panose="02020603050405020304" pitchFamily="18" charset="0"/>
                <a:cs typeface="Times New Roman" panose="02020603050405020304" pitchFamily="18" charset="0"/>
              </a:rPr>
              <a:t>έζι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3 π</a:t>
            </a:r>
            <a:r>
              <a:rPr dirty="0" err="1">
                <a:latin typeface="Times New Roman" panose="02020603050405020304" pitchFamily="18" charset="0"/>
                <a:cs typeface="Times New Roman" panose="02020603050405020304" pitchFamily="18" charset="0"/>
              </a:rPr>
              <a:t>εριστρεφόμενες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ρά</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δους</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 </a:t>
            </a:r>
            <a:r>
              <a:rPr dirty="0" err="1">
                <a:latin typeface="Times New Roman" panose="02020603050405020304" pitchFamily="18" charset="0"/>
                <a:cs typeface="Times New Roman" panose="02020603050405020304" pitchFamily="18" charset="0"/>
              </a:rPr>
              <a:t>ExitDoorPivot</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Περιστρεφόμενη</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όρτ</a:t>
            </a:r>
            <a:r>
              <a:rPr dirty="0">
                <a:latin typeface="Times New Roman" panose="02020603050405020304" pitchFamily="18" charset="0"/>
                <a:cs typeface="Times New Roman" panose="02020603050405020304" pitchFamily="18" charset="0"/>
              </a:rPr>
              <a:t>α &amp; </a:t>
            </a:r>
            <a:r>
              <a:rPr dirty="0" err="1">
                <a:latin typeface="Times New Roman" panose="02020603050405020304" pitchFamily="18" charset="0"/>
                <a:cs typeface="Times New Roman" panose="02020603050405020304" pitchFamily="18" charset="0"/>
              </a:rPr>
              <a:t>οικόσημο</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 Player: CharacterBody3D, Camera3D &amp; 3D Hand.</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 </a:t>
            </a:r>
            <a:r>
              <a:rPr dirty="0" err="1">
                <a:latin typeface="Times New Roman" panose="02020603050405020304" pitchFamily="18" charset="0"/>
                <a:cs typeface="Times New Roman" panose="02020603050405020304" pitchFamily="18" charset="0"/>
              </a:rPr>
              <a:t>GameManager</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Κεντρικός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ελεγκτής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λογικής</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 UI: </a:t>
            </a:r>
            <a:r>
              <a:rPr dirty="0" err="1">
                <a:latin typeface="Times New Roman" panose="02020603050405020304" pitchFamily="18" charset="0"/>
                <a:cs typeface="Times New Roman" panose="02020603050405020304" pitchFamily="18" charset="0"/>
              </a:rPr>
              <a:t>CanvasLayer</a:t>
            </a:r>
            <a:r>
              <a:rPr dirty="0">
                <a:latin typeface="Times New Roman" panose="02020603050405020304" pitchFamily="18" charset="0"/>
                <a:cs typeface="Times New Roman" panose="02020603050405020304" pitchFamily="18" charset="0"/>
              </a:rPr>
              <a:t> (Crosshair, Prompts, Victory).</a:t>
            </a:r>
          </a:p>
        </p:txBody>
      </p:sp>
      <p:sp>
        <p:nvSpPr>
          <p:cNvPr id="7" name="Rounded Rectangle 6"/>
          <p:cNvSpPr/>
          <p:nvPr/>
        </p:nvSpPr>
        <p:spPr>
          <a:xfrm>
            <a:off x="6263640" y="1691640"/>
            <a:ext cx="5166360" cy="4663440"/>
          </a:xfrm>
          <a:prstGeom prst="roundRect">
            <a:avLst/>
          </a:prstGeom>
          <a:solidFill>
            <a:srgbClr val="1C2541"/>
          </a:solidFill>
          <a:ln w="12700">
            <a:solidFill>
              <a:srgbClr val="4ECDC4"/>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4ECDC4"/>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Αρχιτεκτονικά</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Πλεονεκτήμ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a:t>
            </a:r>
            <a:r>
              <a:rPr dirty="0">
                <a:latin typeface="Times New Roman" panose="02020603050405020304" pitchFamily="18" charset="0"/>
                <a:cs typeface="Times New Roman" panose="02020603050405020304" pitchFamily="18" charset="0"/>
              </a:rPr>
              <a:t>α</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Modular </a:t>
            </a:r>
            <a:r>
              <a:rPr dirty="0" err="1">
                <a:latin typeface="Times New Roman" panose="02020603050405020304" pitchFamily="18" charset="0"/>
                <a:cs typeface="Times New Roman" panose="02020603050405020304" pitchFamily="18" charset="0"/>
              </a:rPr>
              <a:t>Σχεδι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σμός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Κάθε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δρ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στικό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στοιχείο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λειτουργεί</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υτόνομ</a:t>
            </a:r>
            <a:r>
              <a:rPr dirty="0">
                <a:latin typeface="Times New Roman" panose="02020603050405020304" pitchFamily="18" charset="0"/>
                <a:cs typeface="Times New Roman" panose="02020603050405020304" pitchFamily="18" charset="0"/>
              </a:rPr>
              <a:t>α.</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Signals Decoupling: </a:t>
            </a:r>
            <a:r>
              <a:rPr dirty="0" err="1">
                <a:latin typeface="Times New Roman" panose="02020603050405020304" pitchFamily="18" charset="0"/>
                <a:cs typeface="Times New Roman" panose="02020603050405020304" pitchFamily="18" charset="0"/>
              </a:rPr>
              <a:t>Α</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οφυγή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κυκλικών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εξ</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ρτήσεων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μετ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ξύ</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κλάσεων</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Dynamic Node Resolution: </a:t>
            </a:r>
            <a:r>
              <a:rPr dirty="0" err="1">
                <a:latin typeface="Times New Roman" panose="02020603050405020304" pitchFamily="18" charset="0"/>
                <a:cs typeface="Times New Roman" panose="02020603050405020304" pitchFamily="18" charset="0"/>
              </a:rPr>
              <a:t>Αυτόμ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σύνδεση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κόμ</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ων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τά</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 runtime (_ready).</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Zero External Assets: </a:t>
            </a:r>
            <a:r>
              <a:rPr dirty="0" err="1">
                <a:latin typeface="Times New Roman" panose="02020603050405020304" pitchFamily="18" charset="0"/>
                <a:cs typeface="Times New Roman" panose="02020603050405020304" pitchFamily="18" charset="0"/>
              </a:rPr>
              <a:t>Όλη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γεωμετρί</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δημιουργείτ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απ</a:t>
            </a:r>
            <a:r>
              <a:rPr dirty="0" err="1">
                <a:latin typeface="Times New Roman" panose="02020603050405020304" pitchFamily="18" charset="0"/>
                <a:cs typeface="Times New Roman" panose="02020603050405020304" pitchFamily="18" charset="0"/>
              </a:rPr>
              <a:t>ό</a:t>
            </a:r>
            <a:r>
              <a:rPr dirty="0">
                <a:latin typeface="Times New Roman" panose="02020603050405020304" pitchFamily="18" charset="0"/>
                <a:cs typeface="Times New Roman" panose="02020603050405020304" pitchFamily="18" charset="0"/>
              </a:rPr>
              <a:t> procedural primitives.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731520" y="320040"/>
            <a:ext cx="1619354" cy="261610"/>
          </a:xfrm>
          <a:prstGeom prst="rect">
            <a:avLst/>
          </a:prstGeom>
          <a:noFill/>
        </p:spPr>
        <p:txBody>
          <a:bodyPr wrap="none">
            <a:spAutoFit/>
          </a:bodyPr>
          <a:lstStyle/>
          <a:p>
            <a:pPr>
              <a:defRPr sz="1100" b="1">
                <a:solidFill>
                  <a:srgbClr val="D4AF37"/>
                </a:solidFill>
              </a:defRPr>
            </a:pPr>
            <a:r>
              <a:rPr>
                <a:latin typeface="Times New Roman" panose="02020603050405020304" pitchFamily="18" charset="0"/>
                <a:cs typeface="Times New Roman" panose="02020603050405020304" pitchFamily="18" charset="0"/>
              </a:rPr>
              <a:t>ΧΕΙΡΙΣΜΟΣ ΠΑΙΚΤΗ</a:t>
            </a:r>
          </a:p>
        </p:txBody>
      </p:sp>
      <p:sp>
        <p:nvSpPr>
          <p:cNvPr id="5" name="TextBox 4"/>
          <p:cNvSpPr txBox="1"/>
          <p:nvPr/>
        </p:nvSpPr>
        <p:spPr>
          <a:xfrm>
            <a:off x="731520" y="594360"/>
            <a:ext cx="10698480" cy="707886"/>
          </a:xfrm>
          <a:prstGeom prst="rect">
            <a:avLst/>
          </a:prstGeom>
          <a:noFill/>
        </p:spPr>
        <p:txBody>
          <a:bodyPr wrap="square">
            <a:spAutoFit/>
          </a:bodyPr>
          <a:lstStyle/>
          <a:p>
            <a:pPr algn="ctr">
              <a:defRPr sz="2600" b="1">
                <a:solidFill>
                  <a:srgbClr val="FFFFFF"/>
                </a:solidFill>
              </a:defRPr>
            </a:pPr>
            <a:r>
              <a:rPr dirty="0">
                <a:latin typeface="Times New Roman" panose="02020603050405020304" pitchFamily="18" charset="0"/>
                <a:cs typeface="Times New Roman" panose="02020603050405020304" pitchFamily="18" charset="0"/>
              </a:rPr>
              <a:t>4. FPS Controller &amp; </a:t>
            </a:r>
            <a:r>
              <a:rPr dirty="0" err="1">
                <a:latin typeface="Times New Roman" panose="02020603050405020304" pitchFamily="18" charset="0"/>
                <a:cs typeface="Times New Roman" panose="02020603050405020304" pitchFamily="18" charset="0"/>
              </a:rPr>
              <a:t>Κίνηση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Πρώτου</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Προσώ</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ου</a:t>
            </a:r>
            <a:endParaRPr dirty="0">
              <a:latin typeface="Times New Roman" panose="02020603050405020304" pitchFamily="18" charset="0"/>
              <a:cs typeface="Times New Roman" panose="02020603050405020304" pitchFamily="18" charset="0"/>
            </a:endParaRPr>
          </a:p>
          <a:p>
            <a:pPr algn="ctr">
              <a:defRPr sz="1400" i="1">
                <a:solidFill>
                  <a:srgbClr val="4ECDC4"/>
                </a:solidFill>
              </a:defRPr>
            </a:pPr>
            <a:r>
              <a:rPr dirty="0" err="1">
                <a:latin typeface="Times New Roman" panose="02020603050405020304" pitchFamily="18" charset="0"/>
                <a:cs typeface="Times New Roman" panose="02020603050405020304" pitchFamily="18" charset="0"/>
              </a:rPr>
              <a:t>Υλο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οίηση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στο</a:t>
            </a:r>
            <a:r>
              <a:rPr dirty="0">
                <a:latin typeface="Times New Roman" panose="02020603050405020304" pitchFamily="18" charset="0"/>
                <a:cs typeface="Times New Roman" panose="02020603050405020304" pitchFamily="18" charset="0"/>
              </a:rPr>
              <a:t> script </a:t>
            </a:r>
            <a:r>
              <a:rPr dirty="0" err="1">
                <a:latin typeface="Times New Roman" panose="02020603050405020304" pitchFamily="18" charset="0"/>
                <a:cs typeface="Times New Roman" panose="02020603050405020304" pitchFamily="18" charset="0"/>
              </a:rPr>
              <a:t>player.gd</a:t>
            </a:r>
            <a:endParaRPr dirty="0">
              <a:latin typeface="Times New Roman" panose="02020603050405020304" pitchFamily="18" charset="0"/>
              <a:cs typeface="Times New Roman" panose="02020603050405020304" pitchFamily="18" charset="0"/>
            </a:endParaRPr>
          </a:p>
        </p:txBody>
      </p:sp>
      <p:sp>
        <p:nvSpPr>
          <p:cNvPr id="6" name="Rounded Rectangle 5"/>
          <p:cNvSpPr/>
          <p:nvPr/>
        </p:nvSpPr>
        <p:spPr>
          <a:xfrm>
            <a:off x="731520" y="1691640"/>
            <a:ext cx="5166360" cy="4663440"/>
          </a:xfrm>
          <a:prstGeom prst="roundRect">
            <a:avLst/>
          </a:prstGeom>
          <a:solidFill>
            <a:srgbClr val="1C2541"/>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D4AF37"/>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Χειρισμός</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Κάμερ</a:t>
            </a:r>
            <a:r>
              <a:rPr dirty="0">
                <a:latin typeface="Times New Roman" panose="02020603050405020304" pitchFamily="18" charset="0"/>
                <a:cs typeface="Times New Roman" panose="02020603050405020304" pitchFamily="18" charset="0"/>
              </a:rPr>
              <a:t>α</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FPS Mouse Look: </a:t>
            </a:r>
            <a:r>
              <a:rPr dirty="0" err="1">
                <a:latin typeface="Times New Roman" panose="02020603050405020304" pitchFamily="18" charset="0"/>
                <a:cs typeface="Times New Roman" panose="02020603050405020304" pitchFamily="18" charset="0"/>
              </a:rPr>
              <a:t>Περιστροφή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κάμερ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ς</a:t>
            </a:r>
            <a:r>
              <a:rPr dirty="0">
                <a:latin typeface="Times New Roman" panose="02020603050405020304" pitchFamily="18" charset="0"/>
                <a:cs typeface="Times New Roman" panose="02020603050405020304" pitchFamily="18" charset="0"/>
              </a:rPr>
              <a:t> 360° </a:t>
            </a:r>
            <a:r>
              <a:rPr dirty="0" err="1">
                <a:latin typeface="Times New Roman" panose="02020603050405020304" pitchFamily="18" charset="0"/>
                <a:cs typeface="Times New Roman" panose="02020603050405020304" pitchFamily="18" charset="0"/>
              </a:rPr>
              <a:t>στον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οριζόντιο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άξον</a:t>
            </a:r>
            <a:r>
              <a:rPr dirty="0">
                <a:latin typeface="Times New Roman" panose="02020603050405020304" pitchFamily="18" charset="0"/>
                <a:cs typeface="Times New Roman" panose="02020603050405020304" pitchFamily="18" charset="0"/>
              </a:rPr>
              <a:t>α.</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Pitch Clamping: </a:t>
            </a:r>
            <a:r>
              <a:rPr dirty="0" err="1">
                <a:latin typeface="Times New Roman" panose="02020603050405020304" pitchFamily="18" charset="0"/>
                <a:cs typeface="Times New Roman" panose="02020603050405020304" pitchFamily="18" charset="0"/>
              </a:rPr>
              <a:t>Περιορισμός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κόρυφης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κλίσης</a:t>
            </a:r>
            <a:r>
              <a:rPr dirty="0">
                <a:latin typeface="Times New Roman" panose="02020603050405020304" pitchFamily="18" charset="0"/>
                <a:cs typeface="Times New Roman" panose="02020603050405020304" pitchFamily="18" charset="0"/>
              </a:rPr>
              <a:t> (-80° </a:t>
            </a:r>
            <a:r>
              <a:rPr dirty="0" err="1">
                <a:latin typeface="Times New Roman" panose="02020603050405020304" pitchFamily="18" charset="0"/>
                <a:cs typeface="Times New Roman" panose="02020603050405020304" pitchFamily="18" charset="0"/>
              </a:rPr>
              <a:t>έως</a:t>
            </a:r>
            <a:r>
              <a:rPr dirty="0">
                <a:latin typeface="Times New Roman" panose="02020603050405020304" pitchFamily="18" charset="0"/>
                <a:cs typeface="Times New Roman" panose="02020603050405020304" pitchFamily="18" charset="0"/>
              </a:rPr>
              <a:t> +80°) </a:t>
            </a:r>
            <a:r>
              <a:rPr dirty="0" err="1">
                <a:latin typeface="Times New Roman" panose="02020603050405020304" pitchFamily="18" charset="0"/>
                <a:cs typeface="Times New Roman" panose="02020603050405020304" pitchFamily="18" charset="0"/>
              </a:rPr>
              <a:t>γι</a:t>
            </a:r>
            <a:r>
              <a:rPr dirty="0">
                <a:latin typeface="Times New Roman" panose="02020603050405020304" pitchFamily="18" charset="0"/>
                <a:cs typeface="Times New Roman" panose="02020603050405020304" pitchFamily="18" charset="0"/>
              </a:rPr>
              <a:t>α απ</a:t>
            </a:r>
            <a:r>
              <a:rPr dirty="0" err="1">
                <a:latin typeface="Times New Roman" panose="02020603050405020304" pitchFamily="18" charset="0"/>
                <a:cs typeface="Times New Roman" panose="02020603050405020304" pitchFamily="18" charset="0"/>
              </a:rPr>
              <a:t>οφυγή</a:t>
            </a:r>
            <a:r>
              <a:rPr dirty="0">
                <a:latin typeface="Times New Roman" panose="02020603050405020304" pitchFamily="18" charset="0"/>
                <a:cs typeface="Times New Roman" panose="02020603050405020304" pitchFamily="18" charset="0"/>
              </a:rPr>
              <a:t> απ</a:t>
            </a:r>
            <a:r>
              <a:rPr dirty="0" err="1">
                <a:latin typeface="Times New Roman" panose="02020603050405020304" pitchFamily="18" charset="0"/>
                <a:cs typeface="Times New Roman" panose="02020603050405020304" pitchFamily="18" charset="0"/>
              </a:rPr>
              <a:t>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ροσ</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τολισμού</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Κίνηση</a:t>
            </a:r>
            <a:r>
              <a:rPr dirty="0">
                <a:latin typeface="Times New Roman" panose="02020603050405020304" pitchFamily="18" charset="0"/>
                <a:cs typeface="Times New Roman" panose="02020603050405020304" pitchFamily="18" charset="0"/>
              </a:rPr>
              <a:t>: Vector3 </a:t>
            </a:r>
            <a:r>
              <a:rPr dirty="0" err="1">
                <a:latin typeface="Times New Roman" panose="02020603050405020304" pitchFamily="18" charset="0"/>
                <a:cs typeface="Times New Roman" panose="02020603050405020304" pitchFamily="18" charset="0"/>
              </a:rPr>
              <a:t>normalisation</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move_and_slide</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εφ</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ρμογή</a:t>
            </a:r>
            <a:r>
              <a:rPr dirty="0">
                <a:latin typeface="Times New Roman" panose="02020603050405020304" pitchFamily="18" charset="0"/>
                <a:cs typeface="Times New Roman" panose="02020603050405020304" pitchFamily="18" charset="0"/>
              </a:rPr>
              <a:t> βα</a:t>
            </a:r>
            <a:r>
              <a:rPr dirty="0" err="1">
                <a:latin typeface="Times New Roman" panose="02020603050405020304" pitchFamily="18" charset="0"/>
                <a:cs typeface="Times New Roman" panose="02020603050405020304" pitchFamily="18" charset="0"/>
              </a:rPr>
              <a:t>ρύτητ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ς</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Mouse Capture: </a:t>
            </a:r>
            <a:r>
              <a:rPr dirty="0" err="1">
                <a:latin typeface="Times New Roman" panose="02020603050405020304" pitchFamily="18" charset="0"/>
                <a:cs typeface="Times New Roman" panose="02020603050405020304" pitchFamily="18" charset="0"/>
              </a:rPr>
              <a:t>Αυτόμ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κλείδωμ</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του</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κέρσορ</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ριστερό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κλικ</a:t>
            </a:r>
            <a:r>
              <a:rPr dirty="0">
                <a:latin typeface="Times New Roman" panose="02020603050405020304" pitchFamily="18" charset="0"/>
                <a:cs typeface="Times New Roman" panose="02020603050405020304" pitchFamily="18" charset="0"/>
              </a:rPr>
              <a:t> &amp; απ</a:t>
            </a:r>
            <a:r>
              <a:rPr dirty="0" err="1">
                <a:latin typeface="Times New Roman" panose="02020603050405020304" pitchFamily="18" charset="0"/>
                <a:cs typeface="Times New Roman" panose="02020603050405020304" pitchFamily="18" charset="0"/>
              </a:rPr>
              <a:t>ελευθέρωση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Escape.</a:t>
            </a:r>
          </a:p>
        </p:txBody>
      </p:sp>
      <p:sp>
        <p:nvSpPr>
          <p:cNvPr id="7" name="Rounded Rectangle 6"/>
          <p:cNvSpPr/>
          <p:nvPr/>
        </p:nvSpPr>
        <p:spPr>
          <a:xfrm>
            <a:off x="6263640" y="1691640"/>
            <a:ext cx="5166360" cy="4663440"/>
          </a:xfrm>
          <a:prstGeom prst="roundRect">
            <a:avLst/>
          </a:prstGeom>
          <a:solidFill>
            <a:srgbClr val="1C2541"/>
          </a:solidFill>
          <a:ln w="12700">
            <a:solidFill>
              <a:srgbClr val="4ECDC4"/>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4ECDC4"/>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Ανεξ</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ρτησί</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Διάτ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ξης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Πληκτρολογίου</a:t>
            </a:r>
            <a:endParaRPr dirty="0">
              <a:latin typeface="Times New Roman" panose="02020603050405020304" pitchFamily="18" charset="0"/>
              <a:cs typeface="Times New Roman" panose="02020603050405020304" pitchFamily="18" charset="0"/>
            </a:endParaRP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Πρό</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λημ</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Σε</a:t>
            </a:r>
            <a:r>
              <a:rPr dirty="0">
                <a:latin typeface="Times New Roman" panose="02020603050405020304" pitchFamily="18" charset="0"/>
                <a:cs typeface="Times New Roman" panose="02020603050405020304" pitchFamily="18" charset="0"/>
              </a:rPr>
              <a:t> macOS/Windows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ελληνικό</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ληκτρολόγιο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λήκτρο</a:t>
            </a:r>
            <a:r>
              <a:rPr dirty="0">
                <a:latin typeface="Times New Roman" panose="02020603050405020304" pitchFamily="18" charset="0"/>
                <a:cs typeface="Times New Roman" panose="02020603050405020304" pitchFamily="18" charset="0"/>
              </a:rPr>
              <a:t> E πα</a:t>
            </a:r>
            <a:r>
              <a:rPr dirty="0" err="1">
                <a:latin typeface="Times New Roman" panose="02020603050405020304" pitchFamily="18" charset="0"/>
                <a:cs typeface="Times New Roman" panose="02020603050405020304" pitchFamily="18" charset="0"/>
              </a:rPr>
              <a:t>ράγει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φορετικό</a:t>
            </a:r>
            <a:r>
              <a:rPr dirty="0">
                <a:latin typeface="Times New Roman" panose="02020603050405020304" pitchFamily="18" charset="0"/>
                <a:cs typeface="Times New Roman" panose="02020603050405020304" pitchFamily="18" charset="0"/>
              </a:rPr>
              <a:t> keycode.</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Λύση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Έλεγχος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event.physical_keycode</a:t>
            </a:r>
            <a:r>
              <a:rPr dirty="0">
                <a:latin typeface="Times New Roman" panose="02020603050405020304" pitchFamily="18" charset="0"/>
                <a:cs typeface="Times New Roman" panose="02020603050405020304" pitchFamily="18" charset="0"/>
              </a:rPr>
              <a:t> == KEY_E (Physical </a:t>
            </a:r>
            <a:r>
              <a:rPr dirty="0" err="1">
                <a:latin typeface="Times New Roman" panose="02020603050405020304" pitchFamily="18" charset="0"/>
                <a:cs typeface="Times New Roman" panose="02020603050405020304" pitchFamily="18" charset="0"/>
              </a:rPr>
              <a:t>Scancode</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Δι</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λή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Υ</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οστήριξη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Πλήρης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δυν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τότητ</a:t>
            </a:r>
            <a:r>
              <a:rPr dirty="0">
                <a:latin typeface="Times New Roman" panose="02020603050405020304" pitchFamily="18" charset="0"/>
                <a:cs typeface="Times New Roman" panose="02020603050405020304" pitchFamily="18" charset="0"/>
              </a:rPr>
              <a:t>α α</a:t>
            </a:r>
            <a:r>
              <a:rPr dirty="0" err="1">
                <a:latin typeface="Times New Roman" panose="02020603050405020304" pitchFamily="18" charset="0"/>
                <a:cs typeface="Times New Roman" panose="02020603050405020304" pitchFamily="18" charset="0"/>
              </a:rPr>
              <a:t>λληλε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ίδρ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μέσω</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Αριστερού</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Κλικ</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οτέλεσμ</a:t>
            </a:r>
            <a:r>
              <a:rPr dirty="0">
                <a:latin typeface="Times New Roman" panose="02020603050405020304" pitchFamily="18" charset="0"/>
                <a:cs typeface="Times New Roman" panose="02020603050405020304" pitchFamily="18" charset="0"/>
              </a:rPr>
              <a:t>α: 100% α</a:t>
            </a:r>
            <a:r>
              <a:rPr dirty="0" err="1">
                <a:latin typeface="Times New Roman" panose="02020603050405020304" pitchFamily="18" charset="0"/>
                <a:cs typeface="Times New Roman" panose="02020603050405020304" pitchFamily="18" charset="0"/>
              </a:rPr>
              <a:t>ξιό</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ιστος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χειρισμός</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νεξ</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ρτήτως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ενεργής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γλώσσ</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συστήμ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τος</a:t>
            </a:r>
            <a:r>
              <a:rPr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731520" y="320040"/>
            <a:ext cx="2459328" cy="261610"/>
          </a:xfrm>
          <a:prstGeom prst="rect">
            <a:avLst/>
          </a:prstGeom>
          <a:noFill/>
        </p:spPr>
        <p:txBody>
          <a:bodyPr wrap="none">
            <a:spAutoFit/>
          </a:bodyPr>
          <a:lstStyle/>
          <a:p>
            <a:pPr>
              <a:defRPr sz="1100" b="1">
                <a:solidFill>
                  <a:srgbClr val="D4AF37"/>
                </a:solidFill>
              </a:defRPr>
            </a:pPr>
            <a:r>
              <a:rPr>
                <a:latin typeface="Times New Roman" panose="02020603050405020304" pitchFamily="18" charset="0"/>
                <a:cs typeface="Times New Roman" panose="02020603050405020304" pitchFamily="18" charset="0"/>
              </a:rPr>
              <a:t>ΑΛΛΗΛΕΠΙΔΡΑΣΗ &amp; ΑΙΣΘΗΤΙΚΗ</a:t>
            </a:r>
          </a:p>
        </p:txBody>
      </p:sp>
      <p:sp>
        <p:nvSpPr>
          <p:cNvPr id="5" name="TextBox 4"/>
          <p:cNvSpPr txBox="1"/>
          <p:nvPr/>
        </p:nvSpPr>
        <p:spPr>
          <a:xfrm>
            <a:off x="731520" y="594360"/>
            <a:ext cx="10698480" cy="707886"/>
          </a:xfrm>
          <a:prstGeom prst="rect">
            <a:avLst/>
          </a:prstGeom>
          <a:noFill/>
        </p:spPr>
        <p:txBody>
          <a:bodyPr wrap="square">
            <a:spAutoFit/>
          </a:bodyPr>
          <a:lstStyle/>
          <a:p>
            <a:pPr algn="ctr">
              <a:defRPr sz="2600" b="1">
                <a:solidFill>
                  <a:srgbClr val="FFFFFF"/>
                </a:solidFill>
              </a:defRPr>
            </a:pPr>
            <a:r>
              <a:rPr dirty="0">
                <a:latin typeface="Times New Roman" panose="02020603050405020304" pitchFamily="18" charset="0"/>
                <a:cs typeface="Times New Roman" panose="02020603050405020304" pitchFamily="18" charset="0"/>
              </a:rPr>
              <a:t>5. </a:t>
            </a:r>
            <a:r>
              <a:rPr dirty="0" err="1">
                <a:latin typeface="Times New Roman" panose="02020603050405020304" pitchFamily="18" charset="0"/>
                <a:cs typeface="Times New Roman" panose="02020603050405020304" pitchFamily="18" charset="0"/>
              </a:rPr>
              <a:t>Τρισδιάστ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Χέρι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Πρώτου</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Προσώ</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ου</a:t>
            </a:r>
            <a:endParaRPr dirty="0">
              <a:latin typeface="Times New Roman" panose="02020603050405020304" pitchFamily="18" charset="0"/>
              <a:cs typeface="Times New Roman" panose="02020603050405020304" pitchFamily="18" charset="0"/>
            </a:endParaRPr>
          </a:p>
          <a:p>
            <a:pPr algn="ctr">
              <a:defRPr sz="1400" i="1">
                <a:solidFill>
                  <a:srgbClr val="4ECDC4"/>
                </a:solidFill>
              </a:defRPr>
            </a:pPr>
            <a:r>
              <a:rPr dirty="0">
                <a:latin typeface="Times New Roman" panose="02020603050405020304" pitchFamily="18" charset="0"/>
                <a:cs typeface="Times New Roman" panose="02020603050405020304" pitchFamily="18" charset="0"/>
              </a:rPr>
              <a:t>Procedural 3D Hand Model &amp; Animation</a:t>
            </a:r>
          </a:p>
        </p:txBody>
      </p:sp>
      <p:sp>
        <p:nvSpPr>
          <p:cNvPr id="6" name="Rounded Rectangle 5"/>
          <p:cNvSpPr/>
          <p:nvPr/>
        </p:nvSpPr>
        <p:spPr>
          <a:xfrm>
            <a:off x="731520" y="1691640"/>
            <a:ext cx="5166360" cy="4663440"/>
          </a:xfrm>
          <a:prstGeom prst="roundRect">
            <a:avLst/>
          </a:prstGeom>
          <a:solidFill>
            <a:srgbClr val="1C2541"/>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D4AF37"/>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Γεωμετρί</a:t>
            </a:r>
            <a:r>
              <a:rPr dirty="0">
                <a:latin typeface="Times New Roman" panose="02020603050405020304" pitchFamily="18" charset="0"/>
                <a:cs typeface="Times New Roman" panose="02020603050405020304" pitchFamily="18" charset="0"/>
              </a:rPr>
              <a:t>α &amp; </a:t>
            </a:r>
            <a:r>
              <a:rPr dirty="0" err="1">
                <a:latin typeface="Times New Roman" panose="02020603050405020304" pitchFamily="18" charset="0"/>
                <a:cs typeface="Times New Roman" panose="02020603050405020304" pitchFamily="18" charset="0"/>
              </a:rPr>
              <a:t>Αν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τομί</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Χεριού</a:t>
            </a:r>
            <a:endParaRPr dirty="0">
              <a:latin typeface="Times New Roman" panose="02020603050405020304" pitchFamily="18" charset="0"/>
              <a:cs typeface="Times New Roman" panose="02020603050405020304" pitchFamily="18" charset="0"/>
            </a:endParaRP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Ανθρώ</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ινη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τομί</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σκευή</a:t>
            </a:r>
            <a:r>
              <a:rPr dirty="0">
                <a:latin typeface="Times New Roman" panose="02020603050405020304" pitchFamily="18" charset="0"/>
                <a:cs typeface="Times New Roman" panose="02020603050405020304" pitchFamily="18" charset="0"/>
              </a:rPr>
              <a:t> πα</a:t>
            </a:r>
            <a:r>
              <a:rPr dirty="0" err="1">
                <a:latin typeface="Times New Roman" panose="02020603050405020304" pitchFamily="18" charset="0"/>
                <a:cs typeface="Times New Roman" panose="02020603050405020304" pitchFamily="18" charset="0"/>
              </a:rPr>
              <a:t>λάμης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BoxMesh</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5 </a:t>
            </a:r>
            <a:r>
              <a:rPr dirty="0" err="1">
                <a:latin typeface="Times New Roman" panose="02020603050405020304" pitchFamily="18" charset="0"/>
                <a:cs typeface="Times New Roman" panose="02020603050405020304" pitchFamily="18" charset="0"/>
              </a:rPr>
              <a:t>ξεχωριστών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χτύλων</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Αρθρωτός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Αντίχειρ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οθέτηση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στο</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λάι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φυσική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κλίση</a:t>
            </a:r>
            <a:r>
              <a:rPr dirty="0">
                <a:latin typeface="Times New Roman" panose="02020603050405020304" pitchFamily="18" charset="0"/>
                <a:cs typeface="Times New Roman" panose="02020603050405020304" pitchFamily="18" charset="0"/>
              </a:rPr>
              <a:t> 35°.</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νίκι</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Δέρμ</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Σκούρο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λε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κυλινδρικό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νίκι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ρε</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λιστικό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ροδ</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κινί</a:t>
            </a:r>
            <a:r>
              <a:rPr dirty="0">
                <a:latin typeface="Times New Roman" panose="02020603050405020304" pitchFamily="18" charset="0"/>
                <a:cs typeface="Times New Roman" panose="02020603050405020304" pitchFamily="18" charset="0"/>
              </a:rPr>
              <a:t>/</a:t>
            </a:r>
            <a:r>
              <a:rPr dirty="0" err="1">
                <a:latin typeface="Times New Roman" panose="02020603050405020304" pitchFamily="18" charset="0"/>
                <a:cs typeface="Times New Roman" panose="02020603050405020304" pitchFamily="18" charset="0"/>
              </a:rPr>
              <a:t>μ</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εζ</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τόνο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δέρμ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τος</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Camera Attachment: </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οθετημένο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HandPivot</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της</a:t>
            </a:r>
            <a:r>
              <a:rPr dirty="0">
                <a:latin typeface="Times New Roman" panose="02020603050405020304" pitchFamily="18" charset="0"/>
                <a:cs typeface="Times New Roman" panose="02020603050405020304" pitchFamily="18" charset="0"/>
              </a:rPr>
              <a:t> Camera3D </a:t>
            </a:r>
            <a:r>
              <a:rPr dirty="0" err="1">
                <a:latin typeface="Times New Roman" panose="02020603050405020304" pitchFamily="18" charset="0"/>
                <a:cs typeface="Times New Roman" panose="02020603050405020304" pitchFamily="18" charset="0"/>
              </a:rPr>
              <a:t>γι</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φυσική</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ροο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τική</a:t>
            </a:r>
            <a:r>
              <a:rPr dirty="0">
                <a:latin typeface="Times New Roman" panose="02020603050405020304" pitchFamily="18" charset="0"/>
                <a:cs typeface="Times New Roman" panose="02020603050405020304" pitchFamily="18" charset="0"/>
              </a:rPr>
              <a:t>.</a:t>
            </a:r>
          </a:p>
        </p:txBody>
      </p:sp>
      <p:sp>
        <p:nvSpPr>
          <p:cNvPr id="7" name="Rounded Rectangle 6"/>
          <p:cNvSpPr/>
          <p:nvPr/>
        </p:nvSpPr>
        <p:spPr>
          <a:xfrm>
            <a:off x="6263640" y="1691640"/>
            <a:ext cx="5166360" cy="4663440"/>
          </a:xfrm>
          <a:prstGeom prst="roundRect">
            <a:avLst/>
          </a:prstGeom>
          <a:solidFill>
            <a:srgbClr val="1C2541"/>
          </a:solidFill>
          <a:ln w="12700">
            <a:solidFill>
              <a:srgbClr val="4ECDC4"/>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4ECDC4"/>
                </a:solidFill>
              </a:defRPr>
            </a:pPr>
            <a:r>
              <a:rPr dirty="0">
                <a:latin typeface="Times New Roman" panose="02020603050405020304" pitchFamily="18" charset="0"/>
                <a:cs typeface="Times New Roman" panose="02020603050405020304" pitchFamily="18" charset="0"/>
              </a:rPr>
              <a:t>✨ Tween Animation </a:t>
            </a:r>
            <a:r>
              <a:rPr dirty="0" err="1">
                <a:latin typeface="Times New Roman" panose="02020603050405020304" pitchFamily="18" charset="0"/>
                <a:cs typeface="Times New Roman" panose="02020603050405020304" pitchFamily="18" charset="0"/>
              </a:rPr>
              <a:t>Α</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λώμ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τος</a:t>
            </a:r>
            <a:endParaRPr dirty="0">
              <a:latin typeface="Times New Roman" panose="02020603050405020304" pitchFamily="18" charset="0"/>
              <a:cs typeface="Times New Roman" panose="02020603050405020304" pitchFamily="18" charset="0"/>
            </a:endParaRP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Reach Forward: </a:t>
            </a:r>
            <a:r>
              <a:rPr dirty="0" err="1">
                <a:latin typeface="Times New Roman" panose="02020603050405020304" pitchFamily="18" charset="0"/>
                <a:cs typeface="Times New Roman" panose="02020603050405020304" pitchFamily="18" charset="0"/>
              </a:rPr>
              <a:t>Σε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κάθε</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άτημ</a:t>
            </a:r>
            <a:r>
              <a:rPr dirty="0">
                <a:latin typeface="Times New Roman" panose="02020603050405020304" pitchFamily="18" charset="0"/>
                <a:cs typeface="Times New Roman" panose="02020603050405020304" pitchFamily="18" charset="0"/>
              </a:rPr>
              <a:t>α α</a:t>
            </a:r>
            <a:r>
              <a:rPr dirty="0" err="1">
                <a:latin typeface="Times New Roman" panose="02020603050405020304" pitchFamily="18" charset="0"/>
                <a:cs typeface="Times New Roman" panose="02020603050405020304" pitchFamily="18" charset="0"/>
              </a:rPr>
              <a:t>λληλε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ίδρ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χέρι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κινείτ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ρος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εμ</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ρός</a:t>
            </a:r>
            <a:r>
              <a:rPr dirty="0">
                <a:latin typeface="Times New Roman" panose="02020603050405020304" pitchFamily="18" charset="0"/>
                <a:cs typeface="Times New Roman" panose="02020603050405020304" pitchFamily="18" charset="0"/>
              </a:rPr>
              <a:t> (0.1s).</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Smooth Return: </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ιστροφή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στην</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ρχική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θέση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ηρεμί</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ς</a:t>
            </a:r>
            <a:r>
              <a:rPr dirty="0">
                <a:latin typeface="Times New Roman" panose="02020603050405020304" pitchFamily="18" charset="0"/>
                <a:cs typeface="Times New Roman" panose="02020603050405020304" pitchFamily="18" charset="0"/>
              </a:rPr>
              <a:t> (0.15s)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Sine easing.</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τική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βα</a:t>
            </a:r>
            <a:r>
              <a:rPr dirty="0" err="1">
                <a:latin typeface="Times New Roman" panose="02020603050405020304" pitchFamily="18" charset="0"/>
                <a:cs typeface="Times New Roman" panose="02020603050405020304" pitchFamily="18" charset="0"/>
              </a:rPr>
              <a:t>ίωση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Άμεση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ικ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οιητική</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ίσθηση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ότι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a:t>
            </a:r>
            <a:r>
              <a:rPr dirty="0">
                <a:latin typeface="Times New Roman" panose="02020603050405020304" pitchFamily="18" charset="0"/>
                <a:cs typeface="Times New Roman" panose="02020603050405020304" pitchFamily="18" charset="0"/>
              </a:rPr>
              <a:t> πα</a:t>
            </a:r>
            <a:r>
              <a:rPr dirty="0" err="1">
                <a:latin typeface="Times New Roman" panose="02020603050405020304" pitchFamily="18" charset="0"/>
                <a:cs typeface="Times New Roman" panose="02020603050405020304" pitchFamily="18" charset="0"/>
              </a:rPr>
              <a:t>ίκτης</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γγίζει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κόσμο</a:t>
            </a:r>
            <a:r>
              <a:rPr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731520" y="320040"/>
            <a:ext cx="1904689" cy="261610"/>
          </a:xfrm>
          <a:prstGeom prst="rect">
            <a:avLst/>
          </a:prstGeom>
          <a:noFill/>
        </p:spPr>
        <p:txBody>
          <a:bodyPr wrap="none">
            <a:spAutoFit/>
          </a:bodyPr>
          <a:lstStyle/>
          <a:p>
            <a:pPr>
              <a:defRPr sz="1100" b="1">
                <a:solidFill>
                  <a:srgbClr val="D4AF37"/>
                </a:solidFill>
              </a:defRPr>
            </a:pPr>
            <a:r>
              <a:rPr>
                <a:latin typeface="Times New Roman" panose="02020603050405020304" pitchFamily="18" charset="0"/>
                <a:cs typeface="Times New Roman" panose="02020603050405020304" pitchFamily="18" charset="0"/>
              </a:rPr>
              <a:t>ΣΥΣΤΗΜΑ ΑΝΙΧΝΕΥΣΗΣ</a:t>
            </a:r>
          </a:p>
        </p:txBody>
      </p:sp>
      <p:sp>
        <p:nvSpPr>
          <p:cNvPr id="5" name="TextBox 4"/>
          <p:cNvSpPr txBox="1"/>
          <p:nvPr/>
        </p:nvSpPr>
        <p:spPr>
          <a:xfrm>
            <a:off x="731520" y="594360"/>
            <a:ext cx="10698480" cy="707886"/>
          </a:xfrm>
          <a:prstGeom prst="rect">
            <a:avLst/>
          </a:prstGeom>
          <a:noFill/>
        </p:spPr>
        <p:txBody>
          <a:bodyPr wrap="square">
            <a:spAutoFit/>
          </a:bodyPr>
          <a:lstStyle/>
          <a:p>
            <a:pPr algn="ctr">
              <a:defRPr sz="2600" b="1">
                <a:solidFill>
                  <a:srgbClr val="FFFFFF"/>
                </a:solidFill>
              </a:defRPr>
            </a:pPr>
            <a:r>
              <a:rPr dirty="0">
                <a:latin typeface="Times New Roman" panose="02020603050405020304" pitchFamily="18" charset="0"/>
                <a:cs typeface="Times New Roman" panose="02020603050405020304" pitchFamily="18" charset="0"/>
              </a:rPr>
              <a:t>6. </a:t>
            </a:r>
            <a:r>
              <a:rPr dirty="0" err="1">
                <a:latin typeface="Times New Roman" panose="02020603050405020304" pitchFamily="18" charset="0"/>
                <a:cs typeface="Times New Roman" panose="02020603050405020304" pitchFamily="18" charset="0"/>
              </a:rPr>
              <a:t>Ανίχνευση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Αντικειμένων</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Δυν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μικό</a:t>
            </a:r>
            <a:r>
              <a:rPr dirty="0">
                <a:latin typeface="Times New Roman" panose="02020603050405020304" pitchFamily="18" charset="0"/>
                <a:cs typeface="Times New Roman" panose="02020603050405020304" pitchFamily="18" charset="0"/>
              </a:rPr>
              <a:t> UI</a:t>
            </a:r>
          </a:p>
          <a:p>
            <a:pPr algn="ctr">
              <a:defRPr sz="1400" i="1">
                <a:solidFill>
                  <a:srgbClr val="4ECDC4"/>
                </a:solidFill>
              </a:defRPr>
            </a:pPr>
            <a:r>
              <a:t>• Δυναμικό Στόχαστρο: Αυτόματη μετατροπή από + σε χρυσό ✋ κατά την εστίαση σε interactable.</a:t>
            </a:r>
          </a:p>
        </p:txBody>
      </p:sp>
      <p:sp>
        <p:nvSpPr>
          <p:cNvPr id="6" name="Rounded Rectangle 5"/>
          <p:cNvSpPr/>
          <p:nvPr/>
        </p:nvSpPr>
        <p:spPr>
          <a:xfrm>
            <a:off x="731520" y="1691640"/>
            <a:ext cx="5166360" cy="4663440"/>
          </a:xfrm>
          <a:prstGeom prst="roundRect">
            <a:avLst/>
          </a:prstGeom>
          <a:solidFill>
            <a:srgbClr val="1C2541"/>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D4AF37"/>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Μηχ</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νισμός</a:t>
            </a:r>
            <a:r>
              <a:rPr dirty="0">
                <a:latin typeface="Times New Roman" panose="02020603050405020304" pitchFamily="18" charset="0"/>
                <a:cs typeface="Times New Roman" panose="02020603050405020304" pitchFamily="18" charset="0"/>
              </a:rPr>
              <a:t> RayCast3D</a:t>
            </a:r>
          </a:p>
          <a:p>
            <a:pPr algn="just">
              <a:spcAft>
                <a:spcPts val="900"/>
              </a:spcAft>
              <a:defRPr sz="1300">
                <a:solidFill>
                  <a:srgbClr val="DCE2EB"/>
                </a:solidFill>
              </a:defRPr>
            </a:pPr>
            <a:r>
              <a:t>• Ακτίνα Ανίχνευσης: Μήκους 3.0 μέτρων από το κέντρο της κάμερας.</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Κλάση</a:t>
            </a:r>
            <a:r>
              <a:rPr dirty="0">
                <a:latin typeface="Times New Roman" panose="02020603050405020304" pitchFamily="18" charset="0"/>
                <a:cs typeface="Times New Roman" panose="02020603050405020304" pitchFamily="18" charset="0"/>
              </a:rPr>
              <a:t> Interactable: </a:t>
            </a:r>
            <a:r>
              <a:rPr dirty="0" err="1">
                <a:latin typeface="Times New Roman" panose="02020603050405020304" pitchFamily="18" charset="0"/>
                <a:cs typeface="Times New Roman" panose="02020603050405020304" pitchFamily="18" charset="0"/>
              </a:rPr>
              <a:t>Β</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κλάση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έκτ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σης</a:t>
            </a:r>
            <a:r>
              <a:rPr dirty="0">
                <a:latin typeface="Times New Roman" panose="02020603050405020304" pitchFamily="18" charset="0"/>
                <a:cs typeface="Times New Roman" panose="02020603050405020304" pitchFamily="18" charset="0"/>
              </a:rPr>
              <a:t> StaticBody3D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σήμ</a:t>
            </a:r>
            <a:r>
              <a:rPr dirty="0">
                <a:latin typeface="Times New Roman" panose="02020603050405020304" pitchFamily="18" charset="0"/>
                <a:cs typeface="Times New Roman" panose="02020603050405020304" pitchFamily="18" charset="0"/>
              </a:rPr>
              <a:t>α interacted(player).</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Έλεγχος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Εγκυρότητ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Ανίχνευση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μεθόδου</a:t>
            </a:r>
            <a:r>
              <a:rPr dirty="0">
                <a:latin typeface="Times New Roman" panose="02020603050405020304" pitchFamily="18" charset="0"/>
                <a:cs typeface="Times New Roman" panose="02020603050405020304" pitchFamily="18" charset="0"/>
              </a:rPr>
              <a:t> interact()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τάστ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is_interactive</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οσύνδεση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a:t>
            </a:r>
            <a:r>
              <a:rPr dirty="0">
                <a:latin typeface="Times New Roman" panose="02020603050405020304" pitchFamily="18" charset="0"/>
                <a:cs typeface="Times New Roman" panose="02020603050405020304" pitchFamily="18" charset="0"/>
              </a:rPr>
              <a:t> πα</a:t>
            </a:r>
            <a:r>
              <a:rPr dirty="0" err="1">
                <a:latin typeface="Times New Roman" panose="02020603050405020304" pitchFamily="18" charset="0"/>
                <a:cs typeface="Times New Roman" panose="02020603050405020304" pitchFamily="18" charset="0"/>
              </a:rPr>
              <a:t>ίκτης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δεν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γνωρίζει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λογική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του</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ντικειμένου</a:t>
            </a:r>
            <a:r>
              <a:rPr dirty="0">
                <a:latin typeface="Times New Roman" panose="02020603050405020304" pitchFamily="18" charset="0"/>
                <a:cs typeface="Times New Roman" panose="02020603050405020304" pitchFamily="18" charset="0"/>
              </a:rPr>
              <a:t>, απ</a:t>
            </a:r>
            <a:r>
              <a:rPr dirty="0" err="1">
                <a:latin typeface="Times New Roman" panose="02020603050405020304" pitchFamily="18" charset="0"/>
                <a:cs typeface="Times New Roman" panose="02020603050405020304" pitchFamily="18" charset="0"/>
              </a:rPr>
              <a:t>λώς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λεί</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την</a:t>
            </a:r>
            <a:r>
              <a:rPr dirty="0">
                <a:latin typeface="Times New Roman" panose="02020603050405020304" pitchFamily="18" charset="0"/>
                <a:cs typeface="Times New Roman" panose="02020603050405020304" pitchFamily="18" charset="0"/>
              </a:rPr>
              <a:t> interact().</a:t>
            </a:r>
          </a:p>
        </p:txBody>
      </p:sp>
      <p:sp>
        <p:nvSpPr>
          <p:cNvPr id="7" name="Rounded Rectangle 6"/>
          <p:cNvSpPr/>
          <p:nvPr/>
        </p:nvSpPr>
        <p:spPr>
          <a:xfrm>
            <a:off x="6263640" y="1691640"/>
            <a:ext cx="5166360" cy="4663440"/>
          </a:xfrm>
          <a:prstGeom prst="roundRect">
            <a:avLst/>
          </a:prstGeom>
          <a:solidFill>
            <a:srgbClr val="1C2541"/>
          </a:solidFill>
          <a:ln w="12700">
            <a:solidFill>
              <a:srgbClr val="4ECDC4"/>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4ECDC4"/>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Δυν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μικό</a:t>
            </a:r>
            <a:r>
              <a:rPr dirty="0">
                <a:latin typeface="Times New Roman" panose="02020603050405020304" pitchFamily="18" charset="0"/>
                <a:cs typeface="Times New Roman" panose="02020603050405020304" pitchFamily="18" charset="0"/>
              </a:rPr>
              <a:t> UI </a:t>
            </a:r>
            <a:r>
              <a:rPr dirty="0" err="1">
                <a:latin typeface="Times New Roman" panose="02020603050405020304" pitchFamily="18" charset="0"/>
                <a:cs typeface="Times New Roman" panose="02020603050405020304" pitchFamily="18" charset="0"/>
              </a:rPr>
              <a:t>Στόχ</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στρο</a:t>
            </a:r>
            <a:endParaRPr dirty="0">
              <a:latin typeface="Times New Roman" panose="02020603050405020304" pitchFamily="18" charset="0"/>
              <a:cs typeface="Times New Roman" panose="02020603050405020304" pitchFamily="18" charset="0"/>
            </a:endParaRP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τάστ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Ηρεμί</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κριτικό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κεντρικό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στόχ</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στρο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υρού</a:t>
            </a:r>
            <a:r>
              <a:rPr dirty="0">
                <a:latin typeface="Times New Roman" panose="02020603050405020304" pitchFamily="18" charset="0"/>
                <a:cs typeface="Times New Roman" panose="02020603050405020304" pitchFamily="18" charset="0"/>
              </a:rPr>
              <a:t> (+).</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τάστ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Εστί</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Αυτόμ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μετ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τρο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εικονίδιο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χεριού</a:t>
            </a:r>
            <a:r>
              <a:rPr dirty="0">
                <a:latin typeface="Times New Roman" panose="02020603050405020304" pitchFamily="18" charset="0"/>
                <a:cs typeface="Times New Roman" panose="02020603050405020304" pitchFamily="18" charset="0"/>
              </a:rPr>
              <a:t> (🫱) </a:t>
            </a:r>
            <a:r>
              <a:rPr dirty="0" err="1">
                <a:latin typeface="Times New Roman" panose="02020603050405020304" pitchFamily="18" charset="0"/>
                <a:cs typeface="Times New Roman" panose="02020603050405020304" pitchFamily="18" charset="0"/>
              </a:rPr>
              <a:t>ότ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σημ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δεύουμε</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ντικείμενο</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Interaction Prompt: </a:t>
            </a:r>
            <a:r>
              <a:rPr dirty="0" err="1">
                <a:latin typeface="Times New Roman" panose="02020603050405020304" pitchFamily="18" charset="0"/>
                <a:cs typeface="Times New Roman" panose="02020603050405020304" pitchFamily="18" charset="0"/>
              </a:rPr>
              <a:t>Εμφάνιση</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ροτρο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ής</a:t>
            </a:r>
            <a:r>
              <a:rPr dirty="0">
                <a:latin typeface="Times New Roman" panose="02020603050405020304" pitchFamily="18" charset="0"/>
                <a:cs typeface="Times New Roman" panose="02020603050405020304" pitchFamily="18" charset="0"/>
              </a:rPr>
              <a:t> context (π.</a:t>
            </a:r>
            <a:r>
              <a:rPr dirty="0" err="1">
                <a:latin typeface="Times New Roman" panose="02020603050405020304" pitchFamily="18" charset="0"/>
                <a:cs typeface="Times New Roman" panose="02020603050405020304" pitchFamily="18" charset="0"/>
              </a:rPr>
              <a:t>χ</a:t>
            </a:r>
            <a:r>
              <a:rPr dirty="0">
                <a:latin typeface="Times New Roman" panose="02020603050405020304" pitchFamily="18" charset="0"/>
                <a:cs typeface="Times New Roman" panose="02020603050405020304" pitchFamily="18" charset="0"/>
              </a:rPr>
              <a:t>. '[E] Pull Book', '[E] Rotate Piece').</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θ</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ρότητ</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Αυτόμ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τη</a:t>
            </a:r>
            <a:r>
              <a:rPr dirty="0">
                <a:latin typeface="Times New Roman" panose="02020603050405020304" pitchFamily="18" charset="0"/>
                <a:cs typeface="Times New Roman" panose="02020603050405020304" pitchFamily="18" charset="0"/>
              </a:rPr>
              <a:t> απ</a:t>
            </a:r>
            <a:r>
              <a:rPr dirty="0" err="1">
                <a:latin typeface="Times New Roman" panose="02020603050405020304" pitchFamily="18" charset="0"/>
                <a:cs typeface="Times New Roman" panose="02020603050405020304" pitchFamily="18" charset="0"/>
              </a:rPr>
              <a:t>όκρυψη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ότ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a:t>
            </a:r>
            <a:r>
              <a:rPr dirty="0">
                <a:latin typeface="Times New Roman" panose="02020603050405020304" pitchFamily="18" charset="0"/>
                <a:cs typeface="Times New Roman" panose="02020603050405020304" pitchFamily="18" charset="0"/>
              </a:rPr>
              <a:t> πα</a:t>
            </a:r>
            <a:r>
              <a:rPr dirty="0" err="1">
                <a:latin typeface="Times New Roman" panose="02020603050405020304" pitchFamily="18" charset="0"/>
                <a:cs typeface="Times New Roman" panose="02020603050405020304" pitchFamily="18" charset="0"/>
              </a:rPr>
              <a:t>ίκτης</a:t>
            </a:r>
            <a:r>
              <a:rPr dirty="0">
                <a:latin typeface="Times New Roman" panose="02020603050405020304" pitchFamily="18" charset="0"/>
                <a:cs typeface="Times New Roman" panose="02020603050405020304" pitchFamily="18" charset="0"/>
              </a:rPr>
              <a:t> απ</a:t>
            </a:r>
            <a:r>
              <a:rPr dirty="0" err="1">
                <a:latin typeface="Times New Roman" panose="02020603050405020304" pitchFamily="18" charset="0"/>
                <a:cs typeface="Times New Roman" panose="02020603050405020304" pitchFamily="18" charset="0"/>
              </a:rPr>
              <a:t>ομ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κρύνετ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731520" y="320040"/>
            <a:ext cx="1042273" cy="261610"/>
          </a:xfrm>
          <a:prstGeom prst="rect">
            <a:avLst/>
          </a:prstGeom>
          <a:noFill/>
        </p:spPr>
        <p:txBody>
          <a:bodyPr wrap="none">
            <a:spAutoFit/>
          </a:bodyPr>
          <a:lstStyle/>
          <a:p>
            <a:pPr>
              <a:defRPr sz="1100" b="1">
                <a:solidFill>
                  <a:srgbClr val="D4AF37"/>
                </a:solidFill>
              </a:defRPr>
            </a:pPr>
            <a:r>
              <a:rPr>
                <a:latin typeface="Times New Roman" panose="02020603050405020304" pitchFamily="18" charset="0"/>
                <a:cs typeface="Times New Roman" panose="02020603050405020304" pitchFamily="18" charset="0"/>
              </a:rPr>
              <a:t>1ΟΣ ΓΡΙΦΟΣ</a:t>
            </a:r>
          </a:p>
        </p:txBody>
      </p:sp>
      <p:sp>
        <p:nvSpPr>
          <p:cNvPr id="5" name="TextBox 4"/>
          <p:cNvSpPr txBox="1"/>
          <p:nvPr/>
        </p:nvSpPr>
        <p:spPr>
          <a:xfrm>
            <a:off x="731520" y="594360"/>
            <a:ext cx="10698480" cy="707886"/>
          </a:xfrm>
          <a:prstGeom prst="rect">
            <a:avLst/>
          </a:prstGeom>
          <a:noFill/>
        </p:spPr>
        <p:txBody>
          <a:bodyPr wrap="square">
            <a:spAutoFit/>
          </a:bodyPr>
          <a:lstStyle/>
          <a:p>
            <a:pPr algn="ctr">
              <a:defRPr sz="2600" b="1">
                <a:solidFill>
                  <a:srgbClr val="FFFFFF"/>
                </a:solidFill>
              </a:defRPr>
            </a:pPr>
            <a:r>
              <a:rPr dirty="0">
                <a:latin typeface="Times New Roman" panose="02020603050405020304" pitchFamily="18" charset="0"/>
                <a:cs typeface="Times New Roman" panose="02020603050405020304" pitchFamily="18" charset="0"/>
              </a:rPr>
              <a:t>7. 1ος </a:t>
            </a:r>
            <a:r>
              <a:rPr dirty="0" err="1">
                <a:latin typeface="Times New Roman" panose="02020603050405020304" pitchFamily="18" charset="0"/>
                <a:cs typeface="Times New Roman" panose="02020603050405020304" pitchFamily="18" charset="0"/>
              </a:rPr>
              <a:t>Γρίφος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Μυστικό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Βι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λιοστάσιο</a:t>
            </a:r>
            <a:endParaRPr dirty="0">
              <a:latin typeface="Times New Roman" panose="02020603050405020304" pitchFamily="18" charset="0"/>
              <a:cs typeface="Times New Roman" panose="02020603050405020304" pitchFamily="18" charset="0"/>
            </a:endParaRPr>
          </a:p>
          <a:p>
            <a:pPr algn="ctr">
              <a:defRPr sz="1400" i="1">
                <a:solidFill>
                  <a:srgbClr val="4ECDC4"/>
                </a:solidFill>
              </a:defRPr>
            </a:pPr>
            <a:r>
              <a:rPr dirty="0" err="1">
                <a:latin typeface="Times New Roman" panose="02020603050405020304" pitchFamily="18" charset="0"/>
                <a:cs typeface="Times New Roman" panose="02020603050405020304" pitchFamily="18" charset="0"/>
              </a:rPr>
              <a:t>Αλληλουχί</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Π</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νομοιότυ</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ων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Βι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λίων</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τική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τροφοδότηση</a:t>
            </a:r>
            <a:endParaRPr dirty="0">
              <a:latin typeface="Times New Roman" panose="02020603050405020304" pitchFamily="18" charset="0"/>
              <a:cs typeface="Times New Roman" panose="02020603050405020304" pitchFamily="18" charset="0"/>
            </a:endParaRPr>
          </a:p>
        </p:txBody>
      </p:sp>
      <p:sp>
        <p:nvSpPr>
          <p:cNvPr id="6" name="Rounded Rectangle 5"/>
          <p:cNvSpPr/>
          <p:nvPr/>
        </p:nvSpPr>
        <p:spPr>
          <a:xfrm>
            <a:off x="661852" y="1691640"/>
            <a:ext cx="5166360" cy="4663440"/>
          </a:xfrm>
          <a:prstGeom prst="roundRect">
            <a:avLst/>
          </a:prstGeom>
          <a:solidFill>
            <a:srgbClr val="1C2541"/>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D4AF37"/>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Μηχ</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νισμός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Βι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λιοθήκης</a:t>
            </a:r>
            <a:endParaRPr dirty="0">
              <a:latin typeface="Times New Roman" panose="02020603050405020304" pitchFamily="18" charset="0"/>
              <a:cs typeface="Times New Roman" panose="02020603050405020304" pitchFamily="18" charset="0"/>
            </a:endParaRP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3 </a:t>
            </a:r>
            <a:r>
              <a:rPr dirty="0" err="1">
                <a:latin typeface="Times New Roman" panose="02020603050405020304" pitchFamily="18" charset="0"/>
                <a:cs typeface="Times New Roman" panose="02020603050405020304" pitchFamily="18" charset="0"/>
              </a:rPr>
              <a:t>Π</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νομοιότυ</a:t>
            </a:r>
            <a:r>
              <a:rPr dirty="0">
                <a:latin typeface="Times New Roman" panose="02020603050405020304" pitchFamily="18" charset="0"/>
                <a:cs typeface="Times New Roman" panose="02020603050405020304" pitchFamily="18" charset="0"/>
              </a:rPr>
              <a:t>πα </a:t>
            </a:r>
            <a:r>
              <a:rPr dirty="0" err="1">
                <a:latin typeface="Times New Roman" panose="02020603050405020304" pitchFamily="18" charset="0"/>
                <a:cs typeface="Times New Roman" panose="02020603050405020304" pitchFamily="18" charset="0"/>
              </a:rPr>
              <a:t>Βι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λί</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Ενι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ί</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εμφάνιση</a:t>
            </a:r>
            <a:r>
              <a:rPr dirty="0">
                <a:latin typeface="Times New Roman" panose="02020603050405020304" pitchFamily="18" charset="0"/>
                <a:cs typeface="Times New Roman" panose="02020603050405020304" pitchFamily="18" charset="0"/>
              </a:rPr>
              <a:t> πα</a:t>
            </a:r>
            <a:r>
              <a:rPr dirty="0" err="1">
                <a:latin typeface="Times New Roman" panose="02020603050405020304" pitchFamily="18" charset="0"/>
                <a:cs typeface="Times New Roman" panose="02020603050405020304" pitchFamily="18" charset="0"/>
              </a:rPr>
              <a:t>λ</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ιωμένου</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φέ</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δέρμ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τος</a:t>
            </a:r>
            <a:r>
              <a:rPr dirty="0">
                <a:latin typeface="Times New Roman" panose="02020603050405020304" pitchFamily="18" charset="0"/>
                <a:cs typeface="Times New Roman" panose="02020603050405020304" pitchFamily="18" charset="0"/>
              </a:rPr>
              <a:t> (Antique Brown Leather).</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Κοινή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Προτρο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Όλ</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εμφ</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νίζουν</a:t>
            </a:r>
            <a:r>
              <a:rPr dirty="0">
                <a:latin typeface="Times New Roman" panose="02020603050405020304" pitchFamily="18" charset="0"/>
                <a:cs typeface="Times New Roman" panose="02020603050405020304" pitchFamily="18" charset="0"/>
              </a:rPr>
              <a:t> [E] Pull Book </a:t>
            </a:r>
            <a:r>
              <a:rPr dirty="0" err="1">
                <a:latin typeface="Times New Roman" panose="02020603050405020304" pitchFamily="18" charset="0"/>
                <a:cs typeface="Times New Roman" panose="02020603050405020304" pitchFamily="18" charset="0"/>
              </a:rPr>
              <a:t>γι</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ν</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μην</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ροδίδουν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λύση</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Σωστή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Σειρά</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Ενεργο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οίησης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Αριστερό</a:t>
            </a:r>
            <a:r>
              <a:rPr dirty="0">
                <a:latin typeface="Times New Roman" panose="02020603050405020304" pitchFamily="18" charset="0"/>
                <a:cs typeface="Times New Roman" panose="02020603050405020304" pitchFamily="18" charset="0"/>
              </a:rPr>
              <a:t> (1) ➔ </a:t>
            </a:r>
            <a:r>
              <a:rPr dirty="0" err="1">
                <a:latin typeface="Times New Roman" panose="02020603050405020304" pitchFamily="18" charset="0"/>
                <a:cs typeface="Times New Roman" panose="02020603050405020304" pitchFamily="18" charset="0"/>
              </a:rPr>
              <a:t>Δεξί</a:t>
            </a:r>
            <a:r>
              <a:rPr dirty="0">
                <a:latin typeface="Times New Roman" panose="02020603050405020304" pitchFamily="18" charset="0"/>
                <a:cs typeface="Times New Roman" panose="02020603050405020304" pitchFamily="18" charset="0"/>
              </a:rPr>
              <a:t> (3) ➔ </a:t>
            </a:r>
            <a:r>
              <a:rPr dirty="0" err="1">
                <a:latin typeface="Times New Roman" panose="02020603050405020304" pitchFamily="18" charset="0"/>
                <a:cs typeface="Times New Roman" panose="02020603050405020304" pitchFamily="18" charset="0"/>
              </a:rPr>
              <a:t>Μεσ</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ίο</a:t>
            </a:r>
            <a:r>
              <a:rPr dirty="0">
                <a:latin typeface="Times New Roman" panose="02020603050405020304" pitchFamily="18" charset="0"/>
                <a:cs typeface="Times New Roman" panose="02020603050405020304" pitchFamily="18" charset="0"/>
              </a:rPr>
              <a:t> (2).</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Κλίση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Βι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λίου</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Κάθε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ιλεγμένο</a:t>
            </a:r>
            <a:r>
              <a:rPr dirty="0">
                <a:latin typeface="Times New Roman" panose="02020603050405020304" pitchFamily="18" charset="0"/>
                <a:cs typeface="Times New Roman" panose="02020603050405020304" pitchFamily="18" charset="0"/>
              </a:rPr>
              <a:t> β</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λίο</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εριστρέφετ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λά</a:t>
            </a:r>
            <a:r>
              <a:rPr dirty="0">
                <a:latin typeface="Times New Roman" panose="02020603050405020304" pitchFamily="18" charset="0"/>
                <a:cs typeface="Times New Roman" panose="02020603050405020304" pitchFamily="18" charset="0"/>
              </a:rPr>
              <a:t> (Tween) π</a:t>
            </a:r>
            <a:r>
              <a:rPr dirty="0" err="1">
                <a:latin typeface="Times New Roman" panose="02020603050405020304" pitchFamily="18" charset="0"/>
                <a:cs typeface="Times New Roman" panose="02020603050405020304" pitchFamily="18" charset="0"/>
              </a:rPr>
              <a:t>ρος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έξω</a:t>
            </a:r>
            <a:r>
              <a:rPr dirty="0">
                <a:latin typeface="Times New Roman" panose="02020603050405020304" pitchFamily="18" charset="0"/>
                <a:cs typeface="Times New Roman" panose="02020603050405020304" pitchFamily="18" charset="0"/>
              </a:rPr>
              <a:t>.</a:t>
            </a:r>
          </a:p>
        </p:txBody>
      </p:sp>
      <p:sp>
        <p:nvSpPr>
          <p:cNvPr id="7" name="Rounded Rectangle 6"/>
          <p:cNvSpPr/>
          <p:nvPr/>
        </p:nvSpPr>
        <p:spPr>
          <a:xfrm>
            <a:off x="6263640" y="1691640"/>
            <a:ext cx="5166360" cy="4663440"/>
          </a:xfrm>
          <a:prstGeom prst="roundRect">
            <a:avLst/>
          </a:prstGeom>
          <a:solidFill>
            <a:srgbClr val="1C2541"/>
          </a:solidFill>
          <a:ln w="12700">
            <a:solidFill>
              <a:srgbClr val="4ECDC4"/>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4ECDC4"/>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Φωτεινοί</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Κρύστ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λλοι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Ένδειξης</a:t>
            </a:r>
            <a:endParaRPr dirty="0">
              <a:latin typeface="Times New Roman" panose="02020603050405020304" pitchFamily="18" charset="0"/>
              <a:cs typeface="Times New Roman" panose="02020603050405020304" pitchFamily="18" charset="0"/>
            </a:endParaRP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3 </a:t>
            </a:r>
            <a:r>
              <a:rPr dirty="0" err="1">
                <a:latin typeface="Times New Roman" panose="02020603050405020304" pitchFamily="18" charset="0"/>
                <a:cs typeface="Times New Roman" panose="02020603050405020304" pitchFamily="18" charset="0"/>
              </a:rPr>
              <a:t>Ενσωμ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τωμένοι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Κρύστ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λλοι</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άνω</a:t>
            </a:r>
            <a:r>
              <a:rPr dirty="0">
                <a:latin typeface="Times New Roman" panose="02020603050405020304" pitchFamily="18" charset="0"/>
                <a:cs typeface="Times New Roman" panose="02020603050405020304" pitchFamily="18" charset="0"/>
              </a:rPr>
              <a:t> απ</a:t>
            </a:r>
            <a:r>
              <a:rPr dirty="0" err="1">
                <a:latin typeface="Times New Roman" panose="02020603050405020304" pitchFamily="18" charset="0"/>
                <a:cs typeface="Times New Roman" panose="02020603050405020304" pitchFamily="18" charset="0"/>
              </a:rPr>
              <a:t>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τη</a:t>
            </a:r>
            <a:r>
              <a:rPr dirty="0">
                <a:latin typeface="Times New Roman" panose="02020603050405020304" pitchFamily="18" charset="0"/>
                <a:cs typeface="Times New Roman" panose="02020603050405020304" pitchFamily="18" charset="0"/>
              </a:rPr>
              <a:t> β</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λιοθήκη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Emission shaders.</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Σωστό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Βήμ</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Ο</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ντίστοιχος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κρύστ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λλος</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νά</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ει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μόνιμ</a:t>
            </a:r>
            <a:r>
              <a:rPr dirty="0">
                <a:latin typeface="Times New Roman" panose="02020603050405020304" pitchFamily="18" charset="0"/>
                <a:cs typeface="Times New Roman" panose="02020603050405020304" pitchFamily="18" charset="0"/>
              </a:rPr>
              <a:t>α π</a:t>
            </a:r>
            <a:r>
              <a:rPr dirty="0" err="1">
                <a:latin typeface="Times New Roman" panose="02020603050405020304" pitchFamily="18" charset="0"/>
                <a:cs typeface="Times New Roman" panose="02020603050405020304" pitchFamily="18" charset="0"/>
              </a:rPr>
              <a:t>ράσινος</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Λάθος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Βήμ</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Όλοι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κρύστ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λλοι</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ν</a:t>
            </a:r>
            <a:r>
              <a:rPr dirty="0">
                <a:latin typeface="Times New Roman" panose="02020603050405020304" pitchFamily="18" charset="0"/>
                <a:cs typeface="Times New Roman" panose="02020603050405020304" pitchFamily="18" charset="0"/>
              </a:rPr>
              <a:t>αβ</a:t>
            </a:r>
            <a:r>
              <a:rPr dirty="0" err="1">
                <a:latin typeface="Times New Roman" panose="02020603050405020304" pitchFamily="18" charset="0"/>
                <a:cs typeface="Times New Roman" panose="02020603050405020304" pitchFamily="18" charset="0"/>
              </a:rPr>
              <a:t>οσ</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ήνουν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κόκκινοι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σειρά</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μηδενίζετ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ίλυση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Αυτόμ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εμφάνιση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του</a:t>
            </a:r>
            <a:r>
              <a:rPr dirty="0">
                <a:latin typeface="Times New Roman" panose="02020603050405020304" pitchFamily="18" charset="0"/>
                <a:cs typeface="Times New Roman" panose="02020603050405020304" pitchFamily="18" charset="0"/>
              </a:rPr>
              <a:t> 2ου </a:t>
            </a:r>
            <a:r>
              <a:rPr dirty="0" err="1">
                <a:latin typeface="Times New Roman" panose="02020603050405020304" pitchFamily="18" charset="0"/>
                <a:cs typeface="Times New Roman" panose="02020603050405020304" pitchFamily="18" charset="0"/>
              </a:rPr>
              <a:t>γρίφου</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κεντρικό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τρ</a:t>
            </a:r>
            <a:r>
              <a:rPr dirty="0">
                <a:latin typeface="Times New Roman" panose="02020603050405020304" pitchFamily="18" charset="0"/>
                <a:cs typeface="Times New Roman" panose="02020603050405020304" pitchFamily="18" charset="0"/>
              </a:rPr>
              <a:t>απ</a:t>
            </a:r>
            <a:r>
              <a:rPr dirty="0" err="1">
                <a:latin typeface="Times New Roman" panose="02020603050405020304" pitchFamily="18" charset="0"/>
                <a:cs typeface="Times New Roman" panose="02020603050405020304" pitchFamily="18" charset="0"/>
              </a:rPr>
              <a:t>έζι</a:t>
            </a:r>
            <a:r>
              <a:rPr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731520" y="320040"/>
            <a:ext cx="1042273" cy="261610"/>
          </a:xfrm>
          <a:prstGeom prst="rect">
            <a:avLst/>
          </a:prstGeom>
          <a:noFill/>
        </p:spPr>
        <p:txBody>
          <a:bodyPr wrap="none">
            <a:spAutoFit/>
          </a:bodyPr>
          <a:lstStyle/>
          <a:p>
            <a:pPr>
              <a:defRPr sz="1100" b="1">
                <a:solidFill>
                  <a:srgbClr val="D4AF37"/>
                </a:solidFill>
              </a:defRPr>
            </a:pPr>
            <a:r>
              <a:rPr>
                <a:latin typeface="Times New Roman" panose="02020603050405020304" pitchFamily="18" charset="0"/>
                <a:cs typeface="Times New Roman" panose="02020603050405020304" pitchFamily="18" charset="0"/>
              </a:rPr>
              <a:t>2ΟΣ ΓΡΙΦΟΣ</a:t>
            </a:r>
          </a:p>
        </p:txBody>
      </p:sp>
      <p:sp>
        <p:nvSpPr>
          <p:cNvPr id="5" name="TextBox 4"/>
          <p:cNvSpPr txBox="1"/>
          <p:nvPr/>
        </p:nvSpPr>
        <p:spPr>
          <a:xfrm>
            <a:off x="731520" y="594360"/>
            <a:ext cx="10698480" cy="707886"/>
          </a:xfrm>
          <a:prstGeom prst="rect">
            <a:avLst/>
          </a:prstGeom>
          <a:noFill/>
        </p:spPr>
        <p:txBody>
          <a:bodyPr wrap="square">
            <a:spAutoFit/>
          </a:bodyPr>
          <a:lstStyle/>
          <a:p>
            <a:pPr algn="ctr">
              <a:defRPr sz="2600" b="1">
                <a:solidFill>
                  <a:srgbClr val="FFFFFF"/>
                </a:solidFill>
              </a:defRPr>
            </a:pPr>
            <a:r>
              <a:rPr dirty="0">
                <a:latin typeface="Times New Roman" panose="02020603050405020304" pitchFamily="18" charset="0"/>
                <a:cs typeface="Times New Roman" panose="02020603050405020304" pitchFamily="18" charset="0"/>
              </a:rPr>
              <a:t>8. 2ος </a:t>
            </a:r>
            <a:r>
              <a:rPr dirty="0" err="1">
                <a:latin typeface="Times New Roman" panose="02020603050405020304" pitchFamily="18" charset="0"/>
                <a:cs typeface="Times New Roman" panose="02020603050405020304" pitchFamily="18" charset="0"/>
              </a:rPr>
              <a:t>Γρίφος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Γεωμετρικό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ζλ</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Τριγώνου</a:t>
            </a:r>
            <a:endParaRPr dirty="0">
              <a:latin typeface="Times New Roman" panose="02020603050405020304" pitchFamily="18" charset="0"/>
              <a:cs typeface="Times New Roman" panose="02020603050405020304" pitchFamily="18" charset="0"/>
            </a:endParaRPr>
          </a:p>
          <a:p>
            <a:pPr algn="ctr">
              <a:defRPr sz="1400" i="1">
                <a:solidFill>
                  <a:srgbClr val="4ECDC4"/>
                </a:solidFill>
              </a:defRPr>
            </a:pPr>
            <a:r>
              <a:rPr dirty="0" err="1">
                <a:latin typeface="Times New Roman" panose="02020603050405020304" pitchFamily="18" charset="0"/>
                <a:cs typeface="Times New Roman" panose="02020603050405020304" pitchFamily="18" charset="0"/>
              </a:rPr>
              <a:t>Έξυ</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νος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Αλγόριθμος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Μετ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θέσεων</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Συμμετρί</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ς</a:t>
            </a:r>
            <a:r>
              <a:rPr dirty="0">
                <a:latin typeface="Times New Roman" panose="02020603050405020304" pitchFamily="18" charset="0"/>
                <a:cs typeface="Times New Roman" panose="02020603050405020304" pitchFamily="18" charset="0"/>
              </a:rPr>
              <a:t> 180°</a:t>
            </a:r>
          </a:p>
        </p:txBody>
      </p:sp>
      <p:sp>
        <p:nvSpPr>
          <p:cNvPr id="6" name="Rounded Rectangle 5"/>
          <p:cNvSpPr/>
          <p:nvPr/>
        </p:nvSpPr>
        <p:spPr>
          <a:xfrm>
            <a:off x="731520" y="1691640"/>
            <a:ext cx="5166360" cy="4663440"/>
          </a:xfrm>
          <a:prstGeom prst="roundRect">
            <a:avLst/>
          </a:prstGeom>
          <a:solidFill>
            <a:srgbClr val="1C2541"/>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D4AF37"/>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Τρ</a:t>
            </a:r>
            <a:r>
              <a:rPr dirty="0">
                <a:latin typeface="Times New Roman" panose="02020603050405020304" pitchFamily="18" charset="0"/>
                <a:cs typeface="Times New Roman" panose="02020603050405020304" pitchFamily="18" charset="0"/>
              </a:rPr>
              <a:t>απ</a:t>
            </a:r>
            <a:r>
              <a:rPr dirty="0" err="1">
                <a:latin typeface="Times New Roman" panose="02020603050405020304" pitchFamily="18" charset="0"/>
                <a:cs typeface="Times New Roman" panose="02020603050405020304" pitchFamily="18" charset="0"/>
              </a:rPr>
              <a:t>έζι</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οι</a:t>
            </a:r>
            <a:r>
              <a:rPr dirty="0">
                <a:latin typeface="Times New Roman" panose="02020603050405020304" pitchFamily="18" charset="0"/>
                <a:cs typeface="Times New Roman" panose="02020603050405020304" pitchFamily="18" charset="0"/>
              </a:rPr>
              <a:t> 3 </a:t>
            </a:r>
            <a:r>
              <a:rPr dirty="0" err="1">
                <a:latin typeface="Times New Roman" panose="02020603050405020304" pitchFamily="18" charset="0"/>
                <a:cs typeface="Times New Roman" panose="02020603050405020304" pitchFamily="18" charset="0"/>
              </a:rPr>
              <a:t>Χρυσές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Ρά</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δοι</a:t>
            </a:r>
            <a:endParaRPr dirty="0">
              <a:latin typeface="Times New Roman" panose="02020603050405020304" pitchFamily="18" charset="0"/>
              <a:cs typeface="Times New Roman" panose="02020603050405020304" pitchFamily="18" charset="0"/>
            </a:endParaRP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Εμφάνιση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ζλ</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Εμφ</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νίζοντ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3 </a:t>
            </a:r>
            <a:r>
              <a:rPr dirty="0" err="1">
                <a:latin typeface="Times New Roman" panose="02020603050405020304" pitchFamily="18" charset="0"/>
                <a:cs typeface="Times New Roman" panose="02020603050405020304" pitchFamily="18" charset="0"/>
              </a:rPr>
              <a:t>χρυσές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ρούτζινες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ρά</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δοι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κεντρικό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ξύλινο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τρ</a:t>
            </a:r>
            <a:r>
              <a:rPr dirty="0">
                <a:latin typeface="Times New Roman" panose="02020603050405020304" pitchFamily="18" charset="0"/>
                <a:cs typeface="Times New Roman" panose="02020603050405020304" pitchFamily="18" charset="0"/>
              </a:rPr>
              <a:t>απ</a:t>
            </a:r>
            <a:r>
              <a:rPr dirty="0" err="1">
                <a:latin typeface="Times New Roman" panose="02020603050405020304" pitchFamily="18" charset="0"/>
                <a:cs typeface="Times New Roman" panose="02020603050405020304" pitchFamily="18" charset="0"/>
              </a:rPr>
              <a:t>έζι</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t>• Μη Λυμένη Αρχικοποίηση: Οι ράβδοι ξεκινούν στις γωνίες [0.0°, 180.0°, 60.0°] (μη λυμένη κατάσταση).</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Περιστροφή</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νά</a:t>
            </a:r>
            <a:r>
              <a:rPr dirty="0">
                <a:latin typeface="Times New Roman" panose="02020603050405020304" pitchFamily="18" charset="0"/>
                <a:cs typeface="Times New Roman" panose="02020603050405020304" pitchFamily="18" charset="0"/>
              </a:rPr>
              <a:t> 60°: </a:t>
            </a:r>
            <a:r>
              <a:rPr dirty="0" err="1">
                <a:latin typeface="Times New Roman" panose="02020603050405020304" pitchFamily="18" charset="0"/>
                <a:cs typeface="Times New Roman" panose="02020603050405020304" pitchFamily="18" charset="0"/>
              </a:rPr>
              <a:t>Κάθε</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λληλε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ίδρ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ση</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εριστρέφει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ρά</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δο</a:t>
            </a:r>
            <a:r>
              <a:rPr dirty="0">
                <a:latin typeface="Times New Roman" panose="02020603050405020304" pitchFamily="18" charset="0"/>
                <a:cs typeface="Times New Roman" panose="02020603050405020304" pitchFamily="18" charset="0"/>
              </a:rPr>
              <a:t> flat π</a:t>
            </a:r>
            <a:r>
              <a:rPr dirty="0" err="1">
                <a:latin typeface="Times New Roman" panose="02020603050405020304" pitchFamily="18" charset="0"/>
                <a:cs typeface="Times New Roman" panose="02020603050405020304" pitchFamily="18" charset="0"/>
              </a:rPr>
              <a:t>άνω</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τρ</a:t>
            </a:r>
            <a:r>
              <a:rPr dirty="0">
                <a:latin typeface="Times New Roman" panose="02020603050405020304" pitchFamily="18" charset="0"/>
                <a:cs typeface="Times New Roman" panose="02020603050405020304" pitchFamily="18" charset="0"/>
              </a:rPr>
              <a:t>απ</a:t>
            </a:r>
            <a:r>
              <a:rPr dirty="0" err="1">
                <a:latin typeface="Times New Roman" panose="02020603050405020304" pitchFamily="18" charset="0"/>
                <a:cs typeface="Times New Roman" panose="02020603050405020304" pitchFamily="18" charset="0"/>
              </a:rPr>
              <a:t>έζι</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Στόχος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Ευθυγράμμιση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των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ρά</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δων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ώστε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ν</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σχημ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τίσουν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έν</a:t>
            </a:r>
            <a:r>
              <a:rPr dirty="0">
                <a:latin typeface="Times New Roman" panose="02020603050405020304" pitchFamily="18" charset="0"/>
                <a:cs typeface="Times New Roman" panose="02020603050405020304" pitchFamily="18" charset="0"/>
              </a:rPr>
              <a:t>α π</a:t>
            </a:r>
            <a:r>
              <a:rPr dirty="0" err="1">
                <a:latin typeface="Times New Roman" panose="02020603050405020304" pitchFamily="18" charset="0"/>
                <a:cs typeface="Times New Roman" panose="02020603050405020304" pitchFamily="18" charset="0"/>
              </a:rPr>
              <a:t>λήρες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τρίγωνο</a:t>
            </a:r>
            <a:r>
              <a:rPr dirty="0">
                <a:latin typeface="Times New Roman" panose="02020603050405020304" pitchFamily="18" charset="0"/>
                <a:cs typeface="Times New Roman" panose="02020603050405020304" pitchFamily="18" charset="0"/>
              </a:rPr>
              <a:t>.</a:t>
            </a:r>
          </a:p>
        </p:txBody>
      </p:sp>
      <p:sp>
        <p:nvSpPr>
          <p:cNvPr id="7" name="Rounded Rectangle 6"/>
          <p:cNvSpPr/>
          <p:nvPr/>
        </p:nvSpPr>
        <p:spPr>
          <a:xfrm>
            <a:off x="6263640" y="1691640"/>
            <a:ext cx="5166360" cy="4663440"/>
          </a:xfrm>
          <a:prstGeom prst="roundRect">
            <a:avLst/>
          </a:prstGeom>
          <a:solidFill>
            <a:srgbClr val="1C2541"/>
          </a:solidFill>
          <a:ln w="12700">
            <a:solidFill>
              <a:srgbClr val="4ECDC4"/>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4ECDC4"/>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Αλγόριθμος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check_triangle_puzzle</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ξινόμηση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σε</a:t>
            </a:r>
            <a:r>
              <a:rPr dirty="0">
                <a:latin typeface="Times New Roman" panose="02020603050405020304" pitchFamily="18" charset="0"/>
                <a:cs typeface="Times New Roman" panose="02020603050405020304" pitchFamily="18" charset="0"/>
              </a:rPr>
              <a:t> 3 </a:t>
            </a:r>
            <a:r>
              <a:rPr dirty="0" err="1">
                <a:latin typeface="Times New Roman" panose="02020603050405020304" pitchFamily="18" charset="0"/>
                <a:cs typeface="Times New Roman" panose="02020603050405020304" pitchFamily="18" charset="0"/>
              </a:rPr>
              <a:t>Τύ</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ους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Οριζόντι</a:t>
            </a:r>
            <a:r>
              <a:rPr dirty="0">
                <a:latin typeface="Times New Roman" panose="02020603050405020304" pitchFamily="18" charset="0"/>
                <a:cs typeface="Times New Roman" panose="02020603050405020304" pitchFamily="18" charset="0"/>
              </a:rPr>
              <a:t>α (0°/180°), Slash / (60°/240°), Backslash \ (120°/300°).</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Υ</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οστήριξη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Συμμετρί</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ειδή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ρά</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δοι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είν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ορθογώνιες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οι</a:t>
            </a:r>
            <a:r>
              <a:rPr dirty="0">
                <a:latin typeface="Times New Roman" panose="02020603050405020304" pitchFamily="18" charset="0"/>
                <a:cs typeface="Times New Roman" panose="02020603050405020304" pitchFamily="18" charset="0"/>
              </a:rPr>
              <a:t> 180° </a:t>
            </a:r>
            <a:r>
              <a:rPr dirty="0" err="1">
                <a:latin typeface="Times New Roman" panose="02020603050405020304" pitchFamily="18" charset="0"/>
                <a:cs typeface="Times New Roman" panose="02020603050405020304" pitchFamily="18" charset="0"/>
              </a:rPr>
              <a:t>μοιάζουν</a:t>
            </a:r>
            <a:r>
              <a:rPr dirty="0">
                <a:latin typeface="Times New Roman" panose="02020603050405020304" pitchFamily="18" charset="0"/>
                <a:cs typeface="Times New Roman" panose="02020603050405020304" pitchFamily="18" charset="0"/>
              </a:rPr>
              <a:t> πα</a:t>
            </a:r>
            <a:r>
              <a:rPr dirty="0" err="1">
                <a:latin typeface="Times New Roman" panose="02020603050405020304" pitchFamily="18" charset="0"/>
                <a:cs typeface="Times New Roman" panose="02020603050405020304" pitchFamily="18" charset="0"/>
              </a:rPr>
              <a:t>νομοιότυ</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ες</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Έλεγχος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Μετ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θέσεων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 πα</a:t>
            </a:r>
            <a:r>
              <a:rPr dirty="0" err="1">
                <a:latin typeface="Times New Roman" panose="02020603050405020304" pitchFamily="18" charset="0"/>
                <a:cs typeface="Times New Roman" panose="02020603050405020304" pitchFamily="18" charset="0"/>
              </a:rPr>
              <a:t>ζλ</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λύνετ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υ</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άρχει</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κρι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ώς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μί</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ρά</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δος</a:t>
            </a:r>
            <a:r>
              <a:rPr dirty="0">
                <a:latin typeface="Times New Roman" panose="02020603050405020304" pitchFamily="18" charset="0"/>
                <a:cs typeface="Times New Roman" panose="02020603050405020304" pitchFamily="18" charset="0"/>
              </a:rPr>
              <a:t> απ</a:t>
            </a:r>
            <a:r>
              <a:rPr dirty="0" err="1">
                <a:latin typeface="Times New Roman" panose="02020603050405020304" pitchFamily="18" charset="0"/>
                <a:cs typeface="Times New Roman" panose="02020603050405020304" pitchFamily="18" charset="0"/>
              </a:rPr>
              <a:t>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κάθε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τύ</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a:t>
            </a:r>
            <a:r>
              <a:rPr dirty="0">
                <a:latin typeface="Times New Roman" panose="02020603050405020304" pitchFamily="18" charset="0"/>
                <a:cs typeface="Times New Roman" panose="02020603050405020304" pitchFamily="18" charset="0"/>
              </a:rPr>
              <a:t> (types == [0,1,2]).</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οτέλεσμ</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Δέχετ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οιονδή</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οτε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τικά</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σωστό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σχημ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τισμό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τριγώνου</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χωρίς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εκνευρισμό</a:t>
            </a:r>
            <a:r>
              <a:rPr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731520" y="320040"/>
            <a:ext cx="2210862" cy="261610"/>
          </a:xfrm>
          <a:prstGeom prst="rect">
            <a:avLst/>
          </a:prstGeom>
          <a:noFill/>
        </p:spPr>
        <p:txBody>
          <a:bodyPr wrap="none">
            <a:spAutoFit/>
          </a:bodyPr>
          <a:lstStyle/>
          <a:p>
            <a:pPr>
              <a:defRPr sz="1100" b="1">
                <a:solidFill>
                  <a:srgbClr val="D4AF37"/>
                </a:solidFill>
              </a:defRPr>
            </a:pPr>
            <a:r>
              <a:rPr>
                <a:latin typeface="Times New Roman" panose="02020603050405020304" pitchFamily="18" charset="0"/>
                <a:cs typeface="Times New Roman" panose="02020603050405020304" pitchFamily="18" charset="0"/>
              </a:rPr>
              <a:t>ΟΛΟΚΛΗΡΩΣΗ &amp; ΑΠΟΔΡΑΣΗ</a:t>
            </a:r>
          </a:p>
        </p:txBody>
      </p:sp>
      <p:sp>
        <p:nvSpPr>
          <p:cNvPr id="5" name="TextBox 4"/>
          <p:cNvSpPr txBox="1"/>
          <p:nvPr/>
        </p:nvSpPr>
        <p:spPr>
          <a:xfrm>
            <a:off x="731520" y="594360"/>
            <a:ext cx="10698480" cy="707886"/>
          </a:xfrm>
          <a:prstGeom prst="rect">
            <a:avLst/>
          </a:prstGeom>
          <a:noFill/>
        </p:spPr>
        <p:txBody>
          <a:bodyPr wrap="square">
            <a:spAutoFit/>
          </a:bodyPr>
          <a:lstStyle/>
          <a:p>
            <a:pPr algn="ctr">
              <a:defRPr sz="2600" b="1">
                <a:solidFill>
                  <a:srgbClr val="FFFFFF"/>
                </a:solidFill>
              </a:defRPr>
            </a:pPr>
            <a:r>
              <a:rPr dirty="0">
                <a:latin typeface="Times New Roman" panose="02020603050405020304" pitchFamily="18" charset="0"/>
                <a:cs typeface="Times New Roman" panose="02020603050405020304" pitchFamily="18" charset="0"/>
              </a:rPr>
              <a:t>9. </a:t>
            </a:r>
            <a:r>
              <a:rPr dirty="0" err="1">
                <a:latin typeface="Times New Roman" panose="02020603050405020304" pitchFamily="18" charset="0"/>
                <a:cs typeface="Times New Roman" panose="02020603050405020304" pitchFamily="18" charset="0"/>
              </a:rPr>
              <a:t>Μηχ</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νισμός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Εξόδου</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Αυτόμ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Τερμ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τισμός</a:t>
            </a:r>
            <a:endParaRPr dirty="0">
              <a:latin typeface="Times New Roman" panose="02020603050405020304" pitchFamily="18" charset="0"/>
              <a:cs typeface="Times New Roman" panose="02020603050405020304" pitchFamily="18" charset="0"/>
            </a:endParaRPr>
          </a:p>
          <a:p>
            <a:pPr algn="ctr">
              <a:defRPr sz="1400" i="1">
                <a:solidFill>
                  <a:srgbClr val="4ECDC4"/>
                </a:solidFill>
              </a:defRPr>
            </a:pPr>
            <a:r>
              <a:rPr dirty="0" err="1">
                <a:latin typeface="Times New Roman" panose="02020603050405020304" pitchFamily="18" charset="0"/>
                <a:cs typeface="Times New Roman" panose="02020603050405020304" pitchFamily="18" charset="0"/>
              </a:rPr>
              <a:t>Ξεκλείδωμ</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Μυστικής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Πόρτ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ς</a:t>
            </a:r>
            <a:r>
              <a:rPr dirty="0">
                <a:latin typeface="Times New Roman" panose="02020603050405020304" pitchFamily="18" charset="0"/>
                <a:cs typeface="Times New Roman" panose="02020603050405020304" pitchFamily="18" charset="0"/>
              </a:rPr>
              <a:t> &amp; Victory Screen</a:t>
            </a:r>
          </a:p>
        </p:txBody>
      </p:sp>
      <p:sp>
        <p:nvSpPr>
          <p:cNvPr id="6" name="Rounded Rectangle 5"/>
          <p:cNvSpPr/>
          <p:nvPr/>
        </p:nvSpPr>
        <p:spPr>
          <a:xfrm>
            <a:off x="731520" y="1691640"/>
            <a:ext cx="5166360" cy="4663440"/>
          </a:xfrm>
          <a:prstGeom prst="roundRect">
            <a:avLst/>
          </a:prstGeom>
          <a:solidFill>
            <a:srgbClr val="1C2541"/>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D4AF37"/>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Μυστικό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Οικόσημο</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Πόρτ</a:t>
            </a:r>
            <a:r>
              <a:rPr dirty="0">
                <a:latin typeface="Times New Roman" panose="02020603050405020304" pitchFamily="18" charset="0"/>
                <a:cs typeface="Times New Roman" panose="02020603050405020304" pitchFamily="18" charset="0"/>
              </a:rPr>
              <a:t>α</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Ξεκλείδωμ</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Μετά</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την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ίλυση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του</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τριγώνου</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χρυσό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οικόσημο</a:t>
            </a:r>
            <a:r>
              <a:rPr dirty="0">
                <a:latin typeface="Times New Roman" panose="02020603050405020304" pitchFamily="18" charset="0"/>
                <a:cs typeface="Times New Roman" panose="02020603050405020304" pitchFamily="18" charset="0"/>
              </a:rPr>
              <a:t> (Secret Crest) </a:t>
            </a:r>
            <a:r>
              <a:rPr dirty="0" err="1">
                <a:latin typeface="Times New Roman" panose="02020603050405020304" pitchFamily="18" charset="0"/>
                <a:cs typeface="Times New Roman" panose="02020603050405020304" pitchFamily="18" charset="0"/>
              </a:rPr>
              <a:t>γίνετ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ράσινο</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Προτρο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Αλλάζει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σε</a:t>
            </a:r>
            <a:r>
              <a:rPr dirty="0">
                <a:latin typeface="Times New Roman" panose="02020603050405020304" pitchFamily="18" charset="0"/>
                <a:cs typeface="Times New Roman" panose="02020603050405020304" pitchFamily="18" charset="0"/>
              </a:rPr>
              <a:t> [E] Turn Secret Crest.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Door Pivot Tween: </a:t>
            </a:r>
            <a:r>
              <a:rPr dirty="0" err="1">
                <a:latin typeface="Times New Roman" panose="02020603050405020304" pitchFamily="18" charset="0"/>
                <a:cs typeface="Times New Roman" panose="02020603050405020304" pitchFamily="18" charset="0"/>
              </a:rPr>
              <a:t>Η</a:t>
            </a:r>
            <a:r>
              <a:rPr dirty="0">
                <a:latin typeface="Times New Roman" panose="02020603050405020304" pitchFamily="18" charset="0"/>
                <a:cs typeface="Times New Roman" panose="02020603050405020304" pitchFamily="18" charset="0"/>
              </a:rPr>
              <a:t> βα</a:t>
            </a:r>
            <a:r>
              <a:rPr dirty="0" err="1">
                <a:latin typeface="Times New Roman" panose="02020603050405020304" pitchFamily="18" charset="0"/>
                <a:cs typeface="Times New Roman" panose="02020603050405020304" pitchFamily="18" charset="0"/>
              </a:rPr>
              <a:t>ριά</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ξύλινη</a:t>
            </a:r>
            <a:r>
              <a:rPr dirty="0">
                <a:latin typeface="Times New Roman" panose="02020603050405020304" pitchFamily="18" charset="0"/>
                <a:cs typeface="Times New Roman" panose="02020603050405020304" pitchFamily="18" charset="0"/>
              </a:rPr>
              <a:t> β</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λιοθήκη</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όρτ</a:t>
            </a:r>
            <a:r>
              <a:rPr dirty="0">
                <a:latin typeface="Times New Roman" panose="02020603050405020304" pitchFamily="18" charset="0"/>
                <a:cs typeface="Times New Roman" panose="02020603050405020304" pitchFamily="18" charset="0"/>
              </a:rPr>
              <a:t>α π</a:t>
            </a:r>
            <a:r>
              <a:rPr dirty="0" err="1">
                <a:latin typeface="Times New Roman" panose="02020603050405020304" pitchFamily="18" charset="0"/>
                <a:cs typeface="Times New Roman" panose="02020603050405020304" pitchFamily="18" charset="0"/>
              </a:rPr>
              <a:t>εριστρέφετ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90° </a:t>
            </a:r>
            <a:r>
              <a:rPr dirty="0" err="1">
                <a:latin typeface="Times New Roman" panose="02020603050405020304" pitchFamily="18" charset="0"/>
                <a:cs typeface="Times New Roman" panose="02020603050405020304" pitchFamily="18" charset="0"/>
              </a:rPr>
              <a:t>ομ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λά</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σε</a:t>
            </a:r>
            <a:r>
              <a:rPr dirty="0">
                <a:latin typeface="Times New Roman" panose="02020603050405020304" pitchFamily="18" charset="0"/>
                <a:cs typeface="Times New Roman" panose="02020603050405020304" pitchFamily="18" charset="0"/>
              </a:rPr>
              <a:t> 1.5 </a:t>
            </a:r>
            <a:r>
              <a:rPr dirty="0" err="1">
                <a:latin typeface="Times New Roman" panose="02020603050405020304" pitchFamily="18" charset="0"/>
                <a:cs typeface="Times New Roman" panose="02020603050405020304" pitchFamily="18" charset="0"/>
              </a:rPr>
              <a:t>δευτερόλε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οκάλυψη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λύ</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τετ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φωτεινό</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έρ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σμ</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δι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φυγής</a:t>
            </a:r>
            <a:r>
              <a:rPr dirty="0">
                <a:latin typeface="Times New Roman" panose="02020603050405020304" pitchFamily="18" charset="0"/>
                <a:cs typeface="Times New Roman" panose="02020603050405020304" pitchFamily="18" charset="0"/>
              </a:rPr>
              <a:t>.</a:t>
            </a:r>
          </a:p>
        </p:txBody>
      </p:sp>
      <p:sp>
        <p:nvSpPr>
          <p:cNvPr id="7" name="Rounded Rectangle 6"/>
          <p:cNvSpPr/>
          <p:nvPr/>
        </p:nvSpPr>
        <p:spPr>
          <a:xfrm>
            <a:off x="6263640" y="1691640"/>
            <a:ext cx="5166360" cy="4663440"/>
          </a:xfrm>
          <a:prstGeom prst="roundRect">
            <a:avLst/>
          </a:prstGeom>
          <a:solidFill>
            <a:srgbClr val="1C2541"/>
          </a:solidFill>
          <a:ln w="12700">
            <a:solidFill>
              <a:srgbClr val="4ECDC4"/>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4ECDC4"/>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Οθόνη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Νίκης</a:t>
            </a:r>
            <a:r>
              <a:rPr dirty="0">
                <a:latin typeface="Times New Roman" panose="02020603050405020304" pitchFamily="18" charset="0"/>
                <a:cs typeface="Times New Roman" panose="02020603050405020304" pitchFamily="18" charset="0"/>
              </a:rPr>
              <a:t> &amp; Auto-Quit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Area3D Trigger: </a:t>
            </a:r>
            <a:r>
              <a:rPr dirty="0" err="1">
                <a:latin typeface="Times New Roman" panose="02020603050405020304" pitchFamily="18" charset="0"/>
                <a:cs typeface="Times New Roman" panose="02020603050405020304" pitchFamily="18" charset="0"/>
              </a:rPr>
              <a:t>Ανίχνευση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διέλευσης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του</a:t>
            </a:r>
            <a:r>
              <a:rPr dirty="0">
                <a:latin typeface="Times New Roman" panose="02020603050405020304" pitchFamily="18" charset="0"/>
                <a:cs typeface="Times New Roman" panose="02020603050405020304" pitchFamily="18" charset="0"/>
              </a:rPr>
              <a:t> πα</a:t>
            </a:r>
            <a:r>
              <a:rPr dirty="0" err="1">
                <a:latin typeface="Times New Roman" panose="02020603050405020304" pitchFamily="18" charset="0"/>
                <a:cs typeface="Times New Roman" panose="02020603050405020304" pitchFamily="18" charset="0"/>
              </a:rPr>
              <a:t>ίκτη</a:t>
            </a:r>
            <a:r>
              <a:rPr dirty="0">
                <a:latin typeface="Times New Roman" panose="02020603050405020304" pitchFamily="18" charset="0"/>
                <a:cs typeface="Times New Roman" panose="02020603050405020304" pitchFamily="18" charset="0"/>
              </a:rPr>
              <a:t> απ</a:t>
            </a:r>
            <a:r>
              <a:rPr dirty="0" err="1">
                <a:latin typeface="Times New Roman" panose="02020603050405020304" pitchFamily="18" charset="0"/>
                <a:cs typeface="Times New Roman" panose="02020603050405020304" pitchFamily="18" charset="0"/>
              </a:rPr>
              <a:t>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τώφλι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εξόδου</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Victory </a:t>
            </a:r>
            <a:r>
              <a:rPr dirty="0" err="1">
                <a:latin typeface="Times New Roman" panose="02020603050405020304" pitchFamily="18" charset="0"/>
                <a:cs typeface="Times New Roman" panose="02020603050405020304" pitchFamily="18" charset="0"/>
              </a:rPr>
              <a:t>CanvasLayer</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Εμφάνιση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οθόνης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μήνυμ</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Συγχ</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ρητήρι</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Α</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έδρ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σες</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Αυτόμ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Τερμ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τισμός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Αντίστροφη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μέτρηση</a:t>
            </a:r>
            <a:r>
              <a:rPr dirty="0">
                <a:latin typeface="Times New Roman" panose="02020603050405020304" pitchFamily="18" charset="0"/>
                <a:cs typeface="Times New Roman" panose="02020603050405020304" pitchFamily="18" charset="0"/>
              </a:rPr>
              <a:t> 3 </a:t>
            </a:r>
            <a:r>
              <a:rPr dirty="0" err="1">
                <a:latin typeface="Times New Roman" panose="02020603050405020304" pitchFamily="18" charset="0"/>
                <a:cs typeface="Times New Roman" panose="02020603050405020304" pitchFamily="18" charset="0"/>
              </a:rPr>
              <a:t>δευτερολέ</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των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κλήση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get_tree</a:t>
            </a:r>
            <a:r>
              <a:rPr dirty="0">
                <a:latin typeface="Times New Roman" panose="02020603050405020304" pitchFamily="18" charset="0"/>
                <a:cs typeface="Times New Roman" panose="02020603050405020304" pitchFamily="18" charset="0"/>
              </a:rPr>
              <a:t>().quit().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Κλείσιμο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Πλήρης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πα</a:t>
            </a:r>
            <a:r>
              <a:rPr dirty="0" err="1">
                <a:latin typeface="Times New Roman" panose="02020603050405020304" pitchFamily="18" charset="0"/>
                <a:cs typeface="Times New Roman" panose="02020603050405020304" pitchFamily="18" charset="0"/>
              </a:rPr>
              <a:t>γγελμ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τικός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κύκλος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ζωής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εφ</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ρμογής</a:t>
            </a:r>
            <a:r>
              <a:rPr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731520" y="320040"/>
            <a:ext cx="1503938" cy="261610"/>
          </a:xfrm>
          <a:prstGeom prst="rect">
            <a:avLst/>
          </a:prstGeom>
          <a:noFill/>
        </p:spPr>
        <p:txBody>
          <a:bodyPr wrap="none">
            <a:spAutoFit/>
          </a:bodyPr>
          <a:lstStyle/>
          <a:p>
            <a:pPr>
              <a:defRPr sz="1100" b="1">
                <a:solidFill>
                  <a:srgbClr val="D4AF37"/>
                </a:solidFill>
              </a:defRPr>
            </a:pPr>
            <a:r>
              <a:rPr>
                <a:latin typeface="Times New Roman" panose="02020603050405020304" pitchFamily="18" charset="0"/>
                <a:cs typeface="Times New Roman" panose="02020603050405020304" pitchFamily="18" charset="0"/>
              </a:rPr>
              <a:t>ΒΕΛΤΙΣΤΟΠΟΙΗΣΗ</a:t>
            </a:r>
          </a:p>
        </p:txBody>
      </p:sp>
      <p:sp>
        <p:nvSpPr>
          <p:cNvPr id="5" name="TextBox 4"/>
          <p:cNvSpPr txBox="1"/>
          <p:nvPr/>
        </p:nvSpPr>
        <p:spPr>
          <a:xfrm>
            <a:off x="731520" y="581650"/>
            <a:ext cx="10698480" cy="707886"/>
          </a:xfrm>
          <a:prstGeom prst="rect">
            <a:avLst/>
          </a:prstGeom>
          <a:noFill/>
        </p:spPr>
        <p:txBody>
          <a:bodyPr wrap="square">
            <a:spAutoFit/>
          </a:bodyPr>
          <a:lstStyle/>
          <a:p>
            <a:pPr algn="ctr">
              <a:defRPr sz="2600" b="1">
                <a:solidFill>
                  <a:srgbClr val="FFFFFF"/>
                </a:solidFill>
              </a:defRPr>
            </a:pPr>
            <a:r>
              <a:rPr dirty="0">
                <a:latin typeface="Times New Roman" panose="02020603050405020304" pitchFamily="18" charset="0"/>
                <a:cs typeface="Times New Roman" panose="02020603050405020304" pitchFamily="18" charset="0"/>
              </a:rPr>
              <a:t>10. </a:t>
            </a:r>
            <a:r>
              <a:rPr dirty="0" err="1">
                <a:latin typeface="Times New Roman" panose="02020603050405020304" pitchFamily="18" charset="0"/>
                <a:cs typeface="Times New Roman" panose="02020603050405020304" pitchFamily="18" charset="0"/>
              </a:rPr>
              <a:t>Τεχνικές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Βελτιστο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οίησης</a:t>
            </a:r>
            <a:r>
              <a:rPr dirty="0">
                <a:latin typeface="Times New Roman" panose="02020603050405020304" pitchFamily="18" charset="0"/>
                <a:cs typeface="Times New Roman" panose="02020603050405020304" pitchFamily="18" charset="0"/>
              </a:rPr>
              <a:t> (Optimization)</a:t>
            </a:r>
          </a:p>
          <a:p>
            <a:pPr algn="ctr">
              <a:defRPr sz="1400" i="1">
                <a:solidFill>
                  <a:srgbClr val="4ECDC4"/>
                </a:solidFill>
              </a:defRPr>
            </a:pPr>
            <a:r>
              <a:rPr dirty="0" err="1">
                <a:latin typeface="Times New Roman" panose="02020603050405020304" pitchFamily="18" charset="0"/>
                <a:cs typeface="Times New Roman" panose="02020603050405020304" pitchFamily="18" charset="0"/>
              </a:rPr>
              <a:t>Ανάλυση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Τεχνικών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Βελτιστο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οίησης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σύμφων</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τις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a:t>
            </a:r>
            <a:r>
              <a:rPr dirty="0">
                <a:latin typeface="Times New Roman" panose="02020603050405020304" pitchFamily="18" charset="0"/>
                <a:cs typeface="Times New Roman" panose="02020603050405020304" pitchFamily="18" charset="0"/>
              </a:rPr>
              <a:t>πα</a:t>
            </a:r>
            <a:r>
              <a:rPr dirty="0" err="1">
                <a:latin typeface="Times New Roman" panose="02020603050405020304" pitchFamily="18" charset="0"/>
                <a:cs typeface="Times New Roman" panose="02020603050405020304" pitchFamily="18" charset="0"/>
              </a:rPr>
              <a:t>ιτήσεις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του</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θήμ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τος</a:t>
            </a:r>
            <a:endParaRPr dirty="0">
              <a:latin typeface="Times New Roman" panose="02020603050405020304" pitchFamily="18" charset="0"/>
              <a:cs typeface="Times New Roman" panose="02020603050405020304" pitchFamily="18" charset="0"/>
            </a:endParaRPr>
          </a:p>
        </p:txBody>
      </p:sp>
      <p:sp>
        <p:nvSpPr>
          <p:cNvPr id="6" name="Rounded Rectangle 5"/>
          <p:cNvSpPr/>
          <p:nvPr/>
        </p:nvSpPr>
        <p:spPr>
          <a:xfrm>
            <a:off x="731520" y="1691640"/>
            <a:ext cx="3364992" cy="4663440"/>
          </a:xfrm>
          <a:prstGeom prst="roundRect">
            <a:avLst/>
          </a:prstGeom>
          <a:solidFill>
            <a:srgbClr val="1C2541"/>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wrap="square" lIns="256032" tIns="274320" rIns="256032" bIns="274320" rtlCol="0" anchor="ctr"/>
          <a:lstStyle/>
          <a:p>
            <a:pPr algn="ctr">
              <a:defRPr sz="1600" b="1">
                <a:solidFill>
                  <a:srgbClr val="D4AF37"/>
                </a:solidFill>
              </a:defRPr>
            </a:pPr>
            <a:r>
              <a:rPr dirty="0">
                <a:latin typeface="Times New Roman" panose="02020603050405020304" pitchFamily="18" charset="0"/>
                <a:cs typeface="Times New Roman" panose="02020603050405020304" pitchFamily="18" charset="0"/>
              </a:rPr>
              <a:t>📦 Asset &amp; Geometry</a:t>
            </a:r>
          </a:p>
          <a:p>
            <a:pPr>
              <a:spcAft>
                <a:spcPts val="1200"/>
              </a:spcAft>
              <a:defRPr sz="1400" b="1">
                <a:solidFill>
                  <a:srgbClr val="FFFFFF"/>
                </a:solidFill>
              </a:defRPr>
            </a:pPr>
            <a:r>
              <a:t>• Πραγματικές Μετρήσεις RenderingServer: Μόλις 68 Draw Calls, 89 Objects, 1.8M Primitives.</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Μηδενικό</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μέγεθος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εξωτερικών</a:t>
            </a:r>
            <a:r>
              <a:rPr dirty="0">
                <a:latin typeface="Times New Roman" panose="02020603050405020304" pitchFamily="18" charset="0"/>
                <a:cs typeface="Times New Roman" panose="02020603050405020304" pitchFamily="18" charset="0"/>
              </a:rPr>
              <a:t> 3D α</a:t>
            </a:r>
            <a:r>
              <a:rPr dirty="0" err="1">
                <a:latin typeface="Times New Roman" panose="02020603050405020304" pitchFamily="18" charset="0"/>
                <a:cs typeface="Times New Roman" panose="02020603050405020304" pitchFamily="18" charset="0"/>
              </a:rPr>
              <a:t>ρχείων</a:t>
            </a:r>
            <a:r>
              <a:rPr dirty="0">
                <a:latin typeface="Times New Roman" panose="02020603050405020304" pitchFamily="18" charset="0"/>
                <a:cs typeface="Times New Roman" panose="02020603050405020304" pitchFamily="18" charset="0"/>
              </a:rPr>
              <a:t> (.obj/.</a:t>
            </a:r>
            <a:r>
              <a:rPr dirty="0" err="1">
                <a:latin typeface="Times New Roman" panose="02020603050405020304" pitchFamily="18" charset="0"/>
                <a:cs typeface="Times New Roman" panose="02020603050405020304" pitchFamily="18" charset="0"/>
              </a:rPr>
              <a:t>gltf</a:t>
            </a:r>
            <a:r>
              <a:rPr dirty="0">
                <a:latin typeface="Times New Roman" panose="02020603050405020304" pitchFamily="18" charset="0"/>
                <a:cs typeface="Times New Roman" panose="02020603050405020304" pitchFamily="18" charset="0"/>
              </a:rPr>
              <a:t>)</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Χρήση</a:t>
            </a:r>
            <a:r>
              <a:rPr dirty="0">
                <a:latin typeface="Times New Roman" panose="02020603050405020304" pitchFamily="18" charset="0"/>
                <a:cs typeface="Times New Roman" panose="02020603050405020304" pitchFamily="18" charset="0"/>
              </a:rPr>
              <a:t> native Box/Cylinder/Sphere meshes</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Άμεση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φόρτωση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στη</a:t>
            </a:r>
            <a:r>
              <a:rPr dirty="0">
                <a:latin typeface="Times New Roman" panose="02020603050405020304" pitchFamily="18" charset="0"/>
                <a:cs typeface="Times New Roman" panose="02020603050405020304" pitchFamily="18" charset="0"/>
              </a:rPr>
              <a:t> VRAM</a:t>
            </a:r>
          </a:p>
        </p:txBody>
      </p:sp>
      <p:sp>
        <p:nvSpPr>
          <p:cNvPr id="7" name="Rounded Rectangle 6"/>
          <p:cNvSpPr/>
          <p:nvPr/>
        </p:nvSpPr>
        <p:spPr>
          <a:xfrm>
            <a:off x="4407407" y="1691640"/>
            <a:ext cx="3364992" cy="4663440"/>
          </a:xfrm>
          <a:prstGeom prst="roundRect">
            <a:avLst/>
          </a:prstGeom>
          <a:solidFill>
            <a:srgbClr val="1C2541"/>
          </a:solidFill>
          <a:ln w="12700">
            <a:solidFill>
              <a:srgbClr val="4ECDC4"/>
            </a:solidFill>
          </a:ln>
        </p:spPr>
        <p:style>
          <a:lnRef idx="1">
            <a:schemeClr val="accent1"/>
          </a:lnRef>
          <a:fillRef idx="3">
            <a:schemeClr val="accent1"/>
          </a:fillRef>
          <a:effectRef idx="2">
            <a:schemeClr val="accent1"/>
          </a:effectRef>
          <a:fontRef idx="minor">
            <a:schemeClr val="lt1"/>
          </a:fontRef>
        </p:style>
        <p:txBody>
          <a:bodyPr wrap="square" lIns="256032" tIns="274320" rIns="256032" bIns="274320" rtlCol="0" anchor="ctr"/>
          <a:lstStyle/>
          <a:p>
            <a:pPr algn="ctr">
              <a:defRPr sz="1600" b="1">
                <a:solidFill>
                  <a:srgbClr val="4ECDC4"/>
                </a:solidFill>
              </a:defRPr>
            </a:pPr>
            <a:r>
              <a:rPr dirty="0">
                <a:latin typeface="Times New Roman" panose="02020603050405020304" pitchFamily="18" charset="0"/>
                <a:cs typeface="Times New Roman" panose="02020603050405020304" pitchFamily="18" charset="0"/>
              </a:rPr>
              <a:t>🎨 Rendering &amp; Draw Calls</a:t>
            </a:r>
          </a:p>
          <a:p>
            <a:pPr>
              <a:spcAft>
                <a:spcPts val="1200"/>
              </a:spcAft>
              <a:defRPr sz="1400" b="1">
                <a:solidFill>
                  <a:srgbClr val="FFFFFF"/>
                </a:solidFill>
              </a:defRPr>
            </a:pPr>
            <a:r>
              <a:rPr dirty="0">
                <a:latin typeface="Times New Roman" panose="02020603050405020304" pitchFamily="18" charset="0"/>
                <a:cs typeface="Times New Roman" panose="02020603050405020304" pitchFamily="18" charset="0"/>
              </a:rPr>
              <a:t>PBR Material Batching</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πα</a:t>
            </a:r>
            <a:r>
              <a:rPr dirty="0" err="1">
                <a:latin typeface="Times New Roman" panose="02020603050405020304" pitchFamily="18" charset="0"/>
                <a:cs typeface="Times New Roman" panose="02020603050405020304" pitchFamily="18" charset="0"/>
              </a:rPr>
              <a:t>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χρησιμο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οίηση</a:t>
            </a:r>
            <a:r>
              <a:rPr dirty="0">
                <a:latin typeface="Times New Roman" panose="02020603050405020304" pitchFamily="18" charset="0"/>
                <a:cs typeface="Times New Roman" panose="02020603050405020304" pitchFamily="18" charset="0"/>
              </a:rPr>
              <a:t> StandardMaterial3D</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Ελ</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χιστο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οίηση</a:t>
            </a:r>
            <a:r>
              <a:rPr dirty="0">
                <a:latin typeface="Times New Roman" panose="02020603050405020304" pitchFamily="18" charset="0"/>
                <a:cs typeface="Times New Roman" panose="02020603050405020304" pitchFamily="18" charset="0"/>
              </a:rPr>
              <a:t> shader program swaps</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θερά</a:t>
            </a:r>
            <a:r>
              <a:rPr dirty="0">
                <a:latin typeface="Times New Roman" panose="02020603050405020304" pitchFamily="18" charset="0"/>
                <a:cs typeface="Times New Roman" panose="02020603050405020304" pitchFamily="18" charset="0"/>
              </a:rPr>
              <a:t> 60+ FPS </a:t>
            </a:r>
            <a:r>
              <a:rPr dirty="0" err="1">
                <a:latin typeface="Times New Roman" panose="02020603050405020304" pitchFamily="18" charset="0"/>
                <a:cs typeface="Times New Roman" panose="02020603050405020304" pitchFamily="18" charset="0"/>
              </a:rPr>
              <a:t>σε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κάθε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σύστημ</a:t>
            </a:r>
            <a:r>
              <a:rPr dirty="0">
                <a:latin typeface="Times New Roman" panose="02020603050405020304" pitchFamily="18" charset="0"/>
                <a:cs typeface="Times New Roman" panose="02020603050405020304" pitchFamily="18" charset="0"/>
              </a:rPr>
              <a:t>α</a:t>
            </a:r>
          </a:p>
        </p:txBody>
      </p:sp>
      <p:sp>
        <p:nvSpPr>
          <p:cNvPr id="8" name="Rounded Rectangle 7"/>
          <p:cNvSpPr/>
          <p:nvPr/>
        </p:nvSpPr>
        <p:spPr>
          <a:xfrm>
            <a:off x="8083296" y="1691640"/>
            <a:ext cx="3364992" cy="4663440"/>
          </a:xfrm>
          <a:prstGeom prst="roundRect">
            <a:avLst/>
          </a:prstGeom>
          <a:solidFill>
            <a:srgbClr val="1C2541"/>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56032" tIns="274320" rIns="256032" bIns="274320" rtlCol="0" anchor="ctr"/>
          <a:lstStyle/>
          <a:p>
            <a:pPr algn="ctr">
              <a:defRPr sz="1600" b="1">
                <a:solidFill>
                  <a:srgbClr val="FFFFFF"/>
                </a:solidFill>
              </a:defRPr>
            </a:pPr>
            <a:r>
              <a:rPr dirty="0">
                <a:latin typeface="Times New Roman" panose="02020603050405020304" pitchFamily="18" charset="0"/>
                <a:cs typeface="Times New Roman" panose="02020603050405020304" pitchFamily="18" charset="0"/>
              </a:rPr>
              <a:t>⚡ Logic &amp; Physics</a:t>
            </a:r>
          </a:p>
          <a:p>
            <a:pPr>
              <a:spcAft>
                <a:spcPts val="1200"/>
              </a:spcAft>
              <a:defRPr sz="1400" b="1">
                <a:solidFill>
                  <a:srgbClr val="FFFFFF"/>
                </a:solidFill>
              </a:defRPr>
            </a:pPr>
            <a:r>
              <a:rPr dirty="0">
                <a:latin typeface="Times New Roman" panose="02020603050405020304" pitchFamily="18" charset="0"/>
                <a:cs typeface="Times New Roman" panose="02020603050405020304" pitchFamily="18" charset="0"/>
              </a:rPr>
              <a:t>Signals &amp; Jolt Physics</a:t>
            </a:r>
          </a:p>
          <a:p>
            <a:pPr algn="r">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Jolt Physics: </a:t>
            </a:r>
            <a:r>
              <a:rPr dirty="0" err="1">
                <a:latin typeface="Times New Roman" panose="02020603050405020304" pitchFamily="18" charset="0"/>
                <a:cs typeface="Times New Roman" panose="02020603050405020304" pitchFamily="18" charset="0"/>
              </a:rPr>
              <a:t>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χύτ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a:t>
            </a:r>
            <a:r>
              <a:rPr dirty="0">
                <a:latin typeface="Times New Roman" panose="02020603050405020304" pitchFamily="18" charset="0"/>
                <a:cs typeface="Times New Roman" panose="02020603050405020304" pitchFamily="18" charset="0"/>
              </a:rPr>
              <a:t> collision detection</a:t>
            </a:r>
          </a:p>
          <a:p>
            <a:pPr algn="r">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Ασύγχρονη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ικοινωνί</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μηδενικό</a:t>
            </a:r>
            <a:r>
              <a:rPr dirty="0">
                <a:latin typeface="Times New Roman" panose="02020603050405020304" pitchFamily="18" charset="0"/>
                <a:cs typeface="Times New Roman" panose="02020603050405020304" pitchFamily="18" charset="0"/>
              </a:rPr>
              <a:t> polling loop)</a:t>
            </a:r>
          </a:p>
          <a:p>
            <a:pPr algn="r">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θ</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χείριση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μνήμης</a:t>
            </a:r>
            <a:r>
              <a:rPr dirty="0">
                <a:latin typeface="Times New Roman" panose="02020603050405020304" pitchFamily="18" charset="0"/>
                <a:cs typeface="Times New Roman" panose="02020603050405020304" pitchFamily="18" charset="0"/>
              </a:rPr>
              <a:t> &amp; Tweens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731520" y="320040"/>
            <a:ext cx="1983235" cy="261610"/>
          </a:xfrm>
          <a:prstGeom prst="rect">
            <a:avLst/>
          </a:prstGeom>
          <a:noFill/>
        </p:spPr>
        <p:txBody>
          <a:bodyPr wrap="none">
            <a:spAutoFit/>
          </a:bodyPr>
          <a:lstStyle/>
          <a:p>
            <a:pPr>
              <a:defRPr sz="1100" b="1">
                <a:solidFill>
                  <a:srgbClr val="D4AF37"/>
                </a:solidFill>
              </a:defRPr>
            </a:pPr>
            <a:r>
              <a:rPr>
                <a:latin typeface="Times New Roman" panose="02020603050405020304" pitchFamily="18" charset="0"/>
                <a:cs typeface="Times New Roman" panose="02020603050405020304" pitchFamily="18" charset="0"/>
              </a:rPr>
              <a:t>ΚΡΙΤΗΡΙΑ ΑΞΙΟΛΟΓΗΣΗΣ</a:t>
            </a:r>
          </a:p>
        </p:txBody>
      </p:sp>
      <p:sp>
        <p:nvSpPr>
          <p:cNvPr id="5" name="TextBox 4"/>
          <p:cNvSpPr txBox="1"/>
          <p:nvPr/>
        </p:nvSpPr>
        <p:spPr>
          <a:xfrm>
            <a:off x="731520" y="594360"/>
            <a:ext cx="10698480" cy="707886"/>
          </a:xfrm>
          <a:prstGeom prst="rect">
            <a:avLst/>
          </a:prstGeom>
          <a:noFill/>
        </p:spPr>
        <p:txBody>
          <a:bodyPr wrap="square">
            <a:spAutoFit/>
          </a:bodyPr>
          <a:lstStyle/>
          <a:p>
            <a:pPr algn="ctr">
              <a:defRPr sz="2600" b="1">
                <a:solidFill>
                  <a:srgbClr val="FFFFFF"/>
                </a:solidFill>
              </a:defRPr>
            </a:pPr>
            <a:r>
              <a:rPr dirty="0">
                <a:latin typeface="Times New Roman" panose="02020603050405020304" pitchFamily="18" charset="0"/>
                <a:cs typeface="Times New Roman" panose="02020603050405020304" pitchFamily="18" charset="0"/>
              </a:rPr>
              <a:t>11. </a:t>
            </a:r>
            <a:r>
              <a:rPr dirty="0" err="1">
                <a:latin typeface="Times New Roman" panose="02020603050405020304" pitchFamily="18" charset="0"/>
                <a:cs typeface="Times New Roman" panose="02020603050405020304" pitchFamily="18" charset="0"/>
              </a:rPr>
              <a:t>Αντ</a:t>
            </a:r>
            <a:r>
              <a:rPr dirty="0">
                <a:latin typeface="Times New Roman" panose="02020603050405020304" pitchFamily="18" charset="0"/>
                <a:cs typeface="Times New Roman" panose="02020603050405020304" pitchFamily="18" charset="0"/>
              </a:rPr>
              <a:t>απ</a:t>
            </a:r>
            <a:r>
              <a:rPr dirty="0" err="1">
                <a:latin typeface="Times New Roman" panose="02020603050405020304" pitchFamily="18" charset="0"/>
                <a:cs typeface="Times New Roman" panose="02020603050405020304" pitchFamily="18" charset="0"/>
              </a:rPr>
              <a:t>όκριση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Κριτήρι</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Αξιολόγησης</a:t>
            </a:r>
            <a:endParaRPr dirty="0">
              <a:latin typeface="Times New Roman" panose="02020603050405020304" pitchFamily="18" charset="0"/>
              <a:cs typeface="Times New Roman" panose="02020603050405020304" pitchFamily="18" charset="0"/>
            </a:endParaRPr>
          </a:p>
          <a:p>
            <a:pPr algn="ctr">
              <a:defRPr sz="1400" i="1">
                <a:solidFill>
                  <a:srgbClr val="4ECDC4"/>
                </a:solidFill>
              </a:defRPr>
            </a:pPr>
            <a:r>
              <a:rPr dirty="0" err="1">
                <a:latin typeface="Times New Roman" panose="02020603050405020304" pitchFamily="18" charset="0"/>
                <a:cs typeface="Times New Roman" panose="02020603050405020304" pitchFamily="18" charset="0"/>
              </a:rPr>
              <a:t>Πλήρης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Κάλυψη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των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a:t>
            </a:r>
            <a:r>
              <a:rPr dirty="0">
                <a:latin typeface="Times New Roman" panose="02020603050405020304" pitchFamily="18" charset="0"/>
                <a:cs typeface="Times New Roman" panose="02020603050405020304" pitchFamily="18" charset="0"/>
              </a:rPr>
              <a:t>πα</a:t>
            </a:r>
            <a:r>
              <a:rPr dirty="0" err="1">
                <a:latin typeface="Times New Roman" panose="02020603050405020304" pitchFamily="18" charset="0"/>
                <a:cs typeface="Times New Roman" panose="02020603050405020304" pitchFamily="18" charset="0"/>
              </a:rPr>
              <a:t>ιτήσεων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Εκφώνησης</a:t>
            </a:r>
            <a:r>
              <a:rPr dirty="0">
                <a:latin typeface="Times New Roman" panose="02020603050405020304" pitchFamily="18" charset="0"/>
                <a:cs typeface="Times New Roman" panose="02020603050405020304" pitchFamily="18" charset="0"/>
              </a:rPr>
              <a:t> (ΠΑ.ΠΕΙ.)</a:t>
            </a:r>
          </a:p>
        </p:txBody>
      </p:sp>
      <p:sp>
        <p:nvSpPr>
          <p:cNvPr id="6" name="Rounded Rectangle 5"/>
          <p:cNvSpPr/>
          <p:nvPr/>
        </p:nvSpPr>
        <p:spPr>
          <a:xfrm>
            <a:off x="731520" y="1691640"/>
            <a:ext cx="5166360" cy="4663440"/>
          </a:xfrm>
          <a:prstGeom prst="roundRect">
            <a:avLst/>
          </a:prstGeom>
          <a:solidFill>
            <a:srgbClr val="1C2541"/>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D4AF37"/>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Κριτήρι</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Σχεδί</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σης</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Υλο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οίησης</a:t>
            </a:r>
            <a:endParaRPr dirty="0">
              <a:latin typeface="Times New Roman" panose="02020603050405020304" pitchFamily="18" charset="0"/>
              <a:cs typeface="Times New Roman" panose="02020603050405020304" pitchFamily="18" charset="0"/>
            </a:endParaRP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Στοιχεί</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θήμ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Πλήρης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ενσωμάτωση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τεχνικών</a:t>
            </a:r>
            <a:r>
              <a:rPr dirty="0">
                <a:latin typeface="Times New Roman" panose="02020603050405020304" pitchFamily="18" charset="0"/>
                <a:cs typeface="Times New Roman" panose="02020603050405020304" pitchFamily="18" charset="0"/>
              </a:rPr>
              <a:t> 3D VR/Game development.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Αληθοφάνει</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Συνε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ής</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τμόσφ</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ιρ</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μυστικής</a:t>
            </a:r>
            <a:r>
              <a:rPr dirty="0">
                <a:latin typeface="Times New Roman" panose="02020603050405020304" pitchFamily="18" charset="0"/>
                <a:cs typeface="Times New Roman" panose="02020603050405020304" pitchFamily="18" charset="0"/>
              </a:rPr>
              <a:t> β</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λιοθήκης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ρε</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λιστικά</a:t>
            </a:r>
            <a:r>
              <a:rPr dirty="0">
                <a:latin typeface="Times New Roman" panose="02020603050405020304" pitchFamily="18" charset="0"/>
                <a:cs typeface="Times New Roman" panose="02020603050405020304" pitchFamily="18" charset="0"/>
              </a:rPr>
              <a:t> PBR </a:t>
            </a:r>
            <a:r>
              <a:rPr dirty="0" err="1">
                <a:latin typeface="Times New Roman" panose="02020603050405020304" pitchFamily="18" charset="0"/>
                <a:cs typeface="Times New Roman" panose="02020603050405020304" pitchFamily="18" charset="0"/>
              </a:rPr>
              <a:t>υλικά</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Πληρότητ</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Κλειστός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ολοκληρωμένος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κύκλος</a:t>
            </a:r>
            <a:r>
              <a:rPr dirty="0">
                <a:latin typeface="Times New Roman" panose="02020603050405020304" pitchFamily="18" charset="0"/>
                <a:cs typeface="Times New Roman" panose="02020603050405020304" pitchFamily="18" charset="0"/>
              </a:rPr>
              <a:t> πα</a:t>
            </a:r>
            <a:r>
              <a:rPr dirty="0" err="1">
                <a:latin typeface="Times New Roman" panose="02020603050405020304" pitchFamily="18" charset="0"/>
                <a:cs typeface="Times New Roman" panose="02020603050405020304" pitchFamily="18" charset="0"/>
              </a:rPr>
              <a:t>ιχνιδιού</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χωρίς</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συνέχειες</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Αισθητική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Ευ</a:t>
            </a:r>
            <a:r>
              <a:rPr dirty="0">
                <a:latin typeface="Times New Roman" panose="02020603050405020304" pitchFamily="18" charset="0"/>
                <a:cs typeface="Times New Roman" panose="02020603050405020304" pitchFamily="18" charset="0"/>
              </a:rPr>
              <a:t>πα</a:t>
            </a:r>
            <a:r>
              <a:rPr dirty="0" err="1">
                <a:latin typeface="Times New Roman" panose="02020603050405020304" pitchFamily="18" charset="0"/>
                <a:cs typeface="Times New Roman" panose="02020603050405020304" pitchFamily="18" charset="0"/>
              </a:rPr>
              <a:t>ρουσί</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στο</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ερι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άλλον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κριτικός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φωτισμός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PBR α</a:t>
            </a:r>
            <a:r>
              <a:rPr dirty="0" err="1">
                <a:latin typeface="Times New Roman" panose="02020603050405020304" pitchFamily="18" charset="0"/>
                <a:cs typeface="Times New Roman" panose="02020603050405020304" pitchFamily="18" charset="0"/>
              </a:rPr>
              <a:t>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κλάσεις</a:t>
            </a:r>
            <a:r>
              <a:rPr dirty="0">
                <a:latin typeface="Times New Roman" panose="02020603050405020304" pitchFamily="18" charset="0"/>
                <a:cs typeface="Times New Roman" panose="02020603050405020304" pitchFamily="18" charset="0"/>
              </a:rPr>
              <a:t>.</a:t>
            </a:r>
          </a:p>
        </p:txBody>
      </p:sp>
      <p:sp>
        <p:nvSpPr>
          <p:cNvPr id="7" name="Rounded Rectangle 6"/>
          <p:cNvSpPr/>
          <p:nvPr/>
        </p:nvSpPr>
        <p:spPr>
          <a:xfrm>
            <a:off x="6263640" y="1691640"/>
            <a:ext cx="5166360" cy="4663440"/>
          </a:xfrm>
          <a:prstGeom prst="roundRect">
            <a:avLst/>
          </a:prstGeom>
          <a:solidFill>
            <a:srgbClr val="1C2541"/>
          </a:solidFill>
          <a:ln w="12700">
            <a:solidFill>
              <a:srgbClr val="4ECDC4"/>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4ECDC4"/>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Λειτουργικά</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Τεχνικά</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Κριτήρι</a:t>
            </a:r>
            <a:r>
              <a:rPr dirty="0">
                <a:latin typeface="Times New Roman" panose="02020603050405020304" pitchFamily="18" charset="0"/>
                <a:cs typeface="Times New Roman" panose="02020603050405020304" pitchFamily="18" charset="0"/>
              </a:rPr>
              <a:t>α</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Κίνηση</a:t>
            </a:r>
            <a:r>
              <a:rPr dirty="0">
                <a:latin typeface="Times New Roman" panose="02020603050405020304" pitchFamily="18" charset="0"/>
                <a:cs typeface="Times New Roman" panose="02020603050405020304" pitchFamily="18" charset="0"/>
              </a:rPr>
              <a:t> (Animation): </a:t>
            </a:r>
            <a:r>
              <a:rPr dirty="0" err="1">
                <a:latin typeface="Times New Roman" panose="02020603050405020304" pitchFamily="18" charset="0"/>
                <a:cs typeface="Times New Roman" panose="02020603050405020304" pitchFamily="18" charset="0"/>
              </a:rPr>
              <a:t>Πλούσι</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χρήση</a:t>
            </a:r>
            <a:r>
              <a:rPr dirty="0">
                <a:latin typeface="Times New Roman" panose="02020603050405020304" pitchFamily="18" charset="0"/>
                <a:cs typeface="Times New Roman" panose="02020603050405020304" pitchFamily="18" charset="0"/>
              </a:rPr>
              <a:t> Tweens </a:t>
            </a:r>
            <a:r>
              <a:rPr dirty="0" err="1">
                <a:latin typeface="Times New Roman" panose="02020603050405020304" pitchFamily="18" charset="0"/>
                <a:cs typeface="Times New Roman" panose="02020603050405020304" pitchFamily="18" charset="0"/>
              </a:rPr>
              <a:t>σε</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όρτες</a:t>
            </a:r>
            <a:r>
              <a:rPr dirty="0">
                <a:latin typeface="Times New Roman" panose="02020603050405020304" pitchFamily="18" charset="0"/>
                <a:cs typeface="Times New Roman" panose="02020603050405020304" pitchFamily="18" charset="0"/>
              </a:rPr>
              <a:t>, β</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λί</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ρά</a:t>
            </a:r>
            <a:r>
              <a:rPr dirty="0">
                <a:latin typeface="Times New Roman" panose="02020603050405020304" pitchFamily="18" charset="0"/>
                <a:cs typeface="Times New Roman" panose="02020603050405020304" pitchFamily="18" charset="0"/>
              </a:rPr>
              <a:t>β</a:t>
            </a:r>
            <a:r>
              <a:rPr dirty="0" err="1">
                <a:latin typeface="Times New Roman" panose="02020603050405020304" pitchFamily="18" charset="0"/>
                <a:cs typeface="Times New Roman" panose="02020603050405020304" pitchFamily="18" charset="0"/>
              </a:rPr>
              <a:t>δους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3D </a:t>
            </a:r>
            <a:r>
              <a:rPr dirty="0" err="1">
                <a:latin typeface="Times New Roman" panose="02020603050405020304" pitchFamily="18" charset="0"/>
                <a:cs typeface="Times New Roman" panose="02020603050405020304" pitchFamily="18" charset="0"/>
              </a:rPr>
              <a:t>χέρι</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Λειτουργικότητ</a:t>
            </a:r>
            <a:r>
              <a:rPr dirty="0">
                <a:latin typeface="Times New Roman" panose="02020603050405020304" pitchFamily="18" charset="0"/>
                <a:cs typeface="Times New Roman" panose="02020603050405020304" pitchFamily="18" charset="0"/>
              </a:rPr>
              <a:t>α &amp; </a:t>
            </a:r>
            <a:r>
              <a:rPr dirty="0" err="1">
                <a:latin typeface="Times New Roman" panose="02020603050405020304" pitchFamily="18" charset="0"/>
                <a:cs typeface="Times New Roman" panose="02020603050405020304" pitchFamily="18" charset="0"/>
              </a:rPr>
              <a:t>Χρηστικότητ</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Δι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ισθητικός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χειρισμός</a:t>
            </a:r>
            <a:r>
              <a:rPr dirty="0">
                <a:latin typeface="Times New Roman" panose="02020603050405020304" pitchFamily="18" charset="0"/>
                <a:cs typeface="Times New Roman" panose="02020603050405020304" pitchFamily="18" charset="0"/>
              </a:rPr>
              <a:t>, adaptive crosshair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φείς</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ροτρο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ές</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Δομή</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Λογική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Γρίφων</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Δύο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δι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δοχικά</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στάδι</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ροηγμένη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θημ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πα</a:t>
            </a:r>
            <a:r>
              <a:rPr dirty="0" err="1">
                <a:latin typeface="Times New Roman" panose="02020603050405020304" pitchFamily="18" charset="0"/>
                <a:cs typeface="Times New Roman" panose="02020603050405020304" pitchFamily="18" charset="0"/>
              </a:rPr>
              <a:t>λήθευση</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Ποιότητ</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Κώδικ</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θ</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ρός</a:t>
            </a:r>
            <a:r>
              <a:rPr dirty="0">
                <a:latin typeface="Times New Roman" panose="02020603050405020304" pitchFamily="18" charset="0"/>
                <a:cs typeface="Times New Roman" panose="02020603050405020304" pitchFamily="18" charset="0"/>
              </a:rPr>
              <a:t>, α</a:t>
            </a:r>
            <a:r>
              <a:rPr dirty="0" err="1">
                <a:latin typeface="Times New Roman" panose="02020603050405020304" pitchFamily="18" charset="0"/>
                <a:cs typeface="Times New Roman" panose="02020603050405020304" pitchFamily="18" charset="0"/>
              </a:rPr>
              <a:t>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λυτικά</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σχολι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σμένος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GDScript</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κώδικ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ς</a:t>
            </a:r>
            <a:r>
              <a:rPr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731520" y="320040"/>
            <a:ext cx="1638590" cy="261610"/>
          </a:xfrm>
          <a:prstGeom prst="rect">
            <a:avLst/>
          </a:prstGeom>
          <a:noFill/>
        </p:spPr>
        <p:txBody>
          <a:bodyPr wrap="none">
            <a:spAutoFit/>
          </a:bodyPr>
          <a:lstStyle/>
          <a:p>
            <a:pPr>
              <a:defRPr sz="1100" b="1">
                <a:solidFill>
                  <a:srgbClr val="D4AF37"/>
                </a:solidFill>
              </a:defRPr>
            </a:pPr>
            <a:r>
              <a:rPr>
                <a:latin typeface="Times New Roman" panose="02020603050405020304" pitchFamily="18" charset="0"/>
                <a:cs typeface="Times New Roman" panose="02020603050405020304" pitchFamily="18" charset="0"/>
              </a:rPr>
              <a:t>ΚΩΔΙΚΑΣ &amp; SCRIPTS</a:t>
            </a:r>
          </a:p>
        </p:txBody>
      </p:sp>
      <p:sp>
        <p:nvSpPr>
          <p:cNvPr id="5" name="TextBox 4"/>
          <p:cNvSpPr txBox="1"/>
          <p:nvPr/>
        </p:nvSpPr>
        <p:spPr>
          <a:xfrm>
            <a:off x="731520" y="594360"/>
            <a:ext cx="10698480" cy="707886"/>
          </a:xfrm>
          <a:prstGeom prst="rect">
            <a:avLst/>
          </a:prstGeom>
          <a:noFill/>
        </p:spPr>
        <p:txBody>
          <a:bodyPr wrap="square">
            <a:spAutoFit/>
          </a:bodyPr>
          <a:lstStyle/>
          <a:p>
            <a:pPr algn="ctr">
              <a:defRPr sz="2600" b="1">
                <a:solidFill>
                  <a:srgbClr val="FFFFFF"/>
                </a:solidFill>
              </a:defRPr>
            </a:pPr>
            <a:r>
              <a:rPr dirty="0">
                <a:latin typeface="Times New Roman" panose="02020603050405020304" pitchFamily="18" charset="0"/>
                <a:cs typeface="Times New Roman" panose="02020603050405020304" pitchFamily="18" charset="0"/>
              </a:rPr>
              <a:t>12. </a:t>
            </a:r>
            <a:r>
              <a:rPr dirty="0" err="1">
                <a:latin typeface="Times New Roman" panose="02020603050405020304" pitchFamily="18" charset="0"/>
                <a:cs typeface="Times New Roman" panose="02020603050405020304" pitchFamily="18" charset="0"/>
              </a:rPr>
              <a:t>Ανάλυση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GDScript</a:t>
            </a:r>
            <a:r>
              <a:rPr dirty="0">
                <a:latin typeface="Times New Roman" panose="02020603050405020304" pitchFamily="18" charset="0"/>
                <a:cs typeface="Times New Roman" panose="02020603050405020304" pitchFamily="18" charset="0"/>
              </a:rPr>
              <a:t> Scripts</a:t>
            </a:r>
          </a:p>
          <a:p>
            <a:pPr algn="ctr">
              <a:defRPr sz="1400" i="1">
                <a:solidFill>
                  <a:srgbClr val="4ECDC4"/>
                </a:solidFill>
              </a:defRPr>
            </a:pPr>
            <a:r>
              <a:rPr dirty="0" err="1">
                <a:latin typeface="Times New Roman" panose="02020603050405020304" pitchFamily="18" charset="0"/>
                <a:cs typeface="Times New Roman" panose="02020603050405020304" pitchFamily="18" charset="0"/>
              </a:rPr>
              <a:t>Αρχιτεκτονική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Κώδικ</a:t>
            </a:r>
            <a:r>
              <a:rPr dirty="0">
                <a:latin typeface="Times New Roman" panose="02020603050405020304" pitchFamily="18" charset="0"/>
                <a:cs typeface="Times New Roman" panose="02020603050405020304" pitchFamily="18" charset="0"/>
              </a:rPr>
              <a:t>α &amp; </a:t>
            </a:r>
            <a:r>
              <a:rPr dirty="0" err="1">
                <a:latin typeface="Times New Roman" panose="02020603050405020304" pitchFamily="18" charset="0"/>
                <a:cs typeface="Times New Roman" panose="02020603050405020304" pitchFamily="18" charset="0"/>
              </a:rPr>
              <a:t>Δι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χωρισμός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Λειτουργιών</a:t>
            </a:r>
            <a:endParaRPr dirty="0">
              <a:latin typeface="Times New Roman" panose="02020603050405020304" pitchFamily="18" charset="0"/>
              <a:cs typeface="Times New Roman" panose="02020603050405020304" pitchFamily="18" charset="0"/>
            </a:endParaRPr>
          </a:p>
        </p:txBody>
      </p:sp>
      <p:sp>
        <p:nvSpPr>
          <p:cNvPr id="6" name="Rounded Rectangle 5"/>
          <p:cNvSpPr/>
          <p:nvPr/>
        </p:nvSpPr>
        <p:spPr>
          <a:xfrm>
            <a:off x="731520" y="1691640"/>
            <a:ext cx="3364992" cy="4663440"/>
          </a:xfrm>
          <a:prstGeom prst="roundRect">
            <a:avLst/>
          </a:prstGeom>
          <a:solidFill>
            <a:srgbClr val="1C2541"/>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wrap="square" lIns="256032" tIns="274320" rIns="256032" bIns="274320" rtlCol="0" anchor="ctr"/>
          <a:lstStyle/>
          <a:p>
            <a:pPr algn="ctr">
              <a:defRPr sz="1600" b="1">
                <a:solidFill>
                  <a:srgbClr val="D4AF37"/>
                </a:solidFill>
              </a:defRPr>
            </a:pPr>
            <a:r>
              <a:t>🏃 player.gd: 266 Γραμμές (Input Actions, Input.get_vector, 3.0m reach, ✋ crosshair, door check)</a:t>
            </a:r>
            <a:endParaRPr dirty="0">
              <a:latin typeface="Times New Roman" panose="02020603050405020304" pitchFamily="18" charset="0"/>
              <a:cs typeface="Times New Roman" panose="02020603050405020304" pitchFamily="18" charset="0"/>
            </a:endParaRPr>
          </a:p>
          <a:p>
            <a:pPr algn="just">
              <a:spcAft>
                <a:spcPts val="1200"/>
              </a:spcAft>
              <a:defRPr sz="1400" b="1">
                <a:solidFill>
                  <a:srgbClr val="FFFFFF"/>
                </a:solidFill>
              </a:defRPr>
            </a:pPr>
            <a:r>
              <a:t>266 Γραμμές Κώδικα</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FPS Movement &amp; Mouse Look</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RayCast3D Interaction Loop</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3D Hand </a:t>
            </a:r>
            <a:r>
              <a:rPr dirty="0" err="1">
                <a:latin typeface="Times New Roman" panose="02020603050405020304" pitchFamily="18" charset="0"/>
                <a:cs typeface="Times New Roman" panose="02020603050405020304" pitchFamily="18" charset="0"/>
              </a:rPr>
              <a:t>Tweening</a:t>
            </a:r>
            <a:r>
              <a:rPr dirty="0">
                <a:latin typeface="Times New Roman" panose="02020603050405020304" pitchFamily="18" charset="0"/>
                <a:cs typeface="Times New Roman" panose="02020603050405020304" pitchFamily="18" charset="0"/>
              </a:rPr>
              <a:t> Animation</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Adaptive UI Crosshair &amp; Prompts</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Escape &amp; Auto-Quit Trigger</a:t>
            </a:r>
          </a:p>
        </p:txBody>
      </p:sp>
      <p:sp>
        <p:nvSpPr>
          <p:cNvPr id="7" name="Rounded Rectangle 6"/>
          <p:cNvSpPr/>
          <p:nvPr/>
        </p:nvSpPr>
        <p:spPr>
          <a:xfrm>
            <a:off x="4407407" y="1691640"/>
            <a:ext cx="3364992" cy="4663440"/>
          </a:xfrm>
          <a:prstGeom prst="roundRect">
            <a:avLst/>
          </a:prstGeom>
          <a:solidFill>
            <a:srgbClr val="1C2541"/>
          </a:solidFill>
          <a:ln w="12700">
            <a:solidFill>
              <a:srgbClr val="4ECDC4"/>
            </a:solidFill>
          </a:ln>
        </p:spPr>
        <p:style>
          <a:lnRef idx="1">
            <a:schemeClr val="accent1"/>
          </a:lnRef>
          <a:fillRef idx="3">
            <a:schemeClr val="accent1"/>
          </a:fillRef>
          <a:effectRef idx="2">
            <a:schemeClr val="accent1"/>
          </a:effectRef>
          <a:fontRef idx="minor">
            <a:schemeClr val="lt1"/>
          </a:fontRef>
        </p:style>
        <p:txBody>
          <a:bodyPr wrap="square" lIns="256032" tIns="274320" rIns="256032" bIns="274320" rtlCol="0" anchor="ctr"/>
          <a:lstStyle/>
          <a:p>
            <a:pPr algn="ctr">
              <a:defRPr sz="1600" b="1">
                <a:solidFill>
                  <a:srgbClr val="4ECDC4"/>
                </a:solidFill>
              </a:defRPr>
            </a:pPr>
            <a:r>
              <a:t>⚙️ game_manager.gd: 406 Γραμμές (240-book MultiMesh, triangle puzzle logic, atmospheric tweens)</a:t>
            </a:r>
            <a:endParaRPr dirty="0">
              <a:latin typeface="Times New Roman" panose="02020603050405020304" pitchFamily="18" charset="0"/>
              <a:cs typeface="Times New Roman" panose="02020603050405020304" pitchFamily="18" charset="0"/>
            </a:endParaRPr>
          </a:p>
          <a:p>
            <a:pPr algn="just">
              <a:spcAft>
                <a:spcPts val="1200"/>
              </a:spcAft>
              <a:defRPr sz="1400" b="1">
                <a:solidFill>
                  <a:srgbClr val="FFFFFF"/>
                </a:solidFill>
              </a:defRPr>
            </a:pPr>
            <a:r>
              <a:rPr dirty="0">
                <a:latin typeface="Times New Roman" panose="02020603050405020304" pitchFamily="18" charset="0"/>
                <a:cs typeface="Times New Roman" panose="02020603050405020304" pitchFamily="18" charset="0"/>
              </a:rPr>
              <a:t>285 </a:t>
            </a:r>
            <a:r>
              <a:rPr dirty="0" err="1">
                <a:latin typeface="Times New Roman" panose="02020603050405020304" pitchFamily="18" charset="0"/>
                <a:cs typeface="Times New Roman" panose="02020603050405020304" pitchFamily="18" charset="0"/>
              </a:rPr>
              <a:t>Γρ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μμές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Κώδικ</a:t>
            </a:r>
            <a:r>
              <a:rPr dirty="0">
                <a:latin typeface="Times New Roman" panose="02020603050405020304" pitchFamily="18" charset="0"/>
                <a:cs typeface="Times New Roman" panose="02020603050405020304" pitchFamily="18" charset="0"/>
              </a:rPr>
              <a:t>α</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Bookshelf Sequence State Machine</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Triangle Puzzle Geometry Solver</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180° Symmetry Permutation Logic</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Crystal Indicators Emission Control</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Secret Bookcase Door Animation</a:t>
            </a:r>
          </a:p>
        </p:txBody>
      </p:sp>
      <p:sp>
        <p:nvSpPr>
          <p:cNvPr id="8" name="Rounded Rectangle 7"/>
          <p:cNvSpPr/>
          <p:nvPr/>
        </p:nvSpPr>
        <p:spPr>
          <a:xfrm>
            <a:off x="8083294" y="1600200"/>
            <a:ext cx="3364992" cy="4663440"/>
          </a:xfrm>
          <a:prstGeom prst="roundRect">
            <a:avLst/>
          </a:prstGeom>
          <a:solidFill>
            <a:srgbClr val="1C2541"/>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56032" tIns="274320" rIns="256032" bIns="274320" rtlCol="0" anchor="ctr"/>
          <a:lstStyle/>
          <a:p>
            <a:pPr algn="ctr">
              <a:defRPr sz="1600" b="1">
                <a:solidFill>
                  <a:srgbClr val="FFFFFF"/>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interactable.gd</a:t>
            </a:r>
            <a:endParaRPr dirty="0">
              <a:latin typeface="Times New Roman" panose="02020603050405020304" pitchFamily="18" charset="0"/>
              <a:cs typeface="Times New Roman" panose="02020603050405020304" pitchFamily="18" charset="0"/>
            </a:endParaRPr>
          </a:p>
          <a:p>
            <a:pPr algn="just">
              <a:spcAft>
                <a:spcPts val="1200"/>
              </a:spcAft>
              <a:defRPr sz="1400" b="1">
                <a:solidFill>
                  <a:srgbClr val="FFFFFF"/>
                </a:solidFill>
              </a:defRPr>
            </a:pPr>
            <a:r>
              <a:rPr dirty="0">
                <a:latin typeface="Times New Roman" panose="02020603050405020304" pitchFamily="18" charset="0"/>
                <a:cs typeface="Times New Roman" panose="02020603050405020304" pitchFamily="18" charset="0"/>
              </a:rPr>
              <a:t>35 </a:t>
            </a:r>
            <a:r>
              <a:rPr dirty="0" err="1">
                <a:latin typeface="Times New Roman" panose="02020603050405020304" pitchFamily="18" charset="0"/>
                <a:cs typeface="Times New Roman" panose="02020603050405020304" pitchFamily="18" charset="0"/>
              </a:rPr>
              <a:t>Γρ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μμές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Κώδικ</a:t>
            </a:r>
            <a:r>
              <a:rPr dirty="0">
                <a:latin typeface="Times New Roman" panose="02020603050405020304" pitchFamily="18" charset="0"/>
                <a:cs typeface="Times New Roman" panose="02020603050405020304" pitchFamily="18" charset="0"/>
              </a:rPr>
              <a:t>α</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a:t>
            </a:r>
            <a:r>
              <a:rPr dirty="0">
                <a:latin typeface="Times New Roman" panose="02020603050405020304" pitchFamily="18" charset="0"/>
                <a:cs typeface="Times New Roman" panose="02020603050405020304" pitchFamily="18" charset="0"/>
              </a:rPr>
              <a:t>πα</a:t>
            </a:r>
            <a:r>
              <a:rPr dirty="0" err="1">
                <a:latin typeface="Times New Roman" panose="02020603050405020304" pitchFamily="18" charset="0"/>
                <a:cs typeface="Times New Roman" panose="02020603050405020304" pitchFamily="18" charset="0"/>
              </a:rPr>
              <a:t>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χρησιμο</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οιήσιμη</a:t>
            </a:r>
            <a:r>
              <a:rPr dirty="0">
                <a:latin typeface="Times New Roman" panose="02020603050405020304" pitchFamily="18" charset="0"/>
                <a:cs typeface="Times New Roman" panose="02020603050405020304" pitchFamily="18" charset="0"/>
              </a:rPr>
              <a:t> Base Class</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Extension of CollisionObject3D</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prompt_message</a:t>
            </a:r>
            <a:r>
              <a:rPr dirty="0">
                <a:latin typeface="Times New Roman" panose="02020603050405020304" pitchFamily="18" charset="0"/>
                <a:cs typeface="Times New Roman" panose="02020603050405020304" pitchFamily="18" charset="0"/>
              </a:rPr>
              <a:t> Property</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is_interactive</a:t>
            </a:r>
            <a:r>
              <a:rPr dirty="0">
                <a:latin typeface="Times New Roman" panose="02020603050405020304" pitchFamily="18" charset="0"/>
                <a:cs typeface="Times New Roman" panose="02020603050405020304" pitchFamily="18" charset="0"/>
              </a:rPr>
              <a:t> State Toggle</a:t>
            </a:r>
          </a:p>
          <a:p>
            <a:pPr algn="just">
              <a:spcAft>
                <a:spcPts val="800"/>
              </a:spcAft>
              <a:defRPr sz="1200">
                <a:solidFill>
                  <a:srgbClr val="DCE2EB"/>
                </a:solidFill>
              </a:defRPr>
            </a:pPr>
            <a:r>
              <a:rPr dirty="0">
                <a:latin typeface="Times New Roman" panose="02020603050405020304" pitchFamily="18" charset="0"/>
                <a:cs typeface="Times New Roman" panose="02020603050405020304" pitchFamily="18" charset="0"/>
              </a:rPr>
              <a:t>• interacted(player) Signal Dispatch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88" y="-69669"/>
            <a:ext cx="12329008" cy="7036526"/>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731520" y="320040"/>
            <a:ext cx="2058577" cy="261610"/>
          </a:xfrm>
          <a:prstGeom prst="rect">
            <a:avLst/>
          </a:prstGeom>
          <a:noFill/>
        </p:spPr>
        <p:txBody>
          <a:bodyPr wrap="none">
            <a:spAutoFit/>
          </a:bodyPr>
          <a:lstStyle/>
          <a:p>
            <a:pPr>
              <a:defRPr sz="1100" b="1">
                <a:solidFill>
                  <a:srgbClr val="D4AF37"/>
                </a:solidFill>
              </a:defRPr>
            </a:pPr>
            <a:r>
              <a:rPr>
                <a:latin typeface="Times New Roman" panose="02020603050405020304" pitchFamily="18" charset="0"/>
                <a:cs typeface="Times New Roman" panose="02020603050405020304" pitchFamily="18" charset="0"/>
              </a:rPr>
              <a:t>ΣΥΜΠΕΡΑΣΜΑΤΑ &amp; DEMO</a:t>
            </a:r>
          </a:p>
        </p:txBody>
      </p:sp>
      <p:sp>
        <p:nvSpPr>
          <p:cNvPr id="5" name="TextBox 4"/>
          <p:cNvSpPr txBox="1"/>
          <p:nvPr/>
        </p:nvSpPr>
        <p:spPr>
          <a:xfrm>
            <a:off x="762000" y="548821"/>
            <a:ext cx="10698480" cy="707886"/>
          </a:xfrm>
          <a:prstGeom prst="rect">
            <a:avLst/>
          </a:prstGeom>
          <a:noFill/>
        </p:spPr>
        <p:txBody>
          <a:bodyPr wrap="square">
            <a:spAutoFit/>
          </a:bodyPr>
          <a:lstStyle/>
          <a:p>
            <a:pPr algn="ctr">
              <a:defRPr sz="2600" b="1">
                <a:solidFill>
                  <a:srgbClr val="FFFFFF"/>
                </a:solidFill>
              </a:defRPr>
            </a:pPr>
            <a:r>
              <a:rPr dirty="0">
                <a:latin typeface="Times New Roman" panose="02020603050405020304" pitchFamily="18" charset="0"/>
                <a:cs typeface="Times New Roman" panose="02020603050405020304" pitchFamily="18" charset="0"/>
              </a:rPr>
              <a:t>13. </a:t>
            </a:r>
            <a:r>
              <a:rPr dirty="0" err="1">
                <a:latin typeface="Times New Roman" panose="02020603050405020304" pitchFamily="18" charset="0"/>
                <a:cs typeface="Times New Roman" panose="02020603050405020304" pitchFamily="18" charset="0"/>
              </a:rPr>
              <a:t>Συμ</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εράσμ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a:t>
            </a:r>
            <a:r>
              <a:rPr dirty="0">
                <a:latin typeface="Times New Roman" panose="02020603050405020304" pitchFamily="18" charset="0"/>
                <a:cs typeface="Times New Roman" panose="02020603050405020304" pitchFamily="18" charset="0"/>
              </a:rPr>
              <a:t>α &amp; </a:t>
            </a:r>
            <a:r>
              <a:rPr dirty="0" err="1">
                <a:latin typeface="Times New Roman" panose="02020603050405020304" pitchFamily="18" charset="0"/>
                <a:cs typeface="Times New Roman" panose="02020603050405020304" pitchFamily="18" charset="0"/>
              </a:rPr>
              <a:t>Π</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δοτέ</a:t>
            </a:r>
            <a:r>
              <a:rPr dirty="0">
                <a:latin typeface="Times New Roman" panose="02020603050405020304" pitchFamily="18" charset="0"/>
                <a:cs typeface="Times New Roman" panose="02020603050405020304" pitchFamily="18" charset="0"/>
              </a:rPr>
              <a:t>α</a:t>
            </a:r>
          </a:p>
          <a:p>
            <a:pPr algn="ctr">
              <a:defRPr sz="1400" i="1">
                <a:solidFill>
                  <a:srgbClr val="4ECDC4"/>
                </a:solidFill>
              </a:defRPr>
            </a:pPr>
            <a:r>
              <a:rPr dirty="0" err="1">
                <a:latin typeface="Times New Roman" panose="02020603050405020304" pitchFamily="18" charset="0"/>
                <a:cs typeface="Times New Roman" panose="02020603050405020304" pitchFamily="18" charset="0"/>
              </a:rPr>
              <a:t>Ολοκληρωμένη</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Εφ</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ρμογή</a:t>
            </a:r>
            <a:r>
              <a:rPr dirty="0">
                <a:latin typeface="Times New Roman" panose="02020603050405020304" pitchFamily="18" charset="0"/>
                <a:cs typeface="Times New Roman" panose="02020603050405020304" pitchFamily="18" charset="0"/>
              </a:rPr>
              <a:t> Escape Room </a:t>
            </a:r>
            <a:r>
              <a:rPr dirty="0" err="1">
                <a:latin typeface="Times New Roman" panose="02020603050405020304" pitchFamily="18" charset="0"/>
                <a:cs typeface="Times New Roman" panose="02020603050405020304" pitchFamily="18" charset="0"/>
              </a:rPr>
              <a:t>σε</a:t>
            </a:r>
            <a:r>
              <a:rPr dirty="0">
                <a:latin typeface="Times New Roman" panose="02020603050405020304" pitchFamily="18" charset="0"/>
                <a:cs typeface="Times New Roman" panose="02020603050405020304" pitchFamily="18" charset="0"/>
              </a:rPr>
              <a:t> Godot 4</a:t>
            </a:r>
          </a:p>
        </p:txBody>
      </p:sp>
      <p:sp>
        <p:nvSpPr>
          <p:cNvPr id="6" name="Rounded Rectangle 5"/>
          <p:cNvSpPr/>
          <p:nvPr/>
        </p:nvSpPr>
        <p:spPr>
          <a:xfrm>
            <a:off x="731520" y="1691640"/>
            <a:ext cx="5166360" cy="4663440"/>
          </a:xfrm>
          <a:prstGeom prst="roundRect">
            <a:avLst/>
          </a:prstGeom>
          <a:solidFill>
            <a:srgbClr val="1C2541"/>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D4AF37"/>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Πλήρης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Σουίτ</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Π</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δοτέων</a:t>
            </a:r>
            <a:endParaRPr dirty="0">
              <a:latin typeface="Times New Roman" panose="02020603050405020304" pitchFamily="18" charset="0"/>
              <a:cs typeface="Times New Roman" panose="02020603050405020304" pitchFamily="18" charset="0"/>
            </a:endParaRP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1. </a:t>
            </a:r>
            <a:r>
              <a:rPr dirty="0" err="1">
                <a:latin typeface="Times New Roman" panose="02020603050405020304" pitchFamily="18" charset="0"/>
                <a:cs typeface="Times New Roman" panose="02020603050405020304" pitchFamily="18" charset="0"/>
              </a:rPr>
              <a:t>Πλήρες</a:t>
            </a:r>
            <a:r>
              <a:rPr dirty="0">
                <a:latin typeface="Times New Roman" panose="02020603050405020304" pitchFamily="18" charset="0"/>
                <a:cs typeface="Times New Roman" panose="02020603050405020304" pitchFamily="18" charset="0"/>
              </a:rPr>
              <a:t> Godot 4 Project </a:t>
            </a:r>
            <a:r>
              <a:rPr dirty="0" err="1">
                <a:latin typeface="Times New Roman" panose="02020603050405020304" pitchFamily="18" charset="0"/>
                <a:cs typeface="Times New Roman" panose="02020603050405020304" pitchFamily="18" charset="0"/>
              </a:rPr>
              <a:t>με</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όλο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τον</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ηγ</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ίο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κώδικ</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σκηνές</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2. </a:t>
            </a:r>
            <a:r>
              <a:rPr dirty="0" err="1">
                <a:latin typeface="Times New Roman" panose="02020603050405020304" pitchFamily="18" charset="0"/>
                <a:cs typeface="Times New Roman" panose="02020603050405020304" pitchFamily="18" charset="0"/>
              </a:rPr>
              <a:t>Τεχνική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Έκθεση</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Εγχειρίδιο</a:t>
            </a:r>
            <a:r>
              <a:rPr dirty="0">
                <a:latin typeface="Times New Roman" panose="02020603050405020304" pitchFamily="18" charset="0"/>
                <a:cs typeface="Times New Roman" panose="02020603050405020304" pitchFamily="18" charset="0"/>
              </a:rPr>
              <a:t> (.docx)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λύ</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τοντ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τ</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σημεί</a:t>
            </a:r>
            <a:r>
              <a:rPr dirty="0">
                <a:latin typeface="Times New Roman" panose="02020603050405020304" pitchFamily="18" charset="0"/>
                <a:cs typeface="Times New Roman" panose="02020603050405020304" pitchFamily="18" charset="0"/>
              </a:rPr>
              <a:t>α a–</a:t>
            </a:r>
            <a:r>
              <a:rPr dirty="0" err="1">
                <a:latin typeface="Times New Roman" panose="02020603050405020304" pitchFamily="18" charset="0"/>
                <a:cs typeface="Times New Roman" panose="02020603050405020304" pitchFamily="18" charset="0"/>
              </a:rPr>
              <a:t>i</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3. </a:t>
            </a:r>
            <a:r>
              <a:rPr dirty="0" err="1">
                <a:latin typeface="Times New Roman" panose="02020603050405020304" pitchFamily="18" charset="0"/>
                <a:cs typeface="Times New Roman" panose="02020603050405020304" pitchFamily="18" charset="0"/>
              </a:rPr>
              <a:t>Π</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ρουσί</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ση</a:t>
            </a:r>
            <a:r>
              <a:rPr dirty="0">
                <a:latin typeface="Times New Roman" panose="02020603050405020304" pitchFamily="18" charset="0"/>
                <a:cs typeface="Times New Roman" panose="02020603050405020304" pitchFamily="18" charset="0"/>
              </a:rPr>
              <a:t> PowerPoint 14 </a:t>
            </a:r>
            <a:r>
              <a:rPr dirty="0" err="1">
                <a:latin typeface="Times New Roman" panose="02020603050405020304" pitchFamily="18" charset="0"/>
                <a:cs typeface="Times New Roman" panose="02020603050405020304" pitchFamily="18" charset="0"/>
              </a:rPr>
              <a:t>δι</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φ</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νειών</a:t>
            </a:r>
            <a:r>
              <a:rPr dirty="0">
                <a:latin typeface="Times New Roman" panose="02020603050405020304" pitchFamily="18" charset="0"/>
                <a:cs typeface="Times New Roman" panose="02020603050405020304" pitchFamily="18" charset="0"/>
              </a:rPr>
              <a:t> (.pptx).</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4. </a:t>
            </a:r>
            <a:r>
              <a:rPr dirty="0" err="1">
                <a:latin typeface="Times New Roman" panose="02020603050405020304" pitchFamily="18" charset="0"/>
                <a:cs typeface="Times New Roman" panose="02020603050405020304" pitchFamily="18" charset="0"/>
              </a:rPr>
              <a:t>Σενάριο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Κ</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γρ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φής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Βίντεο</a:t>
            </a:r>
            <a:r>
              <a:rPr dirty="0">
                <a:latin typeface="Times New Roman" panose="02020603050405020304" pitchFamily="18" charset="0"/>
                <a:cs typeface="Times New Roman" panose="02020603050405020304" pitchFamily="18" charset="0"/>
              </a:rPr>
              <a:t> Voice-Over (</a:t>
            </a:r>
            <a:r>
              <a:rPr dirty="0" err="1">
                <a:latin typeface="Times New Roman" panose="02020603050405020304" pitchFamily="18" charset="0"/>
                <a:cs typeface="Times New Roman" panose="02020603050405020304" pitchFamily="18" charset="0"/>
              </a:rPr>
              <a:t>VoiceOver_Video_Script.md</a:t>
            </a:r>
            <a:r>
              <a:rPr dirty="0">
                <a:latin typeface="Times New Roman" panose="02020603050405020304" pitchFamily="18" charset="0"/>
                <a:cs typeface="Times New Roman" panose="02020603050405020304" pitchFamily="18" charset="0"/>
              </a:rPr>
              <a:t>).</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5. Build / Executable </a:t>
            </a:r>
            <a:r>
              <a:rPr dirty="0" err="1">
                <a:latin typeface="Times New Roman" panose="02020603050405020304" pitchFamily="18" charset="0"/>
                <a:cs typeface="Times New Roman" panose="02020603050405020304" pitchFamily="18" charset="0"/>
              </a:rPr>
              <a:t>εφ</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ρμογής</a:t>
            </a:r>
            <a:r>
              <a:rPr dirty="0">
                <a:latin typeface="Times New Roman" panose="02020603050405020304" pitchFamily="18" charset="0"/>
                <a:cs typeface="Times New Roman" panose="02020603050405020304" pitchFamily="18" charset="0"/>
              </a:rPr>
              <a:t>.</a:t>
            </a:r>
          </a:p>
        </p:txBody>
      </p:sp>
      <p:sp>
        <p:nvSpPr>
          <p:cNvPr id="7" name="Rounded Rectangle 6"/>
          <p:cNvSpPr/>
          <p:nvPr/>
        </p:nvSpPr>
        <p:spPr>
          <a:xfrm>
            <a:off x="6263640" y="1691640"/>
            <a:ext cx="5166360" cy="4663440"/>
          </a:xfrm>
          <a:prstGeom prst="roundRect">
            <a:avLst/>
          </a:prstGeom>
          <a:solidFill>
            <a:srgbClr val="1C2541"/>
          </a:solidFill>
          <a:ln w="12700">
            <a:solidFill>
              <a:srgbClr val="4ECDC4"/>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1400"/>
              </a:spcAft>
              <a:defRPr sz="1700" b="1">
                <a:solidFill>
                  <a:srgbClr val="4ECDC4"/>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Σύνδεσμοι</a:t>
            </a:r>
            <a:r>
              <a:rPr dirty="0">
                <a:latin typeface="Times New Roman" panose="02020603050405020304" pitchFamily="18" charset="0"/>
                <a:cs typeface="Times New Roman" panose="02020603050405020304" pitchFamily="18" charset="0"/>
              </a:rPr>
              <a:t> &amp; </a:t>
            </a:r>
            <a:r>
              <a:rPr dirty="0" err="1">
                <a:latin typeface="Times New Roman" panose="02020603050405020304" pitchFamily="18" charset="0"/>
                <a:cs typeface="Times New Roman" panose="02020603050405020304" pitchFamily="18" charset="0"/>
              </a:rPr>
              <a:t>Στοιχεί</a:t>
            </a:r>
            <a:r>
              <a:rPr dirty="0">
                <a:latin typeface="Times New Roman" panose="02020603050405020304" pitchFamily="18" charset="0"/>
                <a:cs typeface="Times New Roman" panose="02020603050405020304" pitchFamily="18" charset="0"/>
              </a:rPr>
              <a:t>α</a:t>
            </a:r>
          </a:p>
          <a:p>
            <a:pPr>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GitHub Repository: https://</a:t>
            </a:r>
            <a:r>
              <a:rPr dirty="0" err="1">
                <a:latin typeface="Times New Roman" panose="02020603050405020304" pitchFamily="18" charset="0"/>
                <a:cs typeface="Times New Roman" panose="02020603050405020304" pitchFamily="18" charset="0"/>
              </a:rPr>
              <a:t>github.com</a:t>
            </a:r>
            <a:r>
              <a:rPr dirty="0">
                <a:latin typeface="Times New Roman" panose="02020603050405020304" pitchFamily="18" charset="0"/>
                <a:cs typeface="Times New Roman" panose="02020603050405020304" pitchFamily="18" charset="0"/>
              </a:rPr>
              <a:t>/</a:t>
            </a:r>
            <a:r>
              <a:rPr dirty="0" err="1">
                <a:latin typeface="Times New Roman" panose="02020603050405020304" pitchFamily="18" charset="0"/>
                <a:cs typeface="Times New Roman" panose="02020603050405020304" pitchFamily="18" charset="0"/>
              </a:rPr>
              <a:t>MrMpek</a:t>
            </a:r>
            <a:r>
              <a:rPr dirty="0">
                <a:latin typeface="Times New Roman" panose="02020603050405020304" pitchFamily="18" charset="0"/>
                <a:cs typeface="Times New Roman" panose="02020603050405020304" pitchFamily="18" charset="0"/>
              </a:rPr>
              <a:t>/</a:t>
            </a:r>
            <a:r>
              <a:rPr dirty="0" err="1">
                <a:latin typeface="Times New Roman" panose="02020603050405020304" pitchFamily="18" charset="0"/>
                <a:cs typeface="Times New Roman" panose="02020603050405020304" pitchFamily="18" charset="0"/>
              </a:rPr>
              <a:t>SecretLibrary-EscapeRoom</a:t>
            </a:r>
            <a:endParaRPr dirty="0">
              <a:latin typeface="Times New Roman" panose="02020603050405020304" pitchFamily="18" charset="0"/>
              <a:cs typeface="Times New Roman" panose="02020603050405020304" pitchFamily="18" charset="0"/>
            </a:endParaRP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Branch: main</a:t>
            </a: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Φοιτητής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γιώτης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Μ</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εκιάρης</a:t>
            </a:r>
            <a:r>
              <a:rPr lang="el-GR" dirty="0">
                <a:latin typeface="Times New Roman" panose="02020603050405020304" pitchFamily="18" charset="0"/>
                <a:cs typeface="Times New Roman" panose="02020603050405020304" pitchFamily="18" charset="0"/>
              </a:rPr>
              <a:t>, Κωνσταντίνα </a:t>
            </a:r>
            <a:r>
              <a:rPr lang="el-GR" dirty="0" err="1">
                <a:latin typeface="Times New Roman" panose="02020603050405020304" pitchFamily="18" charset="0"/>
                <a:cs typeface="Times New Roman" panose="02020603050405020304" pitchFamily="18" charset="0"/>
              </a:rPr>
              <a:t>Τόσκα</a:t>
            </a:r>
            <a:r>
              <a:rPr lang="el-GR"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ΠΜΣ </a:t>
            </a:r>
            <a:r>
              <a:rPr dirty="0" err="1">
                <a:latin typeface="Times New Roman" panose="02020603050405020304" pitchFamily="18" charset="0"/>
                <a:cs typeface="Times New Roman" panose="02020603050405020304" pitchFamily="18" charset="0"/>
              </a:rPr>
              <a:t>Προηγμέν</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Συστήμ</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τ</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Πληροφορικής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νε</a:t>
            </a:r>
            <a:r>
              <a:rPr dirty="0">
                <a:latin typeface="Times New Roman" panose="02020603050405020304" pitchFamily="18" charset="0"/>
                <a:cs typeface="Times New Roman" panose="02020603050405020304" pitchFamily="18" charset="0"/>
              </a:rPr>
              <a:t>π</a:t>
            </a:r>
            <a:r>
              <a:rPr dirty="0" err="1">
                <a:latin typeface="Times New Roman" panose="02020603050405020304" pitchFamily="18" charset="0"/>
                <a:cs typeface="Times New Roman" panose="02020603050405020304" pitchFamily="18" charset="0"/>
              </a:rPr>
              <a:t>ιστήμιο</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Πειρ</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ιώς</a:t>
            </a:r>
            <a:endParaRPr dirty="0">
              <a:latin typeface="Times New Roman" panose="02020603050405020304" pitchFamily="18" charset="0"/>
              <a:cs typeface="Times New Roman" panose="02020603050405020304" pitchFamily="18" charset="0"/>
            </a:endParaRPr>
          </a:p>
          <a:p>
            <a:pPr algn="just">
              <a:spcAft>
                <a:spcPts val="900"/>
              </a:spcAft>
              <a:defRPr sz="1300">
                <a:solidFill>
                  <a:srgbClr val="DCE2EB"/>
                </a:solidFill>
              </a:defRPr>
            </a:pP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ς</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ευχ</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ριστ</a:t>
            </a:r>
            <a:r>
              <a:rPr lang="el-GR" dirty="0" err="1">
                <a:latin typeface="Times New Roman" panose="02020603050405020304" pitchFamily="18" charset="0"/>
                <a:cs typeface="Times New Roman" panose="02020603050405020304" pitchFamily="18" charset="0"/>
              </a:rPr>
              <a:t>ούμε</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ολύ</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γι</a:t>
            </a:r>
            <a:r>
              <a:rPr dirty="0">
                <a:latin typeface="Times New Roman" panose="02020603050405020304" pitchFamily="18" charset="0"/>
                <a:cs typeface="Times New Roman" panose="02020603050405020304" pitchFamily="18" charset="0"/>
              </a:rPr>
              <a:t>α </a:t>
            </a:r>
            <a:r>
              <a:rPr dirty="0" err="1">
                <a:latin typeface="Times New Roman" panose="02020603050405020304" pitchFamily="18" charset="0"/>
                <a:cs typeface="Times New Roman" panose="02020603050405020304" pitchFamily="18" charset="0"/>
              </a:rPr>
              <a:t>την</a:t>
            </a:r>
            <a:r>
              <a:rPr dirty="0">
                <a:latin typeface="Times New Roman" panose="02020603050405020304" pitchFamily="18" charset="0"/>
                <a:cs typeface="Times New Roman" panose="02020603050405020304" pitchFamily="18" charset="0"/>
              </a:rPr>
              <a:t> π</a:t>
            </a:r>
            <a:r>
              <a:rPr dirty="0" err="1">
                <a:latin typeface="Times New Roman" panose="02020603050405020304" pitchFamily="18" charset="0"/>
                <a:cs typeface="Times New Roman" panose="02020603050405020304" pitchFamily="18" charset="0"/>
              </a:rPr>
              <a:t>ροσοχή</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σ</a:t>
            </a:r>
            <a:r>
              <a:rPr dirty="0">
                <a:latin typeface="Times New Roman" panose="02020603050405020304" pitchFamily="18" charset="0"/>
                <a:cs typeface="Times New Roman" panose="02020603050405020304" pitchFamily="18" charset="0"/>
              </a:rPr>
              <a:t>α</a:t>
            </a:r>
            <a:r>
              <a:rPr dirty="0" err="1">
                <a:latin typeface="Times New Roman" panose="02020603050405020304" pitchFamily="18" charset="0"/>
                <a:cs typeface="Times New Roman" panose="02020603050405020304" pitchFamily="18" charset="0"/>
              </a:rPr>
              <a:t>ς</a:t>
            </a:r>
            <a:r>
              <a:rPr dirty="0">
                <a:latin typeface="Times New Roman" panose="02020603050405020304" pitchFamily="18" charset="0"/>
                <a:cs typeface="Times New Roman" panose="02020603050405020304" pitchFamily="18" charset="0"/>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2124</Words>
  <Application>Microsoft Macintosh PowerPoint</Application>
  <PresentationFormat>Widescreen</PresentationFormat>
  <Paragraphs>217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panagiotis bekiaris</cp:lastModifiedBy>
  <cp:revision>2</cp:revision>
  <dcterms:created xsi:type="dcterms:W3CDTF">2013-01-27T09:14:16Z</dcterms:created>
  <dcterms:modified xsi:type="dcterms:W3CDTF">2026-10-04T22:22:02Z</dcterms:modified>
  <cp:category/>
</cp:coreProperties>
</file>